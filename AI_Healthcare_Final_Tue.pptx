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 TITLE
Welcome the audience and set context.
"This presentation synthesizes cross-sector research on AI's impact across healthcare and life sciences — pharma, medical devices, hospital systems, payors, and broader life sciences. Our goal today is to give you an honest, evidence-grounded view of where value is being created, where disruption is arriving faster than most organizations expect, and what the most important actions are for leaders in this room.
Four key numbers frame everything we'll cover: a $614 billion market opportunity by 2034, a 38.5% compound annual growth rate, a staggering 81% of U.S. hospitals that have not yet adopted AI, and over 1,250 FDA-cleared AI devices already in the market. The gap between potential and current deployment is the central tension of this presentation."
Estimated time: 1–2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2: THE HEALTHCARE ECOSYSTEM
Use this slide to orient the audience before diving into AI's impact.
"Before we look at AI, it's worth grounding ourselves in the ecosystem we're talking about. Healthcare is not a single industry — it is six deeply interdependent sectors: Policy and Public Health sets the regulatory rails. Care Delivery is where patient interactions happen. Life Sciences and Pharma develops the therapies. Health Insurance controls the payment flows. Health IT and Data is the connective tissue. And MedTech and Devices is the hardware and implantable layer.
AI is not hitting these sectors equally or simultaneously. The key insight we'll return to throughout this presentation is that AI's impact is uneven — and understanding which sectors face the highest opportunity, the highest threat, and the widest deployment gap is what separates leaders from laggards."
Estimated time: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3: THE CONVERGENCE CRISIS
This slide establishes the burning platform — why AI in healthcare is urgent, not optional.
"The question we often get is: why now? The answer is that six structural forces are converging simultaneously in a way the industry has never experienced before.
R&amp;D productivity is in crisis — 97% of drugs fail clinical trials, making traditional discovery economically unsustainable. We're facing a demographic time bomb with 2.1 billion people over 60 by 2050. US healthcare spend has hit $4.5 trillion and is structurally unsustainable. We're short 3.2 million healthcare workers. Thirty percent of all global data is now health data — and most of it is untapped. And regulators are actually moving faster than the industry: 521 FDA AI/ML authorizations in 2023 alone.
Any one of these forces would justify urgency around AI. All six simultaneously make it existential. The organizations in this room that build AI capability now will not just gain competitive advantage — they will define the standards everyone else must meet."
Estimated time: 3–4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4: VALUE CHAIN HEAT MAP
Use this slide to show that AI's impact is not uniform — and that leaders need to prioritize where to invest.
"Not all parts of the healthcare value chain are equally disrupted. This heat map shows where AI is having the highest impact today and near-term.
The top four — drug discovery, clinical documentation, diagnostics, and revenue cycle — are all rated HIGH. These are areas where deployed products exist, ROI is measurable, and the market is moving quickly. If your organization is not active in at least two of these areas, you are already behind the curve.
Surgical delivery and clinical trials are close behind. Payor and utilization management is scaling fast from a smaller base. Patient engagement is early but growing 20× year over year from a small base — worth watching.
The key strategic insight from this slide: concentrate your near-term investments on the HIGH zones, build optionality in MED-HIGH, and monitor the emerging categories."
Estimated time: 3–4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5: THE OPPORTUNITIES
Walk through each vector briefly — the goal is to show breadth, not depth.
"Let's look at where the value is actually being created. Five vectors stand out.
Drug discovery is the largest long-term prize — AI is cutting target-to-trial timelines from four-plus years to under two and a half. Eli Lilly alone has committed over a billion dollars to its TuneLab AI platform.
Clinical documentation has been healthcare AI's first true breakout category. The ambient scribe market hit $600 million in 2025 and is still growing at 2.4 times year-over-year. Kaiser Permanente's Abridge rollout was described as the fastest technology implementation in their history.
Diagnostics and imaging is where 1,250-plus FDA-cleared devices now operate. The NHS stroke detection AI raised recovery rates from 16% to 48% — that's not incremental, that's transformational.
Revenue cycle is unsexy but high-ROI. Twenty-two percent reduction in prior auth denials. Agentic AI is starting to automate the entire payer interface.
And surgical robotics is building defensible moats — da Vinci 5, Stryker Mako, and others are integrating AI at the procedure level where switching costs are extremely high."
Estimated time: 4–5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6: THE THREATS
This is the slide that often creates the most discussion — be prepared for pushback.
"Opportunity and threat are two sides of the same coin. Let me be direct about who is most exposed.
On the business model side: high-volume diagnostic reads, traditional CROs, legacy EHR vendors, and fee-for-service payor models are all under meaningful pressure. The most structurally significant is health insurance — AI-driven precision medicine is fundamentally incompatible with population-based underwriting economics. This is not a near-term threat, but it is existential at a longer horizon.
On the roles side: prior auth reviewers, medical coders, admin call center staff are all HIGH risk — not theoretical future risk, but near-term risk given products already deployed. The $450 million medical coding automation market already exists.
Two important caveats: first, displacement of roles does not mean job elimination — it means role redesign. Second, the key insight at the bottom of this slide is true: these threats only materialize if the disruptor executes. Organizations that move proactively can convert these threats into competitive advantage."
Estimated time: 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7: THE DEPLOYMENT GAP
This is the most analytically important slide in the deck — give it extra time.
"I called this the most important slide — let me explain why. Eighty-one percent of U.S. hospitals have not adopted AI at all. Yet 86% of those same organizations say AI is critical to their future. That gap — between stated priority and actual deployment — is where the real strategic question lives.
Four structural barriers explain why:
Regulatory complexity: 97% of AI medical devices are cleared via 510(k), a framework designed for static devices, not adaptive algorithms. The January 2025 FDA Draft Guidance is a meaningful step, but it is not a solution.
Data infrastructure: EHR fragmentation is the single biggest operational barrier. Only 6% of biopharma data meets FAIR standards — findable, accessible, interoperable, reusable. You cannot build enterprise AI on unfair data.
Reimbursement: This one shocks most people. An AI tool can be fully FDA-cleared, clinically validated, and operationally ready — and still not be deployed because Medicare doesn't have a billing code for it. The incentive structure has not caught up.
Organizational resistance: This is the softest but most underestimated barrier. Rural and safety-net hospitals simply don't have the governance capacity. And 82% of implementations hit HIPAA compliance issues.
The strategic opportunity: the organizations that crack all four barriers first gain a compounding advantage. The gap is not a headwind — it's an open door for early movers."
Estimated time: 4–5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8: THE VISION
This is the aspirational pivot — from diagnosis to prescription.
"If you were building a healthcare or life sciences organization from scratch today — with no legacy systems, no inherited workflows, no organizational inertia — what would you build?
Every row in this table represents a design choice. AI-first drug discovery runs hypotheses in parallel and continuously updates on new data. Clinical evidence is generated continuously in the real world, not in periodic RCT snapshots. Regulatory submissions are AI-drafted and pre-mapped to FDA guidance at time of authoring, not after.
Care delivery becomes predictive and preventive rather than episodic and reactive. Revenue shifts from fee-for-service to outcomes-based contracts where AI-enabled early intervention actually reduces cost. And the workforce shifts from sales-force-heavy models to data science and clinical informatics.
The key insight at the bottom is worth dwelling on: no single AI tool wins. The organizations that build a continuous learning loop — where patient outcomes feed back into clinical decisions, which feed back into model improvement — those are the ones that compound their advantage over time. That is the actual moat."
Estimated time: 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9: RECOMMENDATIONS
This is the action slide — land each imperative crisply and leave time for discussion.
"We've diagnosed the landscape. Let me close with six concrete imperatives, sequenced across three time horizons.
In the first twelve months, your two priorities are data and governance. Build the data foundation — assess your EHR interoperability, get HIPAA-compliant data sharing agreements in place, start mapping your data assets to AI use cases. And establish AI governance now, before enforcement catches up. FDA's dual AI councils signal that expectations are hardening fast. Minimum viable governance is better than no governance.
In the six-to-eighteen month window, define your SaMD strategy if you're in medtech or digital health. The Pre-Submission meeting with FDA before your product roadmap locks is a competitive advantage, not a regulatory burden. And engage proactively with FDA and EMA on GxP AI frameworks — the organizations that write the guidelines operate in a more favorable environment than those that just comply with them.
In the twelve-to-twenty-four month horizon, move from pilots to scale. Fifty-two percent of organizations report moderate ROI; thirty percent report high ROI. Forty-five percent saw returns within twelve months. The business case exists. Identify two or three use cases with clear outcomes and go. And as you scale — embed equity from the start. Validate in underserved populations. Make algorithmic fairness audits a standard part of your deployment process, not an afterthought."
Estimated time: 5–6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10: THE BOTTOM LINE
This is your closing — deliver it with conviction and then open to Q&amp;A.
"Let me leave you with three numbers that I want you to walk out of this room remembering.
Eight hundred and sixty-eight billion dollars. That is the AI opportunity in pharma alone by 2030. Not healthcare broadly — pharma alone.
Eighty-one percent. That is the share of U.S. hospitals that have not yet adopted AI. If your organization is among them, you are not waiting cautiously — you are ceding ground.
And the third number is not a number — it is a principle: governance and data readiness are not blockers to AI adoption. They are AI adoption. Organizations that build these capabilities first will have the compounding advantage of every AI deployment that follows.
The question is not whether AI will transform healthcare. It is already transforming it. The question is whether the leaders in this room will shape that transformation — or be shaped by it.
Thank you. I'm happy to take questions."
Estimated time: 2–3 minutes +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11: APPENDIX
This slide serves as a divider between the main presentation and any supporting reference materials. Additional slides with source data, segment scorecards, investment thesis details, or landscape slides can be added after this divider.
Use appendix materials if Q&amp;A requires deeper evidence on specific points — particularly on regulatory pathways, market sizing methodology, or competitive landscape.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B7285"/>
          </a:solidFill>
          <a:ln w="12700">
            <a:solidFill>
              <a:srgbClr val="0B7285"/>
            </a:solidFill>
            <a:prstDash val="solid"/>
          </a:ln>
        </p:spPr>
      </p:sp>
      <p:sp>
        <p:nvSpPr>
          <p:cNvPr id="3" name="Shape 1"/>
          <p:cNvSpPr/>
          <p:nvPr/>
        </p:nvSpPr>
        <p:spPr>
          <a:xfrm>
            <a:off x="320040" y="4462272"/>
            <a:ext cx="1673352" cy="256032"/>
          </a:xfrm>
          <a:prstGeom prst="rect">
            <a:avLst/>
          </a:prstGeom>
          <a:solidFill>
            <a:srgbClr val="0B7285">
              <a:alpha val="30000"/>
            </a:srgbClr>
          </a:solidFill>
          <a:ln w="12700">
            <a:solidFill>
              <a:srgbClr val="0B7285"/>
            </a:solidFill>
            <a:prstDash val="solid"/>
          </a:ln>
        </p:spPr>
      </p:sp>
      <p:sp>
        <p:nvSpPr>
          <p:cNvPr id="4" name="Text 2"/>
          <p:cNvSpPr/>
          <p:nvPr/>
        </p:nvSpPr>
        <p:spPr>
          <a:xfrm>
            <a:off x="320040" y="4462272"/>
            <a:ext cx="1673352" cy="256032"/>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Pharma</a:t>
            </a:r>
            <a:endParaRPr lang="en-US" sz="900" dirty="0"/>
          </a:p>
        </p:txBody>
      </p:sp>
      <p:sp>
        <p:nvSpPr>
          <p:cNvPr id="5" name="Shape 3"/>
          <p:cNvSpPr/>
          <p:nvPr/>
        </p:nvSpPr>
        <p:spPr>
          <a:xfrm>
            <a:off x="2084832" y="4462272"/>
            <a:ext cx="1673352" cy="256032"/>
          </a:xfrm>
          <a:prstGeom prst="rect">
            <a:avLst/>
          </a:prstGeom>
          <a:solidFill>
            <a:srgbClr val="0B7285">
              <a:alpha val="30000"/>
            </a:srgbClr>
          </a:solidFill>
          <a:ln w="12700">
            <a:solidFill>
              <a:srgbClr val="0B7285"/>
            </a:solidFill>
            <a:prstDash val="solid"/>
          </a:ln>
        </p:spPr>
      </p:sp>
      <p:sp>
        <p:nvSpPr>
          <p:cNvPr id="6" name="Text 4"/>
          <p:cNvSpPr/>
          <p:nvPr/>
        </p:nvSpPr>
        <p:spPr>
          <a:xfrm>
            <a:off x="2084832" y="4462272"/>
            <a:ext cx="1673352" cy="256032"/>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Medical Devices</a:t>
            </a:r>
            <a:endParaRPr lang="en-US" sz="900" dirty="0"/>
          </a:p>
        </p:txBody>
      </p:sp>
      <p:sp>
        <p:nvSpPr>
          <p:cNvPr id="7" name="Shape 5"/>
          <p:cNvSpPr/>
          <p:nvPr/>
        </p:nvSpPr>
        <p:spPr>
          <a:xfrm>
            <a:off x="3849624" y="4462272"/>
            <a:ext cx="1673352" cy="256032"/>
          </a:xfrm>
          <a:prstGeom prst="rect">
            <a:avLst/>
          </a:prstGeom>
          <a:solidFill>
            <a:srgbClr val="0B7285">
              <a:alpha val="30000"/>
            </a:srgbClr>
          </a:solidFill>
          <a:ln w="12700">
            <a:solidFill>
              <a:srgbClr val="0B7285"/>
            </a:solidFill>
            <a:prstDash val="solid"/>
          </a:ln>
        </p:spPr>
      </p:sp>
      <p:sp>
        <p:nvSpPr>
          <p:cNvPr id="8" name="Text 6"/>
          <p:cNvSpPr/>
          <p:nvPr/>
        </p:nvSpPr>
        <p:spPr>
          <a:xfrm>
            <a:off x="3849624" y="4462272"/>
            <a:ext cx="1673352" cy="256032"/>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Hospital Systems</a:t>
            </a:r>
            <a:endParaRPr lang="en-US" sz="900" dirty="0"/>
          </a:p>
        </p:txBody>
      </p:sp>
      <p:sp>
        <p:nvSpPr>
          <p:cNvPr id="9" name="Shape 7"/>
          <p:cNvSpPr/>
          <p:nvPr/>
        </p:nvSpPr>
        <p:spPr>
          <a:xfrm>
            <a:off x="5614416" y="4462272"/>
            <a:ext cx="1673352" cy="256032"/>
          </a:xfrm>
          <a:prstGeom prst="rect">
            <a:avLst/>
          </a:prstGeom>
          <a:solidFill>
            <a:srgbClr val="0B7285">
              <a:alpha val="30000"/>
            </a:srgbClr>
          </a:solidFill>
          <a:ln w="12700">
            <a:solidFill>
              <a:srgbClr val="0B7285"/>
            </a:solidFill>
            <a:prstDash val="solid"/>
          </a:ln>
        </p:spPr>
      </p:sp>
      <p:sp>
        <p:nvSpPr>
          <p:cNvPr id="10" name="Text 8"/>
          <p:cNvSpPr/>
          <p:nvPr/>
        </p:nvSpPr>
        <p:spPr>
          <a:xfrm>
            <a:off x="5614416" y="4462272"/>
            <a:ext cx="1673352" cy="256032"/>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Payors</a:t>
            </a:r>
            <a:endParaRPr lang="en-US" sz="900" dirty="0"/>
          </a:p>
        </p:txBody>
      </p:sp>
      <p:sp>
        <p:nvSpPr>
          <p:cNvPr id="11" name="Shape 9"/>
          <p:cNvSpPr/>
          <p:nvPr/>
        </p:nvSpPr>
        <p:spPr>
          <a:xfrm>
            <a:off x="7379208" y="4462272"/>
            <a:ext cx="1673352" cy="256032"/>
          </a:xfrm>
          <a:prstGeom prst="rect">
            <a:avLst/>
          </a:prstGeom>
          <a:solidFill>
            <a:srgbClr val="0B7285">
              <a:alpha val="30000"/>
            </a:srgbClr>
          </a:solidFill>
          <a:ln w="12700">
            <a:solidFill>
              <a:srgbClr val="0B7285"/>
            </a:solidFill>
            <a:prstDash val="solid"/>
          </a:ln>
        </p:spPr>
      </p:sp>
      <p:sp>
        <p:nvSpPr>
          <p:cNvPr id="12" name="Text 10"/>
          <p:cNvSpPr/>
          <p:nvPr/>
        </p:nvSpPr>
        <p:spPr>
          <a:xfrm>
            <a:off x="7379208" y="4462272"/>
            <a:ext cx="1673352" cy="256032"/>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Life Sciences</a:t>
            </a:r>
            <a:endParaRPr lang="en-US" sz="900" dirty="0"/>
          </a:p>
        </p:txBody>
      </p:sp>
      <p:sp>
        <p:nvSpPr>
          <p:cNvPr id="13" name="Text 11"/>
          <p:cNvSpPr/>
          <p:nvPr/>
        </p:nvSpPr>
        <p:spPr>
          <a:xfrm>
            <a:off x="457200" y="731520"/>
            <a:ext cx="8229600" cy="320040"/>
          </a:xfrm>
          <a:prstGeom prst="rect">
            <a:avLst/>
          </a:prstGeom>
          <a:noFill/>
          <a:ln/>
        </p:spPr>
        <p:txBody>
          <a:bodyPr wrap="square" lIns="0" tIns="0" rIns="0" bIns="0" rtlCol="0" anchor="ctr"/>
          <a:lstStyle/>
          <a:p>
            <a:pPr algn="l" indent="0" marL="0">
              <a:buNone/>
            </a:pPr>
            <a:r>
              <a:rPr lang="en-US" sz="900" spc="150" kern="0" dirty="0">
                <a:solidFill>
                  <a:srgbClr val="12B886"/>
                </a:solidFill>
                <a:latin typeface="Calibri" pitchFamily="34" charset="0"/>
                <a:ea typeface="Calibri" pitchFamily="34" charset="-122"/>
                <a:cs typeface="Calibri" pitchFamily="34" charset="-120"/>
              </a:rPr>
              <a:t>MIT AI EXECUTIVE ACADEMY  |  CAPSTONE PRESENTATION  |  MARCH 2026</a:t>
            </a:r>
            <a:endParaRPr lang="en-US" sz="900" dirty="0"/>
          </a:p>
        </p:txBody>
      </p:sp>
      <p:sp>
        <p:nvSpPr>
          <p:cNvPr id="14" name="Text 12"/>
          <p:cNvSpPr/>
          <p:nvPr/>
        </p:nvSpPr>
        <p:spPr>
          <a:xfrm>
            <a:off x="457200" y="1143000"/>
            <a:ext cx="7772400" cy="2103120"/>
          </a:xfrm>
          <a:prstGeom prst="rect">
            <a:avLst/>
          </a:prstGeom>
          <a:noFill/>
          <a:ln/>
        </p:spPr>
        <p:txBody>
          <a:bodyPr wrap="square" rtlCol="0" anchor="t"/>
          <a:lstStyle/>
          <a:p>
            <a:pPr algn="l" indent="0" marL="0">
              <a:buNone/>
            </a:pPr>
            <a:r>
              <a:rPr lang="en-US" sz="5000" b="1" dirty="0">
                <a:solidFill>
                  <a:srgbClr val="FFFFFF"/>
                </a:solidFill>
                <a:latin typeface="Calibri" pitchFamily="34" charset="0"/>
                <a:ea typeface="Calibri" pitchFamily="34" charset="-122"/>
                <a:cs typeface="Calibri" pitchFamily="34" charset="-120"/>
              </a:rPr>
              <a:t>AI &amp; the Future of</a:t>
            </a:r>
            <a:endParaRPr lang="en-US" sz="5000" dirty="0"/>
          </a:p>
          <a:p>
            <a:pPr algn="l" indent="0" marL="0">
              <a:buNone/>
            </a:pPr>
            <a:r>
              <a:rPr lang="en-US" sz="5000" b="1" dirty="0">
                <a:solidFill>
                  <a:srgbClr val="FFFFFF"/>
                </a:solidFill>
                <a:latin typeface="Calibri" pitchFamily="34" charset="0"/>
                <a:ea typeface="Calibri" pitchFamily="34" charset="-122"/>
                <a:cs typeface="Calibri" pitchFamily="34" charset="-120"/>
              </a:rPr>
              <a:t>Healthcare &amp; Life Sciences</a:t>
            </a:r>
            <a:endParaRPr lang="en-US" sz="5000" dirty="0"/>
          </a:p>
        </p:txBody>
      </p:sp>
      <p:sp>
        <p:nvSpPr>
          <p:cNvPr id="15" name="Text 13"/>
          <p:cNvSpPr/>
          <p:nvPr/>
        </p:nvSpPr>
        <p:spPr>
          <a:xfrm>
            <a:off x="457200" y="3291840"/>
            <a:ext cx="6858000" cy="457200"/>
          </a:xfrm>
          <a:prstGeom prst="rect">
            <a:avLst/>
          </a:prstGeom>
          <a:noFill/>
          <a:ln/>
        </p:spPr>
        <p:txBody>
          <a:bodyPr wrap="square" lIns="0" tIns="0" rIns="0" bIns="0" rtlCol="0" anchor="ctr"/>
          <a:lstStyle/>
          <a:p>
            <a:pPr algn="l" indent="0" marL="0">
              <a:buNone/>
            </a:pPr>
            <a:r>
              <a:rPr lang="en-US" sz="1600" i="1" dirty="0">
                <a:solidFill>
                  <a:srgbClr val="CED4DA"/>
                </a:solidFill>
                <a:latin typeface="Calibri" pitchFamily="34" charset="0"/>
                <a:ea typeface="Calibri" pitchFamily="34" charset="-122"/>
                <a:cs typeface="Calibri" pitchFamily="34" charset="-120"/>
              </a:rPr>
              <a:t>How AI is collapsing time and cost curves — and what leaders must do about it</a:t>
            </a:r>
            <a:endParaRPr lang="en-US" sz="1600" dirty="0"/>
          </a:p>
        </p:txBody>
      </p:sp>
      <p:sp>
        <p:nvSpPr>
          <p:cNvPr id="16" name="Shape 14"/>
          <p:cNvSpPr/>
          <p:nvPr/>
        </p:nvSpPr>
        <p:spPr>
          <a:xfrm>
            <a:off x="411480" y="3913632"/>
            <a:ext cx="2048256" cy="475488"/>
          </a:xfrm>
          <a:prstGeom prst="rect">
            <a:avLst/>
          </a:prstGeom>
          <a:solidFill>
            <a:srgbClr val="0B7285">
              <a:alpha val="20000"/>
            </a:srgbClr>
          </a:solidFill>
          <a:ln w="12700">
            <a:solidFill>
              <a:srgbClr val="0B7285"/>
            </a:solidFill>
            <a:prstDash val="solid"/>
          </a:ln>
        </p:spPr>
      </p:sp>
      <p:sp>
        <p:nvSpPr>
          <p:cNvPr id="17" name="Text 15"/>
          <p:cNvSpPr/>
          <p:nvPr/>
        </p:nvSpPr>
        <p:spPr>
          <a:xfrm>
            <a:off x="411480" y="3922776"/>
            <a:ext cx="2048256" cy="237744"/>
          </a:xfrm>
          <a:prstGeom prst="rect">
            <a:avLst/>
          </a:prstGeom>
          <a:noFill/>
          <a:ln/>
        </p:spPr>
        <p:txBody>
          <a:bodyPr wrap="square" lIns="0" tIns="0" rIns="0" bIns="0" rtlCol="0" anchor="ctr"/>
          <a:lstStyle/>
          <a:p>
            <a:pPr algn="ctr" indent="0" marL="0">
              <a:buNone/>
            </a:pPr>
            <a:r>
              <a:rPr lang="en-US" sz="1600" b="1" dirty="0">
                <a:solidFill>
                  <a:srgbClr val="12B886"/>
                </a:solidFill>
                <a:latin typeface="Calibri" pitchFamily="34" charset="0"/>
                <a:ea typeface="Calibri" pitchFamily="34" charset="-122"/>
                <a:cs typeface="Calibri" pitchFamily="34" charset="-120"/>
              </a:rPr>
              <a:t>$614B</a:t>
            </a:r>
            <a:endParaRPr lang="en-US" sz="1600" dirty="0"/>
          </a:p>
        </p:txBody>
      </p:sp>
      <p:sp>
        <p:nvSpPr>
          <p:cNvPr id="18" name="Text 16"/>
          <p:cNvSpPr/>
          <p:nvPr/>
        </p:nvSpPr>
        <p:spPr>
          <a:xfrm>
            <a:off x="411480" y="4151376"/>
            <a:ext cx="2048256" cy="164592"/>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Market by 2034</a:t>
            </a:r>
            <a:endParaRPr lang="en-US" sz="800" dirty="0"/>
          </a:p>
        </p:txBody>
      </p:sp>
      <p:sp>
        <p:nvSpPr>
          <p:cNvPr id="19" name="Shape 17"/>
          <p:cNvSpPr/>
          <p:nvPr/>
        </p:nvSpPr>
        <p:spPr>
          <a:xfrm>
            <a:off x="2624328" y="3913632"/>
            <a:ext cx="2048256" cy="475488"/>
          </a:xfrm>
          <a:prstGeom prst="rect">
            <a:avLst/>
          </a:prstGeom>
          <a:solidFill>
            <a:srgbClr val="0B7285">
              <a:alpha val="20000"/>
            </a:srgbClr>
          </a:solidFill>
          <a:ln w="12700">
            <a:solidFill>
              <a:srgbClr val="0B7285"/>
            </a:solidFill>
            <a:prstDash val="solid"/>
          </a:ln>
        </p:spPr>
      </p:sp>
      <p:sp>
        <p:nvSpPr>
          <p:cNvPr id="20" name="Text 18"/>
          <p:cNvSpPr/>
          <p:nvPr/>
        </p:nvSpPr>
        <p:spPr>
          <a:xfrm>
            <a:off x="2624328" y="3922776"/>
            <a:ext cx="2048256" cy="237744"/>
          </a:xfrm>
          <a:prstGeom prst="rect">
            <a:avLst/>
          </a:prstGeom>
          <a:noFill/>
          <a:ln/>
        </p:spPr>
        <p:txBody>
          <a:bodyPr wrap="square" lIns="0" tIns="0" rIns="0" bIns="0" rtlCol="0" anchor="ctr"/>
          <a:lstStyle/>
          <a:p>
            <a:pPr algn="ctr" indent="0" marL="0">
              <a:buNone/>
            </a:pPr>
            <a:r>
              <a:rPr lang="en-US" sz="1600" b="1" dirty="0">
                <a:solidFill>
                  <a:srgbClr val="12B886"/>
                </a:solidFill>
                <a:latin typeface="Calibri" pitchFamily="34" charset="0"/>
                <a:ea typeface="Calibri" pitchFamily="34" charset="-122"/>
                <a:cs typeface="Calibri" pitchFamily="34" charset="-120"/>
              </a:rPr>
              <a:t>38.5%</a:t>
            </a:r>
            <a:endParaRPr lang="en-US" sz="1600" dirty="0"/>
          </a:p>
        </p:txBody>
      </p:sp>
      <p:sp>
        <p:nvSpPr>
          <p:cNvPr id="21" name="Text 19"/>
          <p:cNvSpPr/>
          <p:nvPr/>
        </p:nvSpPr>
        <p:spPr>
          <a:xfrm>
            <a:off x="2624328" y="4151376"/>
            <a:ext cx="2048256" cy="164592"/>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CAGR</a:t>
            </a:r>
            <a:endParaRPr lang="en-US" sz="800" dirty="0"/>
          </a:p>
        </p:txBody>
      </p:sp>
      <p:sp>
        <p:nvSpPr>
          <p:cNvPr id="22" name="Shape 20"/>
          <p:cNvSpPr/>
          <p:nvPr/>
        </p:nvSpPr>
        <p:spPr>
          <a:xfrm>
            <a:off x="4837176" y="3913632"/>
            <a:ext cx="2048256" cy="475488"/>
          </a:xfrm>
          <a:prstGeom prst="rect">
            <a:avLst/>
          </a:prstGeom>
          <a:solidFill>
            <a:srgbClr val="0B7285">
              <a:alpha val="20000"/>
            </a:srgbClr>
          </a:solidFill>
          <a:ln w="12700">
            <a:solidFill>
              <a:srgbClr val="0B7285"/>
            </a:solidFill>
            <a:prstDash val="solid"/>
          </a:ln>
        </p:spPr>
      </p:sp>
      <p:sp>
        <p:nvSpPr>
          <p:cNvPr id="23" name="Text 21"/>
          <p:cNvSpPr/>
          <p:nvPr/>
        </p:nvSpPr>
        <p:spPr>
          <a:xfrm>
            <a:off x="4837176" y="3922776"/>
            <a:ext cx="2048256" cy="237744"/>
          </a:xfrm>
          <a:prstGeom prst="rect">
            <a:avLst/>
          </a:prstGeom>
          <a:noFill/>
          <a:ln/>
        </p:spPr>
        <p:txBody>
          <a:bodyPr wrap="square" lIns="0" tIns="0" rIns="0" bIns="0" rtlCol="0" anchor="ctr"/>
          <a:lstStyle/>
          <a:p>
            <a:pPr algn="ctr" indent="0" marL="0">
              <a:buNone/>
            </a:pPr>
            <a:r>
              <a:rPr lang="en-US" sz="1600" b="1" dirty="0">
                <a:solidFill>
                  <a:srgbClr val="12B886"/>
                </a:solidFill>
                <a:latin typeface="Calibri" pitchFamily="34" charset="0"/>
                <a:ea typeface="Calibri" pitchFamily="34" charset="-122"/>
                <a:cs typeface="Calibri" pitchFamily="34" charset="-120"/>
              </a:rPr>
              <a:t>81%</a:t>
            </a:r>
            <a:endParaRPr lang="en-US" sz="1600" dirty="0"/>
          </a:p>
        </p:txBody>
      </p:sp>
      <p:sp>
        <p:nvSpPr>
          <p:cNvPr id="24" name="Text 22"/>
          <p:cNvSpPr/>
          <p:nvPr/>
        </p:nvSpPr>
        <p:spPr>
          <a:xfrm>
            <a:off x="4837176" y="4151376"/>
            <a:ext cx="2048256" cy="164592"/>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Hospitals without AI</a:t>
            </a:r>
            <a:endParaRPr lang="en-US" sz="800" dirty="0"/>
          </a:p>
        </p:txBody>
      </p:sp>
      <p:sp>
        <p:nvSpPr>
          <p:cNvPr id="25" name="Shape 23"/>
          <p:cNvSpPr/>
          <p:nvPr/>
        </p:nvSpPr>
        <p:spPr>
          <a:xfrm>
            <a:off x="7050024" y="3913632"/>
            <a:ext cx="2048256" cy="475488"/>
          </a:xfrm>
          <a:prstGeom prst="rect">
            <a:avLst/>
          </a:prstGeom>
          <a:solidFill>
            <a:srgbClr val="0B7285">
              <a:alpha val="20000"/>
            </a:srgbClr>
          </a:solidFill>
          <a:ln w="12700">
            <a:solidFill>
              <a:srgbClr val="0B7285"/>
            </a:solidFill>
            <a:prstDash val="solid"/>
          </a:ln>
        </p:spPr>
      </p:sp>
      <p:sp>
        <p:nvSpPr>
          <p:cNvPr id="26" name="Text 24"/>
          <p:cNvSpPr/>
          <p:nvPr/>
        </p:nvSpPr>
        <p:spPr>
          <a:xfrm>
            <a:off x="7050024" y="3922776"/>
            <a:ext cx="2048256" cy="237744"/>
          </a:xfrm>
          <a:prstGeom prst="rect">
            <a:avLst/>
          </a:prstGeom>
          <a:noFill/>
          <a:ln/>
        </p:spPr>
        <p:txBody>
          <a:bodyPr wrap="square" lIns="0" tIns="0" rIns="0" bIns="0" rtlCol="0" anchor="ctr"/>
          <a:lstStyle/>
          <a:p>
            <a:pPr algn="ctr" indent="0" marL="0">
              <a:buNone/>
            </a:pPr>
            <a:r>
              <a:rPr lang="en-US" sz="1600" b="1" dirty="0">
                <a:solidFill>
                  <a:srgbClr val="12B886"/>
                </a:solidFill>
                <a:latin typeface="Calibri" pitchFamily="34" charset="0"/>
                <a:ea typeface="Calibri" pitchFamily="34" charset="-122"/>
                <a:cs typeface="Calibri" pitchFamily="34" charset="-120"/>
              </a:rPr>
              <a:t>1,250+</a:t>
            </a:r>
            <a:endParaRPr lang="en-US" sz="1600" dirty="0"/>
          </a:p>
        </p:txBody>
      </p:sp>
      <p:sp>
        <p:nvSpPr>
          <p:cNvPr id="27" name="Text 25"/>
          <p:cNvSpPr/>
          <p:nvPr/>
        </p:nvSpPr>
        <p:spPr>
          <a:xfrm>
            <a:off x="7050024" y="4151376"/>
            <a:ext cx="2048256" cy="164592"/>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FDA-cleared AI devices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0" y="4910328"/>
            <a:ext cx="9144000" cy="233172"/>
          </a:xfrm>
          <a:prstGeom prst="rect">
            <a:avLst/>
          </a:prstGeom>
          <a:solidFill>
            <a:srgbClr val="0D1F3C"/>
          </a:solidFill>
          <a:ln w="12700">
            <a:solidFill>
              <a:srgbClr val="0D1F3C"/>
            </a:solidFill>
            <a:prstDash val="solid"/>
          </a:ln>
        </p:spPr>
      </p:sp>
      <p:sp>
        <p:nvSpPr>
          <p:cNvPr id="3" name="Text 1"/>
          <p:cNvSpPr/>
          <p:nvPr/>
        </p:nvSpPr>
        <p:spPr>
          <a:xfrm>
            <a:off x="320040" y="4910328"/>
            <a:ext cx="7863840" cy="233172"/>
          </a:xfrm>
          <a:prstGeom prst="rect">
            <a:avLst/>
          </a:prstGeom>
          <a:noFill/>
          <a:ln/>
        </p:spPr>
        <p:txBody>
          <a:bodyPr wrap="square" lIns="0" tIns="0" rIns="0" bIns="0"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AI in Healthcare &amp; Life Sciences  |  MIT AI Executive Academy  |  Capstone 2026  |  CONFIDENTIAL</a:t>
            </a:r>
            <a:endParaRPr lang="en-US" sz="800" dirty="0"/>
          </a:p>
        </p:txBody>
      </p:sp>
      <p:sp>
        <p:nvSpPr>
          <p:cNvPr id="4" name="Text 2"/>
          <p:cNvSpPr/>
          <p:nvPr/>
        </p:nvSpPr>
        <p:spPr>
          <a:xfrm>
            <a:off x="8412480" y="4910328"/>
            <a:ext cx="594360" cy="233172"/>
          </a:xfrm>
          <a:prstGeom prst="rect">
            <a:avLst/>
          </a:prstGeom>
          <a:noFill/>
          <a:ln/>
        </p:spPr>
        <p:txBody>
          <a:bodyPr wrap="square" lIns="0" tIns="0" rIns="0" bIns="0" rtlCol="0" anchor="ctr"/>
          <a:lstStyle/>
          <a:p>
            <a:pPr algn="r" indent="0" marL="0">
              <a:buNone/>
            </a:pPr>
            <a:r>
              <a:rPr lang="en-US" sz="800" dirty="0">
                <a:solidFill>
                  <a:srgbClr val="FFFFFF"/>
                </a:solidFill>
                <a:latin typeface="Calibri" pitchFamily="34" charset="0"/>
                <a:ea typeface="Calibri" pitchFamily="34" charset="-122"/>
                <a:cs typeface="Calibri" pitchFamily="34" charset="-120"/>
              </a:rPr>
              <a:t>2 / 11</a:t>
            </a:r>
            <a:endParaRPr lang="en-US" sz="800" dirty="0"/>
          </a:p>
        </p:txBody>
      </p:sp>
      <p:sp>
        <p:nvSpPr>
          <p:cNvPr id="5" name="Shape 3"/>
          <p:cNvSpPr/>
          <p:nvPr/>
        </p:nvSpPr>
        <p:spPr>
          <a:xfrm>
            <a:off x="0" y="0"/>
            <a:ext cx="9144000" cy="502920"/>
          </a:xfrm>
          <a:prstGeom prst="rect">
            <a:avLst/>
          </a:prstGeom>
          <a:solidFill>
            <a:srgbClr val="0B7285"/>
          </a:solidFill>
          <a:ln w="12700">
            <a:solidFill>
              <a:srgbClr val="0B7285"/>
            </a:solidFill>
            <a:prstDash val="solid"/>
          </a:ln>
        </p:spPr>
      </p:sp>
      <p:sp>
        <p:nvSpPr>
          <p:cNvPr id="6" name="Text 4"/>
          <p:cNvSpPr/>
          <p:nvPr/>
        </p:nvSpPr>
        <p:spPr>
          <a:xfrm>
            <a:off x="320040" y="0"/>
            <a:ext cx="8503920" cy="502920"/>
          </a:xfrm>
          <a:prstGeom prst="rect">
            <a:avLst/>
          </a:prstGeom>
          <a:noFill/>
          <a:ln/>
        </p:spPr>
        <p:txBody>
          <a:bodyPr wrap="square" lIns="0" tIns="0" rIns="0" bIns="0" rtlCol="0" anchor="ctr"/>
          <a:lstStyle/>
          <a:p>
            <a:pPr algn="l" indent="0" marL="0">
              <a:buNone/>
            </a:pPr>
            <a:r>
              <a:rPr lang="en-US" sz="1200" b="1" spc="100" kern="0" dirty="0">
                <a:solidFill>
                  <a:srgbClr val="FFFFFF"/>
                </a:solidFill>
                <a:latin typeface="Calibri" pitchFamily="34" charset="0"/>
                <a:ea typeface="Calibri" pitchFamily="34" charset="-122"/>
                <a:cs typeface="Calibri" pitchFamily="34" charset="-120"/>
              </a:rPr>
              <a:t>THE HEALTHCARE ECOSYSTEM</a:t>
            </a:r>
            <a:endParaRPr lang="en-US" sz="1200" dirty="0"/>
          </a:p>
        </p:txBody>
      </p:sp>
      <p:sp>
        <p:nvSpPr>
          <p:cNvPr id="7" name="Text 5"/>
          <p:cNvSpPr/>
          <p:nvPr/>
        </p:nvSpPr>
        <p:spPr>
          <a:xfrm>
            <a:off x="320040" y="594360"/>
            <a:ext cx="8503920" cy="45720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Six Sectors. One Interdependent System.</a:t>
            </a:r>
            <a:endParaRPr lang="en-US" sz="2600" dirty="0"/>
          </a:p>
        </p:txBody>
      </p:sp>
      <p:pic>
        <p:nvPicPr>
          <p:cNvPr id="8" name="Image 0" descr="preencoded.png">    </p:cNvPr>
          <p:cNvPicPr>
            <a:picLocks noChangeAspect="1"/>
          </p:cNvPicPr>
          <p:nvPr/>
        </p:nvPicPr>
        <p:blipFill>
          <a:blip r:embed="rId1"/>
          <a:stretch>
            <a:fillRect/>
          </a:stretch>
        </p:blipFill>
        <p:spPr>
          <a:xfrm>
            <a:off x="182880" y="1115568"/>
            <a:ext cx="5120640" cy="3657600"/>
          </a:xfrm>
          <a:prstGeom prst="rect">
            <a:avLst/>
          </a:prstGeom>
        </p:spPr>
      </p:pic>
      <p:sp>
        <p:nvSpPr>
          <p:cNvPr id="9" name="Shape 6"/>
          <p:cNvSpPr/>
          <p:nvPr/>
        </p:nvSpPr>
        <p:spPr>
          <a:xfrm>
            <a:off x="5559552" y="1170432"/>
            <a:ext cx="54864" cy="457200"/>
          </a:xfrm>
          <a:prstGeom prst="rect">
            <a:avLst/>
          </a:prstGeom>
          <a:solidFill>
            <a:srgbClr val="12B886"/>
          </a:solidFill>
          <a:ln w="12700">
            <a:solidFill>
              <a:srgbClr val="12B886"/>
            </a:solidFill>
            <a:prstDash val="solid"/>
          </a:ln>
        </p:spPr>
      </p:sp>
      <p:sp>
        <p:nvSpPr>
          <p:cNvPr id="10" name="Text 7"/>
          <p:cNvSpPr/>
          <p:nvPr/>
        </p:nvSpPr>
        <p:spPr>
          <a:xfrm>
            <a:off x="5687568" y="1188720"/>
            <a:ext cx="3246120" cy="20116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Policy &amp; Public Health</a:t>
            </a:r>
            <a:endParaRPr lang="en-US" sz="1100" dirty="0"/>
          </a:p>
        </p:txBody>
      </p:sp>
      <p:sp>
        <p:nvSpPr>
          <p:cNvPr id="11" name="Text 8"/>
          <p:cNvSpPr/>
          <p:nvPr/>
        </p:nvSpPr>
        <p:spPr>
          <a:xfrm>
            <a:off x="5687568" y="1389888"/>
            <a:ext cx="3246120" cy="201168"/>
          </a:xfrm>
          <a:prstGeom prst="rect">
            <a:avLst/>
          </a:prstGeom>
          <a:noFill/>
          <a:ln/>
        </p:spPr>
        <p:txBody>
          <a:bodyPr wrap="square" lIns="0" tIns="0" rIns="0" bIns="0" rtlCol="0" anchor="ctr"/>
          <a:lstStyle/>
          <a:p>
            <a:pPr indent="0" marL="0">
              <a:buNone/>
            </a:pPr>
            <a:r>
              <a:rPr lang="en-US" sz="900" dirty="0">
                <a:solidFill>
                  <a:srgbClr val="CED4DA"/>
                </a:solidFill>
                <a:latin typeface="Calibri" pitchFamily="34" charset="0"/>
                <a:ea typeface="Calibri" pitchFamily="34" charset="-122"/>
                <a:cs typeface="Calibri" pitchFamily="34" charset="-120"/>
              </a:rPr>
              <a:t>FDA, CMS, CDC/WHO, NIH, accreditation bodies</a:t>
            </a:r>
            <a:endParaRPr lang="en-US" sz="900" dirty="0"/>
          </a:p>
        </p:txBody>
      </p:sp>
      <p:sp>
        <p:nvSpPr>
          <p:cNvPr id="12" name="Shape 9"/>
          <p:cNvSpPr/>
          <p:nvPr/>
        </p:nvSpPr>
        <p:spPr>
          <a:xfrm>
            <a:off x="5559552" y="1792224"/>
            <a:ext cx="54864" cy="457200"/>
          </a:xfrm>
          <a:prstGeom prst="rect">
            <a:avLst/>
          </a:prstGeom>
          <a:solidFill>
            <a:srgbClr val="0B7285"/>
          </a:solidFill>
          <a:ln w="12700">
            <a:solidFill>
              <a:srgbClr val="0B7285"/>
            </a:solidFill>
            <a:prstDash val="solid"/>
          </a:ln>
        </p:spPr>
      </p:sp>
      <p:sp>
        <p:nvSpPr>
          <p:cNvPr id="13" name="Text 10"/>
          <p:cNvSpPr/>
          <p:nvPr/>
        </p:nvSpPr>
        <p:spPr>
          <a:xfrm>
            <a:off x="5687568" y="1810512"/>
            <a:ext cx="3246120" cy="20116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Care Delivery</a:t>
            </a:r>
            <a:endParaRPr lang="en-US" sz="1100" dirty="0"/>
          </a:p>
        </p:txBody>
      </p:sp>
      <p:sp>
        <p:nvSpPr>
          <p:cNvPr id="14" name="Text 11"/>
          <p:cNvSpPr/>
          <p:nvPr/>
        </p:nvSpPr>
        <p:spPr>
          <a:xfrm>
            <a:off x="5687568" y="2011680"/>
            <a:ext cx="3246120" cy="201168"/>
          </a:xfrm>
          <a:prstGeom prst="rect">
            <a:avLst/>
          </a:prstGeom>
          <a:noFill/>
          <a:ln/>
        </p:spPr>
        <p:txBody>
          <a:bodyPr wrap="square" lIns="0" tIns="0" rIns="0" bIns="0" rtlCol="0" anchor="ctr"/>
          <a:lstStyle/>
          <a:p>
            <a:pPr indent="0" marL="0">
              <a:buNone/>
            </a:pPr>
            <a:r>
              <a:rPr lang="en-US" sz="900" dirty="0">
                <a:solidFill>
                  <a:srgbClr val="CED4DA"/>
                </a:solidFill>
                <a:latin typeface="Calibri" pitchFamily="34" charset="0"/>
                <a:ea typeface="Calibri" pitchFamily="34" charset="-122"/>
                <a:cs typeface="Calibri" pitchFamily="34" charset="-120"/>
              </a:rPr>
              <a:t>Hospitals, PCPs, specialists, pharmacists, coordinators</a:t>
            </a:r>
            <a:endParaRPr lang="en-US" sz="900" dirty="0"/>
          </a:p>
        </p:txBody>
      </p:sp>
      <p:sp>
        <p:nvSpPr>
          <p:cNvPr id="15" name="Shape 12"/>
          <p:cNvSpPr/>
          <p:nvPr/>
        </p:nvSpPr>
        <p:spPr>
          <a:xfrm>
            <a:off x="5559552" y="2414016"/>
            <a:ext cx="54864" cy="457200"/>
          </a:xfrm>
          <a:prstGeom prst="rect">
            <a:avLst/>
          </a:prstGeom>
          <a:solidFill>
            <a:srgbClr val="F59F00"/>
          </a:solidFill>
          <a:ln w="12700">
            <a:solidFill>
              <a:srgbClr val="F59F00"/>
            </a:solidFill>
            <a:prstDash val="solid"/>
          </a:ln>
        </p:spPr>
      </p:sp>
      <p:sp>
        <p:nvSpPr>
          <p:cNvPr id="16" name="Text 13"/>
          <p:cNvSpPr/>
          <p:nvPr/>
        </p:nvSpPr>
        <p:spPr>
          <a:xfrm>
            <a:off x="5687568" y="2432304"/>
            <a:ext cx="3246120" cy="20116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Life Sciences &amp; Pharma</a:t>
            </a:r>
            <a:endParaRPr lang="en-US" sz="1100" dirty="0"/>
          </a:p>
        </p:txBody>
      </p:sp>
      <p:sp>
        <p:nvSpPr>
          <p:cNvPr id="17" name="Text 14"/>
          <p:cNvSpPr/>
          <p:nvPr/>
        </p:nvSpPr>
        <p:spPr>
          <a:xfrm>
            <a:off x="5687568" y="2633472"/>
            <a:ext cx="3246120" cy="201168"/>
          </a:xfrm>
          <a:prstGeom prst="rect">
            <a:avLst/>
          </a:prstGeom>
          <a:noFill/>
          <a:ln/>
        </p:spPr>
        <p:txBody>
          <a:bodyPr wrap="square" lIns="0" tIns="0" rIns="0" bIns="0" rtlCol="0" anchor="ctr"/>
          <a:lstStyle/>
          <a:p>
            <a:pPr indent="0" marL="0">
              <a:buNone/>
            </a:pPr>
            <a:r>
              <a:rPr lang="en-US" sz="900" dirty="0">
                <a:solidFill>
                  <a:srgbClr val="CED4DA"/>
                </a:solidFill>
                <a:latin typeface="Calibri" pitchFamily="34" charset="0"/>
                <a:ea typeface="Calibri" pitchFamily="34" charset="-122"/>
                <a:cs typeface="Calibri" pitchFamily="34" charset="-120"/>
              </a:rPr>
              <a:t>Drug makers, vaccine manufacturers, labs, CROs</a:t>
            </a:r>
            <a:endParaRPr lang="en-US" sz="900" dirty="0"/>
          </a:p>
        </p:txBody>
      </p:sp>
      <p:sp>
        <p:nvSpPr>
          <p:cNvPr id="18" name="Shape 15"/>
          <p:cNvSpPr/>
          <p:nvPr/>
        </p:nvSpPr>
        <p:spPr>
          <a:xfrm>
            <a:off x="5559552" y="3035808"/>
            <a:ext cx="54864" cy="457200"/>
          </a:xfrm>
          <a:prstGeom prst="rect">
            <a:avLst/>
          </a:prstGeom>
          <a:solidFill>
            <a:srgbClr val="12B886"/>
          </a:solidFill>
          <a:ln w="12700">
            <a:solidFill>
              <a:srgbClr val="12B886"/>
            </a:solidFill>
            <a:prstDash val="solid"/>
          </a:ln>
        </p:spPr>
      </p:sp>
      <p:sp>
        <p:nvSpPr>
          <p:cNvPr id="19" name="Text 16"/>
          <p:cNvSpPr/>
          <p:nvPr/>
        </p:nvSpPr>
        <p:spPr>
          <a:xfrm>
            <a:off x="5687568" y="3054096"/>
            <a:ext cx="3246120" cy="20116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Health Insurance</a:t>
            </a:r>
            <a:endParaRPr lang="en-US" sz="1100" dirty="0"/>
          </a:p>
        </p:txBody>
      </p:sp>
      <p:sp>
        <p:nvSpPr>
          <p:cNvPr id="20" name="Text 17"/>
          <p:cNvSpPr/>
          <p:nvPr/>
        </p:nvSpPr>
        <p:spPr>
          <a:xfrm>
            <a:off x="5687568" y="3255264"/>
            <a:ext cx="3246120" cy="201168"/>
          </a:xfrm>
          <a:prstGeom prst="rect">
            <a:avLst/>
          </a:prstGeom>
          <a:noFill/>
          <a:ln/>
        </p:spPr>
        <p:txBody>
          <a:bodyPr wrap="square" lIns="0" tIns="0" rIns="0" bIns="0" rtlCol="0" anchor="ctr"/>
          <a:lstStyle/>
          <a:p>
            <a:pPr indent="0" marL="0">
              <a:buNone/>
            </a:pPr>
            <a:r>
              <a:rPr lang="en-US" sz="900" dirty="0">
                <a:solidFill>
                  <a:srgbClr val="CED4DA"/>
                </a:solidFill>
                <a:latin typeface="Calibri" pitchFamily="34" charset="0"/>
                <a:ea typeface="Calibri" pitchFamily="34" charset="-122"/>
                <a:cs typeface="Calibri" pitchFamily="34" charset="-120"/>
              </a:rPr>
              <a:t>Payers, MCOs, PBMs, utilization management</a:t>
            </a:r>
            <a:endParaRPr lang="en-US" sz="900" dirty="0"/>
          </a:p>
        </p:txBody>
      </p:sp>
      <p:sp>
        <p:nvSpPr>
          <p:cNvPr id="21" name="Shape 18"/>
          <p:cNvSpPr/>
          <p:nvPr/>
        </p:nvSpPr>
        <p:spPr>
          <a:xfrm>
            <a:off x="5559552" y="3657600"/>
            <a:ext cx="54864" cy="457200"/>
          </a:xfrm>
          <a:prstGeom prst="rect">
            <a:avLst/>
          </a:prstGeom>
          <a:solidFill>
            <a:srgbClr val="0B7285"/>
          </a:solidFill>
          <a:ln w="12700">
            <a:solidFill>
              <a:srgbClr val="0B7285"/>
            </a:solidFill>
            <a:prstDash val="solid"/>
          </a:ln>
        </p:spPr>
      </p:sp>
      <p:sp>
        <p:nvSpPr>
          <p:cNvPr id="22" name="Text 19"/>
          <p:cNvSpPr/>
          <p:nvPr/>
        </p:nvSpPr>
        <p:spPr>
          <a:xfrm>
            <a:off x="5687568" y="3675888"/>
            <a:ext cx="3246120" cy="20116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Health IT &amp; Data</a:t>
            </a:r>
            <a:endParaRPr lang="en-US" sz="1100" dirty="0"/>
          </a:p>
        </p:txBody>
      </p:sp>
      <p:sp>
        <p:nvSpPr>
          <p:cNvPr id="23" name="Text 20"/>
          <p:cNvSpPr/>
          <p:nvPr/>
        </p:nvSpPr>
        <p:spPr>
          <a:xfrm>
            <a:off x="5687568" y="3877056"/>
            <a:ext cx="3246120" cy="201168"/>
          </a:xfrm>
          <a:prstGeom prst="rect">
            <a:avLst/>
          </a:prstGeom>
          <a:noFill/>
          <a:ln/>
        </p:spPr>
        <p:txBody>
          <a:bodyPr wrap="square" lIns="0" tIns="0" rIns="0" bIns="0" rtlCol="0" anchor="ctr"/>
          <a:lstStyle/>
          <a:p>
            <a:pPr indent="0" marL="0">
              <a:buNone/>
            </a:pPr>
            <a:r>
              <a:rPr lang="en-US" sz="900" dirty="0">
                <a:solidFill>
                  <a:srgbClr val="CED4DA"/>
                </a:solidFill>
                <a:latin typeface="Calibri" pitchFamily="34" charset="0"/>
                <a:ea typeface="Calibri" pitchFamily="34" charset="-122"/>
                <a:cs typeface="Calibri" pitchFamily="34" charset="-120"/>
              </a:rPr>
              <a:t>EHRs, AI tools, wearables, RWE platforms</a:t>
            </a:r>
            <a:endParaRPr lang="en-US" sz="900" dirty="0"/>
          </a:p>
        </p:txBody>
      </p:sp>
      <p:sp>
        <p:nvSpPr>
          <p:cNvPr id="24" name="Shape 21"/>
          <p:cNvSpPr/>
          <p:nvPr/>
        </p:nvSpPr>
        <p:spPr>
          <a:xfrm>
            <a:off x="5559552" y="4279392"/>
            <a:ext cx="54864" cy="457200"/>
          </a:xfrm>
          <a:prstGeom prst="rect">
            <a:avLst/>
          </a:prstGeom>
          <a:solidFill>
            <a:srgbClr val="F59F00"/>
          </a:solidFill>
          <a:ln w="12700">
            <a:solidFill>
              <a:srgbClr val="F59F00"/>
            </a:solidFill>
            <a:prstDash val="solid"/>
          </a:ln>
        </p:spPr>
      </p:sp>
      <p:sp>
        <p:nvSpPr>
          <p:cNvPr id="25" name="Text 22"/>
          <p:cNvSpPr/>
          <p:nvPr/>
        </p:nvSpPr>
        <p:spPr>
          <a:xfrm>
            <a:off x="5687568" y="4297680"/>
            <a:ext cx="3246120" cy="20116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MedTech &amp; Devices</a:t>
            </a:r>
            <a:endParaRPr lang="en-US" sz="1100" dirty="0"/>
          </a:p>
        </p:txBody>
      </p:sp>
      <p:sp>
        <p:nvSpPr>
          <p:cNvPr id="26" name="Text 23"/>
          <p:cNvSpPr/>
          <p:nvPr/>
        </p:nvSpPr>
        <p:spPr>
          <a:xfrm>
            <a:off x="5687568" y="4498848"/>
            <a:ext cx="3246120" cy="201168"/>
          </a:xfrm>
          <a:prstGeom prst="rect">
            <a:avLst/>
          </a:prstGeom>
          <a:noFill/>
          <a:ln/>
        </p:spPr>
        <p:txBody>
          <a:bodyPr wrap="square" lIns="0" tIns="0" rIns="0" bIns="0" rtlCol="0" anchor="ctr"/>
          <a:lstStyle/>
          <a:p>
            <a:pPr indent="0" marL="0">
              <a:buNone/>
            </a:pPr>
            <a:r>
              <a:rPr lang="en-US" sz="900" dirty="0">
                <a:solidFill>
                  <a:srgbClr val="CED4DA"/>
                </a:solidFill>
                <a:latin typeface="Calibri" pitchFamily="34" charset="0"/>
                <a:ea typeface="Calibri" pitchFamily="34" charset="-122"/>
                <a:cs typeface="Calibri" pitchFamily="34" charset="-120"/>
              </a:rPr>
              <a:t>Imaging equipment, surgical robots, implantables, CGMs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320040" y="201168"/>
            <a:ext cx="347472" cy="347472"/>
          </a:xfrm>
          <a:prstGeom prst="rect">
            <a:avLst/>
          </a:prstGeom>
          <a:solidFill>
            <a:srgbClr val="0B7285"/>
          </a:solidFill>
          <a:ln w="12700">
            <a:solidFill>
              <a:srgbClr val="0B7285"/>
            </a:solidFill>
            <a:prstDash val="solid"/>
          </a:ln>
        </p:spPr>
      </p:sp>
      <p:sp>
        <p:nvSpPr>
          <p:cNvPr id="3" name="Text 1"/>
          <p:cNvSpPr/>
          <p:nvPr/>
        </p:nvSpPr>
        <p:spPr>
          <a:xfrm>
            <a:off x="320040" y="201168"/>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4" name="Text 2"/>
          <p:cNvSpPr/>
          <p:nvPr/>
        </p:nvSpPr>
        <p:spPr>
          <a:xfrm>
            <a:off x="749808" y="219456"/>
            <a:ext cx="4572000" cy="310896"/>
          </a:xfrm>
          <a:prstGeom prst="rect">
            <a:avLst/>
          </a:prstGeom>
          <a:noFill/>
          <a:ln/>
        </p:spPr>
        <p:txBody>
          <a:bodyPr wrap="square" lIns="0" tIns="0" rIns="0" bIns="0" rtlCol="0" anchor="ctr"/>
          <a:lstStyle/>
          <a:p>
            <a:pPr indent="0" marL="0">
              <a:buNone/>
            </a:pPr>
            <a:r>
              <a:rPr lang="en-US" sz="1100" spc="100" kern="0" dirty="0">
                <a:solidFill>
                  <a:srgbClr val="0B7285"/>
                </a:solidFill>
                <a:latin typeface="Calibri" pitchFamily="34" charset="0"/>
                <a:ea typeface="Calibri" pitchFamily="34" charset="-122"/>
                <a:cs typeface="Calibri" pitchFamily="34" charset="-120"/>
              </a:rPr>
              <a:t>THE CONVERGENCE CRISIS</a:t>
            </a:r>
            <a:endParaRPr lang="en-US" sz="1100" dirty="0"/>
          </a:p>
        </p:txBody>
      </p:sp>
      <p:sp>
        <p:nvSpPr>
          <p:cNvPr id="5" name="Shape 3"/>
          <p:cNvSpPr/>
          <p:nvPr/>
        </p:nvSpPr>
        <p:spPr>
          <a:xfrm>
            <a:off x="0" y="4910328"/>
            <a:ext cx="9144000" cy="233172"/>
          </a:xfrm>
          <a:prstGeom prst="rect">
            <a:avLst/>
          </a:prstGeom>
          <a:solidFill>
            <a:srgbClr val="0D1F3C"/>
          </a:solidFill>
          <a:ln w="12700">
            <a:solidFill>
              <a:srgbClr val="0D1F3C"/>
            </a:solidFill>
            <a:prstDash val="solid"/>
          </a:ln>
        </p:spPr>
      </p:sp>
      <p:sp>
        <p:nvSpPr>
          <p:cNvPr id="6" name="Text 4"/>
          <p:cNvSpPr/>
          <p:nvPr/>
        </p:nvSpPr>
        <p:spPr>
          <a:xfrm>
            <a:off x="320040" y="4910328"/>
            <a:ext cx="7863840" cy="233172"/>
          </a:xfrm>
          <a:prstGeom prst="rect">
            <a:avLst/>
          </a:prstGeom>
          <a:noFill/>
          <a:ln/>
        </p:spPr>
        <p:txBody>
          <a:bodyPr wrap="square" lIns="0" tIns="0" rIns="0" bIns="0"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AI in Healthcare &amp; Life Sciences  |  MIT AI Executive Academy  |  Capstone 2026  |  CONFIDENTIAL</a:t>
            </a:r>
            <a:endParaRPr lang="en-US" sz="800" dirty="0"/>
          </a:p>
        </p:txBody>
      </p:sp>
      <p:sp>
        <p:nvSpPr>
          <p:cNvPr id="7" name="Text 5"/>
          <p:cNvSpPr/>
          <p:nvPr/>
        </p:nvSpPr>
        <p:spPr>
          <a:xfrm>
            <a:off x="8412480" y="4910328"/>
            <a:ext cx="594360" cy="233172"/>
          </a:xfrm>
          <a:prstGeom prst="rect">
            <a:avLst/>
          </a:prstGeom>
          <a:noFill/>
          <a:ln/>
        </p:spPr>
        <p:txBody>
          <a:bodyPr wrap="square" lIns="0" tIns="0" rIns="0" bIns="0" rtlCol="0" anchor="ctr"/>
          <a:lstStyle/>
          <a:p>
            <a:pPr algn="r" indent="0" marL="0">
              <a:buNone/>
            </a:pPr>
            <a:r>
              <a:rPr lang="en-US" sz="800" dirty="0">
                <a:solidFill>
                  <a:srgbClr val="FFFFFF"/>
                </a:solidFill>
                <a:latin typeface="Calibri" pitchFamily="34" charset="0"/>
                <a:ea typeface="Calibri" pitchFamily="34" charset="-122"/>
                <a:cs typeface="Calibri" pitchFamily="34" charset="-120"/>
              </a:rPr>
              <a:t>3 / 11</a:t>
            </a:r>
            <a:endParaRPr lang="en-US" sz="800" dirty="0"/>
          </a:p>
        </p:txBody>
      </p:sp>
      <p:sp>
        <p:nvSpPr>
          <p:cNvPr id="8" name="Text 6"/>
          <p:cNvSpPr/>
          <p:nvPr/>
        </p:nvSpPr>
        <p:spPr>
          <a:xfrm>
            <a:off x="320040" y="621792"/>
            <a:ext cx="8503920" cy="475488"/>
          </a:xfrm>
          <a:prstGeom prst="rect">
            <a:avLst/>
          </a:prstGeom>
          <a:noFill/>
          <a:ln/>
        </p:spPr>
        <p:txBody>
          <a:bodyPr wrap="square" lIns="0" tIns="0" rIns="0" bIns="0" rtlCol="0" anchor="ctr"/>
          <a:lstStyle/>
          <a:p>
            <a:pPr algn="l" indent="0" marL="0">
              <a:buNone/>
            </a:pPr>
            <a:r>
              <a:rPr lang="en-US" sz="2000" b="1" dirty="0">
                <a:solidFill>
                  <a:srgbClr val="0D1F3C"/>
                </a:solidFill>
                <a:latin typeface="Calibri" pitchFamily="34" charset="0"/>
                <a:ea typeface="Calibri" pitchFamily="34" charset="-122"/>
                <a:cs typeface="Calibri" pitchFamily="34" charset="-120"/>
              </a:rPr>
              <a:t>Six Forces Colliding at Once — Industry Has Never Faced This Simultaneously</a:t>
            </a:r>
            <a:endParaRPr lang="en-US" sz="2000" dirty="0"/>
          </a:p>
        </p:txBody>
      </p:sp>
      <p:sp>
        <p:nvSpPr>
          <p:cNvPr id="9" name="Shape 7"/>
          <p:cNvSpPr/>
          <p:nvPr/>
        </p:nvSpPr>
        <p:spPr>
          <a:xfrm>
            <a:off x="320040" y="1207008"/>
            <a:ext cx="2651760" cy="1664208"/>
          </a:xfrm>
          <a:prstGeom prst="rect">
            <a:avLst/>
          </a:prstGeom>
          <a:solidFill>
            <a:srgbClr val="FFFFFF"/>
          </a:solidFill>
          <a:ln w="12700">
            <a:solidFill>
              <a:srgbClr val="CED4DA"/>
            </a:solidFill>
            <a:prstDash val="solid"/>
          </a:ln>
          <a:effectLst>
            <a:outerShdw sx="100000" sy="100000" kx="0" ky="0" algn="bl" rotWithShape="0" blurRad="101600" dist="38100" dir="8100000">
              <a:srgbClr val="000000">
                <a:alpha val="12000"/>
              </a:srgbClr>
            </a:outerShdw>
          </a:effectLst>
        </p:spPr>
      </p:sp>
      <p:sp>
        <p:nvSpPr>
          <p:cNvPr id="10" name="Shape 8"/>
          <p:cNvSpPr/>
          <p:nvPr/>
        </p:nvSpPr>
        <p:spPr>
          <a:xfrm>
            <a:off x="320040" y="1207008"/>
            <a:ext cx="2651760" cy="54864"/>
          </a:xfrm>
          <a:prstGeom prst="rect">
            <a:avLst/>
          </a:prstGeom>
          <a:solidFill>
            <a:srgbClr val="E03131"/>
          </a:solidFill>
          <a:ln w="12700">
            <a:solidFill>
              <a:srgbClr val="E03131"/>
            </a:solidFill>
            <a:prstDash val="solid"/>
          </a:ln>
        </p:spPr>
      </p:sp>
      <p:sp>
        <p:nvSpPr>
          <p:cNvPr id="11" name="Text 9"/>
          <p:cNvSpPr/>
          <p:nvPr/>
        </p:nvSpPr>
        <p:spPr>
          <a:xfrm>
            <a:off x="448056" y="1316736"/>
            <a:ext cx="2395728" cy="347472"/>
          </a:xfrm>
          <a:prstGeom prst="rect">
            <a:avLst/>
          </a:prstGeom>
          <a:noFill/>
          <a:ln/>
        </p:spPr>
        <p:txBody>
          <a:bodyPr wrap="square" lIns="0" tIns="0" rIns="0" bIns="0" rtlCol="0" anchor="ctr"/>
          <a:lstStyle/>
          <a:p>
            <a:pPr algn="l" indent="0" marL="0">
              <a:buNone/>
            </a:pPr>
            <a:r>
              <a:rPr lang="en-US" sz="2600" b="1" dirty="0">
                <a:solidFill>
                  <a:srgbClr val="E03131"/>
                </a:solidFill>
                <a:latin typeface="Calibri" pitchFamily="34" charset="0"/>
                <a:ea typeface="Calibri" pitchFamily="34" charset="-122"/>
                <a:cs typeface="Calibri" pitchFamily="34" charset="-120"/>
              </a:rPr>
              <a:t>97%</a:t>
            </a:r>
            <a:endParaRPr lang="en-US" sz="2600" dirty="0"/>
          </a:p>
        </p:txBody>
      </p:sp>
      <p:sp>
        <p:nvSpPr>
          <p:cNvPr id="12" name="Text 10"/>
          <p:cNvSpPr/>
          <p:nvPr/>
        </p:nvSpPr>
        <p:spPr>
          <a:xfrm>
            <a:off x="448056" y="1645920"/>
            <a:ext cx="2395728" cy="182880"/>
          </a:xfrm>
          <a:prstGeom prst="rect">
            <a:avLst/>
          </a:prstGeom>
          <a:noFill/>
          <a:ln/>
        </p:spPr>
        <p:txBody>
          <a:bodyPr wrap="square" lIns="0" tIns="0" rIns="0" bIns="0" rtlCol="0" anchor="ctr"/>
          <a:lstStyle/>
          <a:p>
            <a:pPr algn="l" indent="0" marL="0">
              <a:buNone/>
            </a:pPr>
            <a:r>
              <a:rPr lang="en-US" sz="850" i="1" dirty="0">
                <a:solidFill>
                  <a:srgbClr val="6C757D"/>
                </a:solidFill>
                <a:latin typeface="Calibri" pitchFamily="34" charset="0"/>
                <a:ea typeface="Calibri" pitchFamily="34" charset="-122"/>
                <a:cs typeface="Calibri" pitchFamily="34" charset="-120"/>
              </a:rPr>
              <a:t>of drugs fail clinical trials</a:t>
            </a:r>
            <a:endParaRPr lang="en-US" sz="850" dirty="0"/>
          </a:p>
        </p:txBody>
      </p:sp>
      <p:sp>
        <p:nvSpPr>
          <p:cNvPr id="13" name="Text 11"/>
          <p:cNvSpPr/>
          <p:nvPr/>
        </p:nvSpPr>
        <p:spPr>
          <a:xfrm>
            <a:off x="448056" y="1865376"/>
            <a:ext cx="2395728" cy="201168"/>
          </a:xfrm>
          <a:prstGeom prst="rect">
            <a:avLst/>
          </a:prstGeom>
          <a:noFill/>
          <a:ln/>
        </p:spPr>
        <p:txBody>
          <a:bodyPr wrap="square" lIns="0" tIns="0" rIns="0" bIns="0" rtlCol="0" anchor="ctr"/>
          <a:lstStyle/>
          <a:p>
            <a:pPr algn="l" indent="0" marL="0">
              <a:buNone/>
            </a:pPr>
            <a:r>
              <a:rPr lang="en-US" sz="1100" b="1" dirty="0">
                <a:solidFill>
                  <a:srgbClr val="0D1F3C"/>
                </a:solidFill>
                <a:latin typeface="Calibri" pitchFamily="34" charset="0"/>
                <a:ea typeface="Calibri" pitchFamily="34" charset="-122"/>
                <a:cs typeface="Calibri" pitchFamily="34" charset="-120"/>
              </a:rPr>
              <a:t>R&amp;D Productivity Crisis</a:t>
            </a:r>
            <a:endParaRPr lang="en-US" sz="1100" dirty="0"/>
          </a:p>
        </p:txBody>
      </p:sp>
      <p:sp>
        <p:nvSpPr>
          <p:cNvPr id="14" name="Text 12"/>
          <p:cNvSpPr/>
          <p:nvPr/>
        </p:nvSpPr>
        <p:spPr>
          <a:xfrm>
            <a:off x="448056" y="2084832"/>
            <a:ext cx="2395728" cy="731520"/>
          </a:xfrm>
          <a:prstGeom prst="rect">
            <a:avLst/>
          </a:prstGeom>
          <a:noFill/>
          <a:ln/>
        </p:spPr>
        <p:txBody>
          <a:bodyPr wrap="square" lIns="0" tIns="0" rIns="0" bIns="0" rtlCol="0" anchor="t"/>
          <a:lstStyle/>
          <a:p>
            <a:pPr algn="l" indent="0" marL="0">
              <a:buNone/>
            </a:pPr>
            <a:r>
              <a:rPr lang="en-US" sz="900" dirty="0">
                <a:solidFill>
                  <a:srgbClr val="6C757D"/>
                </a:solidFill>
                <a:latin typeface="Calibri" pitchFamily="34" charset="0"/>
                <a:ea typeface="Calibri" pitchFamily="34" charset="-122"/>
                <a:cs typeface="Calibri" pitchFamily="34" charset="-120"/>
              </a:rPr>
              <a:t>Pipeline attrition at historic highs. AI can reduce Phase II/III failure rates by 30–50% through better target selection and patient stratification.</a:t>
            </a:r>
            <a:endParaRPr lang="en-US" sz="900" dirty="0"/>
          </a:p>
        </p:txBody>
      </p:sp>
      <p:sp>
        <p:nvSpPr>
          <p:cNvPr id="15" name="Shape 13"/>
          <p:cNvSpPr/>
          <p:nvPr/>
        </p:nvSpPr>
        <p:spPr>
          <a:xfrm>
            <a:off x="3200400" y="1207008"/>
            <a:ext cx="2651760" cy="1664208"/>
          </a:xfrm>
          <a:prstGeom prst="rect">
            <a:avLst/>
          </a:prstGeom>
          <a:solidFill>
            <a:srgbClr val="FFFFFF"/>
          </a:solidFill>
          <a:ln w="12700">
            <a:solidFill>
              <a:srgbClr val="CED4DA"/>
            </a:solidFill>
            <a:prstDash val="solid"/>
          </a:ln>
          <a:effectLst>
            <a:outerShdw sx="100000" sy="100000" kx="0" ky="0" algn="bl" rotWithShape="0" blurRad="101600" dist="38100" dir="8100000">
              <a:srgbClr val="000000">
                <a:alpha val="12000"/>
              </a:srgbClr>
            </a:outerShdw>
          </a:effectLst>
        </p:spPr>
      </p:sp>
      <p:sp>
        <p:nvSpPr>
          <p:cNvPr id="16" name="Shape 14"/>
          <p:cNvSpPr/>
          <p:nvPr/>
        </p:nvSpPr>
        <p:spPr>
          <a:xfrm>
            <a:off x="3200400" y="1207008"/>
            <a:ext cx="2651760" cy="54864"/>
          </a:xfrm>
          <a:prstGeom prst="rect">
            <a:avLst/>
          </a:prstGeom>
          <a:solidFill>
            <a:srgbClr val="F59F00"/>
          </a:solidFill>
          <a:ln w="12700">
            <a:solidFill>
              <a:srgbClr val="F59F00"/>
            </a:solidFill>
            <a:prstDash val="solid"/>
          </a:ln>
        </p:spPr>
      </p:sp>
      <p:sp>
        <p:nvSpPr>
          <p:cNvPr id="17" name="Text 15"/>
          <p:cNvSpPr/>
          <p:nvPr/>
        </p:nvSpPr>
        <p:spPr>
          <a:xfrm>
            <a:off x="3328416" y="1316736"/>
            <a:ext cx="2395728" cy="347472"/>
          </a:xfrm>
          <a:prstGeom prst="rect">
            <a:avLst/>
          </a:prstGeom>
          <a:noFill/>
          <a:ln/>
        </p:spPr>
        <p:txBody>
          <a:bodyPr wrap="square" lIns="0" tIns="0" rIns="0" bIns="0" rtlCol="0" anchor="ctr"/>
          <a:lstStyle/>
          <a:p>
            <a:pPr algn="l" indent="0" marL="0">
              <a:buNone/>
            </a:pPr>
            <a:r>
              <a:rPr lang="en-US" sz="2600" b="1" dirty="0">
                <a:solidFill>
                  <a:srgbClr val="F59F00"/>
                </a:solidFill>
                <a:latin typeface="Calibri" pitchFamily="34" charset="0"/>
                <a:ea typeface="Calibri" pitchFamily="34" charset="-122"/>
                <a:cs typeface="Calibri" pitchFamily="34" charset="-120"/>
              </a:rPr>
              <a:t>2.1B</a:t>
            </a:r>
            <a:endParaRPr lang="en-US" sz="2600" dirty="0"/>
          </a:p>
        </p:txBody>
      </p:sp>
      <p:sp>
        <p:nvSpPr>
          <p:cNvPr id="18" name="Text 16"/>
          <p:cNvSpPr/>
          <p:nvPr/>
        </p:nvSpPr>
        <p:spPr>
          <a:xfrm>
            <a:off x="3328416" y="1645920"/>
            <a:ext cx="2395728" cy="182880"/>
          </a:xfrm>
          <a:prstGeom prst="rect">
            <a:avLst/>
          </a:prstGeom>
          <a:noFill/>
          <a:ln/>
        </p:spPr>
        <p:txBody>
          <a:bodyPr wrap="square" lIns="0" tIns="0" rIns="0" bIns="0" rtlCol="0" anchor="ctr"/>
          <a:lstStyle/>
          <a:p>
            <a:pPr algn="l" indent="0" marL="0">
              <a:buNone/>
            </a:pPr>
            <a:r>
              <a:rPr lang="en-US" sz="850" i="1" dirty="0">
                <a:solidFill>
                  <a:srgbClr val="6C757D"/>
                </a:solidFill>
                <a:latin typeface="Calibri" pitchFamily="34" charset="0"/>
                <a:ea typeface="Calibri" pitchFamily="34" charset="-122"/>
                <a:cs typeface="Calibri" pitchFamily="34" charset="-120"/>
              </a:rPr>
              <a:t>people 60+ by 2050</a:t>
            </a:r>
            <a:endParaRPr lang="en-US" sz="850" dirty="0"/>
          </a:p>
        </p:txBody>
      </p:sp>
      <p:sp>
        <p:nvSpPr>
          <p:cNvPr id="19" name="Text 17"/>
          <p:cNvSpPr/>
          <p:nvPr/>
        </p:nvSpPr>
        <p:spPr>
          <a:xfrm>
            <a:off x="3328416" y="1865376"/>
            <a:ext cx="2395728" cy="201168"/>
          </a:xfrm>
          <a:prstGeom prst="rect">
            <a:avLst/>
          </a:prstGeom>
          <a:noFill/>
          <a:ln/>
        </p:spPr>
        <p:txBody>
          <a:bodyPr wrap="square" lIns="0" tIns="0" rIns="0" bIns="0" rtlCol="0" anchor="ctr"/>
          <a:lstStyle/>
          <a:p>
            <a:pPr algn="l" indent="0" marL="0">
              <a:buNone/>
            </a:pPr>
            <a:r>
              <a:rPr lang="en-US" sz="1100" b="1" dirty="0">
                <a:solidFill>
                  <a:srgbClr val="0D1F3C"/>
                </a:solidFill>
                <a:latin typeface="Calibri" pitchFamily="34" charset="0"/>
                <a:ea typeface="Calibri" pitchFamily="34" charset="-122"/>
                <a:cs typeface="Calibri" pitchFamily="34" charset="-120"/>
              </a:rPr>
              <a:t>Demographic Time Bomb</a:t>
            </a:r>
            <a:endParaRPr lang="en-US" sz="1100" dirty="0"/>
          </a:p>
        </p:txBody>
      </p:sp>
      <p:sp>
        <p:nvSpPr>
          <p:cNvPr id="20" name="Text 18"/>
          <p:cNvSpPr/>
          <p:nvPr/>
        </p:nvSpPr>
        <p:spPr>
          <a:xfrm>
            <a:off x="3328416" y="2084832"/>
            <a:ext cx="2395728" cy="731520"/>
          </a:xfrm>
          <a:prstGeom prst="rect">
            <a:avLst/>
          </a:prstGeom>
          <a:noFill/>
          <a:ln/>
        </p:spPr>
        <p:txBody>
          <a:bodyPr wrap="square" lIns="0" tIns="0" rIns="0" bIns="0" rtlCol="0" anchor="t"/>
          <a:lstStyle/>
          <a:p>
            <a:pPr algn="l" indent="0" marL="0">
              <a:buNone/>
            </a:pPr>
            <a:r>
              <a:rPr lang="en-US" sz="900" dirty="0">
                <a:solidFill>
                  <a:srgbClr val="6C757D"/>
                </a:solidFill>
                <a:latin typeface="Calibri" pitchFamily="34" charset="0"/>
                <a:ea typeface="Calibri" pitchFamily="34" charset="-122"/>
                <a:cs typeface="Calibri" pitchFamily="34" charset="-120"/>
              </a:rPr>
              <a:t>Aging populations create exponential care demand. AI is the only scalable path to maintaining quality of care with constrained clinician supply.</a:t>
            </a:r>
            <a:endParaRPr lang="en-US" sz="900" dirty="0"/>
          </a:p>
        </p:txBody>
      </p:sp>
      <p:sp>
        <p:nvSpPr>
          <p:cNvPr id="21" name="Shape 19"/>
          <p:cNvSpPr/>
          <p:nvPr/>
        </p:nvSpPr>
        <p:spPr>
          <a:xfrm>
            <a:off x="6080760" y="1207008"/>
            <a:ext cx="2651760" cy="1664208"/>
          </a:xfrm>
          <a:prstGeom prst="rect">
            <a:avLst/>
          </a:prstGeom>
          <a:solidFill>
            <a:srgbClr val="FFFFFF"/>
          </a:solidFill>
          <a:ln w="12700">
            <a:solidFill>
              <a:srgbClr val="CED4DA"/>
            </a:solidFill>
            <a:prstDash val="solid"/>
          </a:ln>
          <a:effectLst>
            <a:outerShdw sx="100000" sy="100000" kx="0" ky="0" algn="bl" rotWithShape="0" blurRad="101600" dist="38100" dir="8100000">
              <a:srgbClr val="000000">
                <a:alpha val="12000"/>
              </a:srgbClr>
            </a:outerShdw>
          </a:effectLst>
        </p:spPr>
      </p:sp>
      <p:sp>
        <p:nvSpPr>
          <p:cNvPr id="22" name="Shape 20"/>
          <p:cNvSpPr/>
          <p:nvPr/>
        </p:nvSpPr>
        <p:spPr>
          <a:xfrm>
            <a:off x="6080760" y="1207008"/>
            <a:ext cx="2651760" cy="54864"/>
          </a:xfrm>
          <a:prstGeom prst="rect">
            <a:avLst/>
          </a:prstGeom>
          <a:solidFill>
            <a:srgbClr val="0B7285"/>
          </a:solidFill>
          <a:ln w="12700">
            <a:solidFill>
              <a:srgbClr val="0B7285"/>
            </a:solidFill>
            <a:prstDash val="solid"/>
          </a:ln>
        </p:spPr>
      </p:sp>
      <p:sp>
        <p:nvSpPr>
          <p:cNvPr id="23" name="Text 21"/>
          <p:cNvSpPr/>
          <p:nvPr/>
        </p:nvSpPr>
        <p:spPr>
          <a:xfrm>
            <a:off x="6208776" y="1316736"/>
            <a:ext cx="2395728" cy="347472"/>
          </a:xfrm>
          <a:prstGeom prst="rect">
            <a:avLst/>
          </a:prstGeom>
          <a:noFill/>
          <a:ln/>
        </p:spPr>
        <p:txBody>
          <a:bodyPr wrap="square" lIns="0" tIns="0" rIns="0" bIns="0" rtlCol="0" anchor="ctr"/>
          <a:lstStyle/>
          <a:p>
            <a:pPr algn="l" indent="0" marL="0">
              <a:buNone/>
            </a:pPr>
            <a:r>
              <a:rPr lang="en-US" sz="2600" b="1" dirty="0">
                <a:solidFill>
                  <a:srgbClr val="0B7285"/>
                </a:solidFill>
                <a:latin typeface="Calibri" pitchFamily="34" charset="0"/>
                <a:ea typeface="Calibri" pitchFamily="34" charset="-122"/>
                <a:cs typeface="Calibri" pitchFamily="34" charset="-120"/>
              </a:rPr>
              <a:t>$4.5T</a:t>
            </a:r>
            <a:endParaRPr lang="en-US" sz="2600" dirty="0"/>
          </a:p>
        </p:txBody>
      </p:sp>
      <p:sp>
        <p:nvSpPr>
          <p:cNvPr id="24" name="Text 22"/>
          <p:cNvSpPr/>
          <p:nvPr/>
        </p:nvSpPr>
        <p:spPr>
          <a:xfrm>
            <a:off x="6208776" y="1645920"/>
            <a:ext cx="2395728" cy="182880"/>
          </a:xfrm>
          <a:prstGeom prst="rect">
            <a:avLst/>
          </a:prstGeom>
          <a:noFill/>
          <a:ln/>
        </p:spPr>
        <p:txBody>
          <a:bodyPr wrap="square" lIns="0" tIns="0" rIns="0" bIns="0" rtlCol="0" anchor="ctr"/>
          <a:lstStyle/>
          <a:p>
            <a:pPr algn="l" indent="0" marL="0">
              <a:buNone/>
            </a:pPr>
            <a:r>
              <a:rPr lang="en-US" sz="850" i="1" dirty="0">
                <a:solidFill>
                  <a:srgbClr val="6C757D"/>
                </a:solidFill>
                <a:latin typeface="Calibri" pitchFamily="34" charset="0"/>
                <a:ea typeface="Calibri" pitchFamily="34" charset="-122"/>
                <a:cs typeface="Calibri" pitchFamily="34" charset="-120"/>
              </a:rPr>
              <a:t>US healthcare spend 2023</a:t>
            </a:r>
            <a:endParaRPr lang="en-US" sz="850" dirty="0"/>
          </a:p>
        </p:txBody>
      </p:sp>
      <p:sp>
        <p:nvSpPr>
          <p:cNvPr id="25" name="Text 23"/>
          <p:cNvSpPr/>
          <p:nvPr/>
        </p:nvSpPr>
        <p:spPr>
          <a:xfrm>
            <a:off x="6208776" y="1865376"/>
            <a:ext cx="2395728" cy="201168"/>
          </a:xfrm>
          <a:prstGeom prst="rect">
            <a:avLst/>
          </a:prstGeom>
          <a:noFill/>
          <a:ln/>
        </p:spPr>
        <p:txBody>
          <a:bodyPr wrap="square" lIns="0" tIns="0" rIns="0" bIns="0" rtlCol="0" anchor="ctr"/>
          <a:lstStyle/>
          <a:p>
            <a:pPr algn="l" indent="0" marL="0">
              <a:buNone/>
            </a:pPr>
            <a:r>
              <a:rPr lang="en-US" sz="1100" b="1" dirty="0">
                <a:solidFill>
                  <a:srgbClr val="0D1F3C"/>
                </a:solidFill>
                <a:latin typeface="Calibri" pitchFamily="34" charset="0"/>
                <a:ea typeface="Calibri" pitchFamily="34" charset="-122"/>
                <a:cs typeface="Calibri" pitchFamily="34" charset="-120"/>
              </a:rPr>
              <a:t>Cost Unsustainability</a:t>
            </a:r>
            <a:endParaRPr lang="en-US" sz="1100" dirty="0"/>
          </a:p>
        </p:txBody>
      </p:sp>
      <p:sp>
        <p:nvSpPr>
          <p:cNvPr id="26" name="Text 24"/>
          <p:cNvSpPr/>
          <p:nvPr/>
        </p:nvSpPr>
        <p:spPr>
          <a:xfrm>
            <a:off x="6208776" y="2084832"/>
            <a:ext cx="2395728" cy="731520"/>
          </a:xfrm>
          <a:prstGeom prst="rect">
            <a:avLst/>
          </a:prstGeom>
          <a:noFill/>
          <a:ln/>
        </p:spPr>
        <p:txBody>
          <a:bodyPr wrap="square" lIns="0" tIns="0" rIns="0" bIns="0" rtlCol="0" anchor="t"/>
          <a:lstStyle/>
          <a:p>
            <a:pPr algn="l" indent="0" marL="0">
              <a:buNone/>
            </a:pPr>
            <a:r>
              <a:rPr lang="en-US" sz="900" dirty="0">
                <a:solidFill>
                  <a:srgbClr val="6C757D"/>
                </a:solidFill>
                <a:latin typeface="Calibri" pitchFamily="34" charset="0"/>
                <a:ea typeface="Calibri" pitchFamily="34" charset="-122"/>
                <a:cs typeface="Calibri" pitchFamily="34" charset="-120"/>
              </a:rPr>
              <a:t>Payors under crushing margin pressure. AI-enabled utilization management and care navigation could unlock $360B+ in annual savings.</a:t>
            </a:r>
            <a:endParaRPr lang="en-US" sz="900" dirty="0"/>
          </a:p>
        </p:txBody>
      </p:sp>
      <p:sp>
        <p:nvSpPr>
          <p:cNvPr id="27" name="Shape 25"/>
          <p:cNvSpPr/>
          <p:nvPr/>
        </p:nvSpPr>
        <p:spPr>
          <a:xfrm>
            <a:off x="320040" y="3017520"/>
            <a:ext cx="2651760" cy="1664208"/>
          </a:xfrm>
          <a:prstGeom prst="rect">
            <a:avLst/>
          </a:prstGeom>
          <a:solidFill>
            <a:srgbClr val="FFFFFF"/>
          </a:solidFill>
          <a:ln w="12700">
            <a:solidFill>
              <a:srgbClr val="CED4DA"/>
            </a:solidFill>
            <a:prstDash val="solid"/>
          </a:ln>
          <a:effectLst>
            <a:outerShdw sx="100000" sy="100000" kx="0" ky="0" algn="bl" rotWithShape="0" blurRad="101600" dist="38100" dir="8100000">
              <a:srgbClr val="000000">
                <a:alpha val="12000"/>
              </a:srgbClr>
            </a:outerShdw>
          </a:effectLst>
        </p:spPr>
      </p:sp>
      <p:sp>
        <p:nvSpPr>
          <p:cNvPr id="28" name="Shape 26"/>
          <p:cNvSpPr/>
          <p:nvPr/>
        </p:nvSpPr>
        <p:spPr>
          <a:xfrm>
            <a:off x="320040" y="3017520"/>
            <a:ext cx="2651760" cy="54864"/>
          </a:xfrm>
          <a:prstGeom prst="rect">
            <a:avLst/>
          </a:prstGeom>
          <a:solidFill>
            <a:srgbClr val="E03131"/>
          </a:solidFill>
          <a:ln w="12700">
            <a:solidFill>
              <a:srgbClr val="E03131"/>
            </a:solidFill>
            <a:prstDash val="solid"/>
          </a:ln>
        </p:spPr>
      </p:sp>
      <p:sp>
        <p:nvSpPr>
          <p:cNvPr id="29" name="Text 27"/>
          <p:cNvSpPr/>
          <p:nvPr/>
        </p:nvSpPr>
        <p:spPr>
          <a:xfrm>
            <a:off x="448056" y="3127248"/>
            <a:ext cx="2395728" cy="347472"/>
          </a:xfrm>
          <a:prstGeom prst="rect">
            <a:avLst/>
          </a:prstGeom>
          <a:noFill/>
          <a:ln/>
        </p:spPr>
        <p:txBody>
          <a:bodyPr wrap="square" lIns="0" tIns="0" rIns="0" bIns="0" rtlCol="0" anchor="ctr"/>
          <a:lstStyle/>
          <a:p>
            <a:pPr algn="l" indent="0" marL="0">
              <a:buNone/>
            </a:pPr>
            <a:r>
              <a:rPr lang="en-US" sz="2600" b="1" dirty="0">
                <a:solidFill>
                  <a:srgbClr val="E03131"/>
                </a:solidFill>
                <a:latin typeface="Calibri" pitchFamily="34" charset="0"/>
                <a:ea typeface="Calibri" pitchFamily="34" charset="-122"/>
                <a:cs typeface="Calibri" pitchFamily="34" charset="-120"/>
              </a:rPr>
              <a:t>3.2M</a:t>
            </a:r>
            <a:endParaRPr lang="en-US" sz="2600" dirty="0"/>
          </a:p>
        </p:txBody>
      </p:sp>
      <p:sp>
        <p:nvSpPr>
          <p:cNvPr id="30" name="Text 28"/>
          <p:cNvSpPr/>
          <p:nvPr/>
        </p:nvSpPr>
        <p:spPr>
          <a:xfrm>
            <a:off x="448056" y="3456432"/>
            <a:ext cx="2395728" cy="182880"/>
          </a:xfrm>
          <a:prstGeom prst="rect">
            <a:avLst/>
          </a:prstGeom>
          <a:noFill/>
          <a:ln/>
        </p:spPr>
        <p:txBody>
          <a:bodyPr wrap="square" lIns="0" tIns="0" rIns="0" bIns="0" rtlCol="0" anchor="ctr"/>
          <a:lstStyle/>
          <a:p>
            <a:pPr algn="l" indent="0" marL="0">
              <a:buNone/>
            </a:pPr>
            <a:r>
              <a:rPr lang="en-US" sz="850" i="1" dirty="0">
                <a:solidFill>
                  <a:srgbClr val="6C757D"/>
                </a:solidFill>
                <a:latin typeface="Calibri" pitchFamily="34" charset="0"/>
                <a:ea typeface="Calibri" pitchFamily="34" charset="-122"/>
                <a:cs typeface="Calibri" pitchFamily="34" charset="-120"/>
              </a:rPr>
              <a:t>healthcare worker shortage by 2026</a:t>
            </a:r>
            <a:endParaRPr lang="en-US" sz="850" dirty="0"/>
          </a:p>
        </p:txBody>
      </p:sp>
      <p:sp>
        <p:nvSpPr>
          <p:cNvPr id="31" name="Text 29"/>
          <p:cNvSpPr/>
          <p:nvPr/>
        </p:nvSpPr>
        <p:spPr>
          <a:xfrm>
            <a:off x="448056" y="3675888"/>
            <a:ext cx="2395728" cy="201168"/>
          </a:xfrm>
          <a:prstGeom prst="rect">
            <a:avLst/>
          </a:prstGeom>
          <a:noFill/>
          <a:ln/>
        </p:spPr>
        <p:txBody>
          <a:bodyPr wrap="square" lIns="0" tIns="0" rIns="0" bIns="0" rtlCol="0" anchor="ctr"/>
          <a:lstStyle/>
          <a:p>
            <a:pPr algn="l" indent="0" marL="0">
              <a:buNone/>
            </a:pPr>
            <a:r>
              <a:rPr lang="en-US" sz="1100" b="1" dirty="0">
                <a:solidFill>
                  <a:srgbClr val="0D1F3C"/>
                </a:solidFill>
                <a:latin typeface="Calibri" pitchFamily="34" charset="0"/>
                <a:ea typeface="Calibri" pitchFamily="34" charset="-122"/>
                <a:cs typeface="Calibri" pitchFamily="34" charset="-120"/>
              </a:rPr>
              <a:t>Workforce Collapse</a:t>
            </a:r>
            <a:endParaRPr lang="en-US" sz="1100" dirty="0"/>
          </a:p>
        </p:txBody>
      </p:sp>
      <p:sp>
        <p:nvSpPr>
          <p:cNvPr id="32" name="Text 30"/>
          <p:cNvSpPr/>
          <p:nvPr/>
        </p:nvSpPr>
        <p:spPr>
          <a:xfrm>
            <a:off x="448056" y="3895344"/>
            <a:ext cx="2395728" cy="731520"/>
          </a:xfrm>
          <a:prstGeom prst="rect">
            <a:avLst/>
          </a:prstGeom>
          <a:noFill/>
          <a:ln/>
        </p:spPr>
        <p:txBody>
          <a:bodyPr wrap="square" lIns="0" tIns="0" rIns="0" bIns="0" rtlCol="0" anchor="t"/>
          <a:lstStyle/>
          <a:p>
            <a:pPr algn="l" indent="0" marL="0">
              <a:buNone/>
            </a:pPr>
            <a:r>
              <a:rPr lang="en-US" sz="900" dirty="0">
                <a:solidFill>
                  <a:srgbClr val="6C757D"/>
                </a:solidFill>
                <a:latin typeface="Calibri" pitchFamily="34" charset="0"/>
                <a:ea typeface="Calibri" pitchFamily="34" charset="-122"/>
                <a:cs typeface="Calibri" pitchFamily="34" charset="-120"/>
              </a:rPr>
              <a:t>Burnout and attrition gutting clinical capacity. AI automation of administrative burden could reclaim 30% of clinician time.</a:t>
            </a:r>
            <a:endParaRPr lang="en-US" sz="900" dirty="0"/>
          </a:p>
        </p:txBody>
      </p:sp>
      <p:sp>
        <p:nvSpPr>
          <p:cNvPr id="33" name="Shape 31"/>
          <p:cNvSpPr/>
          <p:nvPr/>
        </p:nvSpPr>
        <p:spPr>
          <a:xfrm>
            <a:off x="3200400" y="3017520"/>
            <a:ext cx="2651760" cy="1664208"/>
          </a:xfrm>
          <a:prstGeom prst="rect">
            <a:avLst/>
          </a:prstGeom>
          <a:solidFill>
            <a:srgbClr val="FFFFFF"/>
          </a:solidFill>
          <a:ln w="12700">
            <a:solidFill>
              <a:srgbClr val="CED4DA"/>
            </a:solidFill>
            <a:prstDash val="solid"/>
          </a:ln>
          <a:effectLst>
            <a:outerShdw sx="100000" sy="100000" kx="0" ky="0" algn="bl" rotWithShape="0" blurRad="101600" dist="38100" dir="8100000">
              <a:srgbClr val="000000">
                <a:alpha val="12000"/>
              </a:srgbClr>
            </a:outerShdw>
          </a:effectLst>
        </p:spPr>
      </p:sp>
      <p:sp>
        <p:nvSpPr>
          <p:cNvPr id="34" name="Shape 32"/>
          <p:cNvSpPr/>
          <p:nvPr/>
        </p:nvSpPr>
        <p:spPr>
          <a:xfrm>
            <a:off x="3200400" y="3017520"/>
            <a:ext cx="2651760" cy="54864"/>
          </a:xfrm>
          <a:prstGeom prst="rect">
            <a:avLst/>
          </a:prstGeom>
          <a:solidFill>
            <a:srgbClr val="F59F00"/>
          </a:solidFill>
          <a:ln w="12700">
            <a:solidFill>
              <a:srgbClr val="F59F00"/>
            </a:solidFill>
            <a:prstDash val="solid"/>
          </a:ln>
        </p:spPr>
      </p:sp>
      <p:sp>
        <p:nvSpPr>
          <p:cNvPr id="35" name="Text 33"/>
          <p:cNvSpPr/>
          <p:nvPr/>
        </p:nvSpPr>
        <p:spPr>
          <a:xfrm>
            <a:off x="3328416" y="3127248"/>
            <a:ext cx="2395728" cy="347472"/>
          </a:xfrm>
          <a:prstGeom prst="rect">
            <a:avLst/>
          </a:prstGeom>
          <a:noFill/>
          <a:ln/>
        </p:spPr>
        <p:txBody>
          <a:bodyPr wrap="square" lIns="0" tIns="0" rIns="0" bIns="0" rtlCol="0" anchor="ctr"/>
          <a:lstStyle/>
          <a:p>
            <a:pPr algn="l" indent="0" marL="0">
              <a:buNone/>
            </a:pPr>
            <a:r>
              <a:rPr lang="en-US" sz="2600" b="1" dirty="0">
                <a:solidFill>
                  <a:srgbClr val="F59F00"/>
                </a:solidFill>
                <a:latin typeface="Calibri" pitchFamily="34" charset="0"/>
                <a:ea typeface="Calibri" pitchFamily="34" charset="-122"/>
                <a:cs typeface="Calibri" pitchFamily="34" charset="-120"/>
              </a:rPr>
              <a:t>30%</a:t>
            </a:r>
            <a:endParaRPr lang="en-US" sz="2600" dirty="0"/>
          </a:p>
        </p:txBody>
      </p:sp>
      <p:sp>
        <p:nvSpPr>
          <p:cNvPr id="36" name="Text 34"/>
          <p:cNvSpPr/>
          <p:nvPr/>
        </p:nvSpPr>
        <p:spPr>
          <a:xfrm>
            <a:off x="3328416" y="3456432"/>
            <a:ext cx="2395728" cy="182880"/>
          </a:xfrm>
          <a:prstGeom prst="rect">
            <a:avLst/>
          </a:prstGeom>
          <a:noFill/>
          <a:ln/>
        </p:spPr>
        <p:txBody>
          <a:bodyPr wrap="square" lIns="0" tIns="0" rIns="0" bIns="0" rtlCol="0" anchor="ctr"/>
          <a:lstStyle/>
          <a:p>
            <a:pPr algn="l" indent="0" marL="0">
              <a:buNone/>
            </a:pPr>
            <a:r>
              <a:rPr lang="en-US" sz="850" i="1" dirty="0">
                <a:solidFill>
                  <a:srgbClr val="6C757D"/>
                </a:solidFill>
                <a:latin typeface="Calibri" pitchFamily="34" charset="0"/>
                <a:ea typeface="Calibri" pitchFamily="34" charset="-122"/>
                <a:cs typeface="Calibri" pitchFamily="34" charset="-120"/>
              </a:rPr>
              <a:t>of all data is healthcare-generated</a:t>
            </a:r>
            <a:endParaRPr lang="en-US" sz="850" dirty="0"/>
          </a:p>
        </p:txBody>
      </p:sp>
      <p:sp>
        <p:nvSpPr>
          <p:cNvPr id="37" name="Text 35"/>
          <p:cNvSpPr/>
          <p:nvPr/>
        </p:nvSpPr>
        <p:spPr>
          <a:xfrm>
            <a:off x="3328416" y="3675888"/>
            <a:ext cx="2395728" cy="201168"/>
          </a:xfrm>
          <a:prstGeom prst="rect">
            <a:avLst/>
          </a:prstGeom>
          <a:noFill/>
          <a:ln/>
        </p:spPr>
        <p:txBody>
          <a:bodyPr wrap="square" lIns="0" tIns="0" rIns="0" bIns="0" rtlCol="0" anchor="ctr"/>
          <a:lstStyle/>
          <a:p>
            <a:pPr algn="l" indent="0" marL="0">
              <a:buNone/>
            </a:pPr>
            <a:r>
              <a:rPr lang="en-US" sz="1100" b="1" dirty="0">
                <a:solidFill>
                  <a:srgbClr val="0D1F3C"/>
                </a:solidFill>
                <a:latin typeface="Calibri" pitchFamily="34" charset="0"/>
                <a:ea typeface="Calibri" pitchFamily="34" charset="-122"/>
                <a:cs typeface="Calibri" pitchFamily="34" charset="-120"/>
              </a:rPr>
              <a:t>Data Explosion</a:t>
            </a:r>
            <a:endParaRPr lang="en-US" sz="1100" dirty="0"/>
          </a:p>
        </p:txBody>
      </p:sp>
      <p:sp>
        <p:nvSpPr>
          <p:cNvPr id="38" name="Text 36"/>
          <p:cNvSpPr/>
          <p:nvPr/>
        </p:nvSpPr>
        <p:spPr>
          <a:xfrm>
            <a:off x="3328416" y="3895344"/>
            <a:ext cx="2395728" cy="731520"/>
          </a:xfrm>
          <a:prstGeom prst="rect">
            <a:avLst/>
          </a:prstGeom>
          <a:noFill/>
          <a:ln/>
        </p:spPr>
        <p:txBody>
          <a:bodyPr wrap="square" lIns="0" tIns="0" rIns="0" bIns="0" rtlCol="0" anchor="t"/>
          <a:lstStyle/>
          <a:p>
            <a:pPr algn="l" indent="0" marL="0">
              <a:buNone/>
            </a:pPr>
            <a:r>
              <a:rPr lang="en-US" sz="900" dirty="0">
                <a:solidFill>
                  <a:srgbClr val="6C757D"/>
                </a:solidFill>
                <a:latin typeface="Calibri" pitchFamily="34" charset="0"/>
                <a:ea typeface="Calibri" pitchFamily="34" charset="-122"/>
                <a:cs typeface="Calibri" pitchFamily="34" charset="-120"/>
              </a:rPr>
              <a:t>Genomics, wearables, EHRs, imaging. Organizations that don't build AI capabilities now will drown in unactionable data.</a:t>
            </a:r>
            <a:endParaRPr lang="en-US" sz="900" dirty="0"/>
          </a:p>
        </p:txBody>
      </p:sp>
      <p:sp>
        <p:nvSpPr>
          <p:cNvPr id="39" name="Shape 37"/>
          <p:cNvSpPr/>
          <p:nvPr/>
        </p:nvSpPr>
        <p:spPr>
          <a:xfrm>
            <a:off x="6080760" y="3017520"/>
            <a:ext cx="2651760" cy="1664208"/>
          </a:xfrm>
          <a:prstGeom prst="rect">
            <a:avLst/>
          </a:prstGeom>
          <a:solidFill>
            <a:srgbClr val="FFFFFF"/>
          </a:solidFill>
          <a:ln w="12700">
            <a:solidFill>
              <a:srgbClr val="CED4DA"/>
            </a:solidFill>
            <a:prstDash val="solid"/>
          </a:ln>
          <a:effectLst>
            <a:outerShdw sx="100000" sy="100000" kx="0" ky="0" algn="bl" rotWithShape="0" blurRad="101600" dist="38100" dir="8100000">
              <a:srgbClr val="000000">
                <a:alpha val="12000"/>
              </a:srgbClr>
            </a:outerShdw>
          </a:effectLst>
        </p:spPr>
      </p:sp>
      <p:sp>
        <p:nvSpPr>
          <p:cNvPr id="40" name="Shape 38"/>
          <p:cNvSpPr/>
          <p:nvPr/>
        </p:nvSpPr>
        <p:spPr>
          <a:xfrm>
            <a:off x="6080760" y="3017520"/>
            <a:ext cx="2651760" cy="54864"/>
          </a:xfrm>
          <a:prstGeom prst="rect">
            <a:avLst/>
          </a:prstGeom>
          <a:solidFill>
            <a:srgbClr val="0B7285"/>
          </a:solidFill>
          <a:ln w="12700">
            <a:solidFill>
              <a:srgbClr val="0B7285"/>
            </a:solidFill>
            <a:prstDash val="solid"/>
          </a:ln>
        </p:spPr>
      </p:sp>
      <p:sp>
        <p:nvSpPr>
          <p:cNvPr id="41" name="Text 39"/>
          <p:cNvSpPr/>
          <p:nvPr/>
        </p:nvSpPr>
        <p:spPr>
          <a:xfrm>
            <a:off x="6208776" y="3127248"/>
            <a:ext cx="2395728" cy="347472"/>
          </a:xfrm>
          <a:prstGeom prst="rect">
            <a:avLst/>
          </a:prstGeom>
          <a:noFill/>
          <a:ln/>
        </p:spPr>
        <p:txBody>
          <a:bodyPr wrap="square" lIns="0" tIns="0" rIns="0" bIns="0" rtlCol="0" anchor="ctr"/>
          <a:lstStyle/>
          <a:p>
            <a:pPr algn="l" indent="0" marL="0">
              <a:buNone/>
            </a:pPr>
            <a:r>
              <a:rPr lang="en-US" sz="2600" b="1" dirty="0">
                <a:solidFill>
                  <a:srgbClr val="0B7285"/>
                </a:solidFill>
                <a:latin typeface="Calibri" pitchFamily="34" charset="0"/>
                <a:ea typeface="Calibri" pitchFamily="34" charset="-122"/>
                <a:cs typeface="Calibri" pitchFamily="34" charset="-120"/>
              </a:rPr>
              <a:t>521</a:t>
            </a:r>
            <a:endParaRPr lang="en-US" sz="2600" dirty="0"/>
          </a:p>
        </p:txBody>
      </p:sp>
      <p:sp>
        <p:nvSpPr>
          <p:cNvPr id="42" name="Text 40"/>
          <p:cNvSpPr/>
          <p:nvPr/>
        </p:nvSpPr>
        <p:spPr>
          <a:xfrm>
            <a:off x="6208776" y="3456432"/>
            <a:ext cx="2395728" cy="182880"/>
          </a:xfrm>
          <a:prstGeom prst="rect">
            <a:avLst/>
          </a:prstGeom>
          <a:noFill/>
          <a:ln/>
        </p:spPr>
        <p:txBody>
          <a:bodyPr wrap="square" lIns="0" tIns="0" rIns="0" bIns="0" rtlCol="0" anchor="ctr"/>
          <a:lstStyle/>
          <a:p>
            <a:pPr algn="l" indent="0" marL="0">
              <a:buNone/>
            </a:pPr>
            <a:r>
              <a:rPr lang="en-US" sz="850" i="1" dirty="0">
                <a:solidFill>
                  <a:srgbClr val="6C757D"/>
                </a:solidFill>
                <a:latin typeface="Calibri" pitchFamily="34" charset="0"/>
                <a:ea typeface="Calibri" pitchFamily="34" charset="-122"/>
                <a:cs typeface="Calibri" pitchFamily="34" charset="-120"/>
              </a:rPr>
              <a:t>FDA AI/ML authorizations 2023</a:t>
            </a:r>
            <a:endParaRPr lang="en-US" sz="850" dirty="0"/>
          </a:p>
        </p:txBody>
      </p:sp>
      <p:sp>
        <p:nvSpPr>
          <p:cNvPr id="43" name="Text 41"/>
          <p:cNvSpPr/>
          <p:nvPr/>
        </p:nvSpPr>
        <p:spPr>
          <a:xfrm>
            <a:off x="6208776" y="3675888"/>
            <a:ext cx="2395728" cy="201168"/>
          </a:xfrm>
          <a:prstGeom prst="rect">
            <a:avLst/>
          </a:prstGeom>
          <a:noFill/>
          <a:ln/>
        </p:spPr>
        <p:txBody>
          <a:bodyPr wrap="square" lIns="0" tIns="0" rIns="0" bIns="0" rtlCol="0" anchor="ctr"/>
          <a:lstStyle/>
          <a:p>
            <a:pPr algn="l" indent="0" marL="0">
              <a:buNone/>
            </a:pPr>
            <a:r>
              <a:rPr lang="en-US" sz="1100" b="1" dirty="0">
                <a:solidFill>
                  <a:srgbClr val="0D1F3C"/>
                </a:solidFill>
                <a:latin typeface="Calibri" pitchFamily="34" charset="0"/>
                <a:ea typeface="Calibri" pitchFamily="34" charset="-122"/>
                <a:cs typeface="Calibri" pitchFamily="34" charset="-120"/>
              </a:rPr>
              <a:t>Regulatory Acceleration</a:t>
            </a:r>
            <a:endParaRPr lang="en-US" sz="1100" dirty="0"/>
          </a:p>
        </p:txBody>
      </p:sp>
      <p:sp>
        <p:nvSpPr>
          <p:cNvPr id="44" name="Text 42"/>
          <p:cNvSpPr/>
          <p:nvPr/>
        </p:nvSpPr>
        <p:spPr>
          <a:xfrm>
            <a:off x="6208776" y="3895344"/>
            <a:ext cx="2395728" cy="731520"/>
          </a:xfrm>
          <a:prstGeom prst="rect">
            <a:avLst/>
          </a:prstGeom>
          <a:noFill/>
          <a:ln/>
        </p:spPr>
        <p:txBody>
          <a:bodyPr wrap="square" lIns="0" tIns="0" rIns="0" bIns="0" rtlCol="0" anchor="t"/>
          <a:lstStyle/>
          <a:p>
            <a:pPr algn="l" indent="0" marL="0">
              <a:buNone/>
            </a:pPr>
            <a:r>
              <a:rPr lang="en-US" sz="900" dirty="0">
                <a:solidFill>
                  <a:srgbClr val="6C757D"/>
                </a:solidFill>
                <a:latin typeface="Calibri" pitchFamily="34" charset="0"/>
                <a:ea typeface="Calibri" pitchFamily="34" charset="-122"/>
                <a:cs typeface="Calibri" pitchFamily="34" charset="-120"/>
              </a:rPr>
              <a:t>Regulators are moving faster than most companies. Early movers are setting the standards that laggards will be forced to comply with.</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320040" y="201168"/>
            <a:ext cx="347472" cy="347472"/>
          </a:xfrm>
          <a:prstGeom prst="rect">
            <a:avLst/>
          </a:prstGeom>
          <a:solidFill>
            <a:srgbClr val="0B7285"/>
          </a:solidFill>
          <a:ln w="12700">
            <a:solidFill>
              <a:srgbClr val="0B7285"/>
            </a:solidFill>
            <a:prstDash val="solid"/>
          </a:ln>
        </p:spPr>
      </p:sp>
      <p:sp>
        <p:nvSpPr>
          <p:cNvPr id="3" name="Text 1"/>
          <p:cNvSpPr/>
          <p:nvPr/>
        </p:nvSpPr>
        <p:spPr>
          <a:xfrm>
            <a:off x="320040" y="201168"/>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4" name="Text 2"/>
          <p:cNvSpPr/>
          <p:nvPr/>
        </p:nvSpPr>
        <p:spPr>
          <a:xfrm>
            <a:off x="749808" y="219456"/>
            <a:ext cx="4572000" cy="310896"/>
          </a:xfrm>
          <a:prstGeom prst="rect">
            <a:avLst/>
          </a:prstGeom>
          <a:noFill/>
          <a:ln/>
        </p:spPr>
        <p:txBody>
          <a:bodyPr wrap="square" lIns="0" tIns="0" rIns="0" bIns="0" rtlCol="0" anchor="ctr"/>
          <a:lstStyle/>
          <a:p>
            <a:pPr indent="0" marL="0">
              <a:buNone/>
            </a:pPr>
            <a:r>
              <a:rPr lang="en-US" sz="1100" spc="100" kern="0" dirty="0">
                <a:solidFill>
                  <a:srgbClr val="0B7285"/>
                </a:solidFill>
                <a:latin typeface="Calibri" pitchFamily="34" charset="0"/>
                <a:ea typeface="Calibri" pitchFamily="34" charset="-122"/>
                <a:cs typeface="Calibri" pitchFamily="34" charset="-120"/>
              </a:rPr>
              <a:t>THE VALUE CHAIN HEAT MAP</a:t>
            </a:r>
            <a:endParaRPr lang="en-US" sz="1100" dirty="0"/>
          </a:p>
        </p:txBody>
      </p:sp>
      <p:sp>
        <p:nvSpPr>
          <p:cNvPr id="5" name="Shape 3"/>
          <p:cNvSpPr/>
          <p:nvPr/>
        </p:nvSpPr>
        <p:spPr>
          <a:xfrm>
            <a:off x="0" y="4910328"/>
            <a:ext cx="9144000" cy="233172"/>
          </a:xfrm>
          <a:prstGeom prst="rect">
            <a:avLst/>
          </a:prstGeom>
          <a:solidFill>
            <a:srgbClr val="0D1F3C"/>
          </a:solidFill>
          <a:ln w="12700">
            <a:solidFill>
              <a:srgbClr val="0D1F3C"/>
            </a:solidFill>
            <a:prstDash val="solid"/>
          </a:ln>
        </p:spPr>
      </p:sp>
      <p:sp>
        <p:nvSpPr>
          <p:cNvPr id="6" name="Text 4"/>
          <p:cNvSpPr/>
          <p:nvPr/>
        </p:nvSpPr>
        <p:spPr>
          <a:xfrm>
            <a:off x="320040" y="4910328"/>
            <a:ext cx="7863840" cy="233172"/>
          </a:xfrm>
          <a:prstGeom prst="rect">
            <a:avLst/>
          </a:prstGeom>
          <a:noFill/>
          <a:ln/>
        </p:spPr>
        <p:txBody>
          <a:bodyPr wrap="square" lIns="0" tIns="0" rIns="0" bIns="0"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AI in Healthcare &amp; Life Sciences  |  MIT AI Executive Academy  |  Capstone 2026  |  CONFIDENTIAL</a:t>
            </a:r>
            <a:endParaRPr lang="en-US" sz="800" dirty="0"/>
          </a:p>
        </p:txBody>
      </p:sp>
      <p:sp>
        <p:nvSpPr>
          <p:cNvPr id="7" name="Text 5"/>
          <p:cNvSpPr/>
          <p:nvPr/>
        </p:nvSpPr>
        <p:spPr>
          <a:xfrm>
            <a:off x="8412480" y="4910328"/>
            <a:ext cx="594360" cy="233172"/>
          </a:xfrm>
          <a:prstGeom prst="rect">
            <a:avLst/>
          </a:prstGeom>
          <a:noFill/>
          <a:ln/>
        </p:spPr>
        <p:txBody>
          <a:bodyPr wrap="square" lIns="0" tIns="0" rIns="0" bIns="0" rtlCol="0" anchor="ctr"/>
          <a:lstStyle/>
          <a:p>
            <a:pPr algn="r" indent="0" marL="0">
              <a:buNone/>
            </a:pPr>
            <a:r>
              <a:rPr lang="en-US" sz="800" dirty="0">
                <a:solidFill>
                  <a:srgbClr val="FFFFFF"/>
                </a:solidFill>
                <a:latin typeface="Calibri" pitchFamily="34" charset="0"/>
                <a:ea typeface="Calibri" pitchFamily="34" charset="-122"/>
                <a:cs typeface="Calibri" pitchFamily="34" charset="-120"/>
              </a:rPr>
              <a:t>4 / 11</a:t>
            </a:r>
            <a:endParaRPr lang="en-US" sz="800" dirty="0"/>
          </a:p>
        </p:txBody>
      </p:sp>
      <p:sp>
        <p:nvSpPr>
          <p:cNvPr id="8" name="Text 6"/>
          <p:cNvSpPr/>
          <p:nvPr/>
        </p:nvSpPr>
        <p:spPr>
          <a:xfrm>
            <a:off x="320040" y="621792"/>
            <a:ext cx="8503920" cy="475488"/>
          </a:xfrm>
          <a:prstGeom prst="rect">
            <a:avLst/>
          </a:prstGeom>
          <a:noFill/>
          <a:ln/>
        </p:spPr>
        <p:txBody>
          <a:bodyPr wrap="square" lIns="0" tIns="0" rIns="0" bIns="0" rtlCol="0" anchor="ctr"/>
          <a:lstStyle/>
          <a:p>
            <a:pPr algn="l" indent="0" marL="0">
              <a:buNone/>
            </a:pPr>
            <a:r>
              <a:rPr lang="en-US" sz="2600" b="1" dirty="0">
                <a:solidFill>
                  <a:srgbClr val="0D1F3C"/>
                </a:solidFill>
                <a:latin typeface="Calibri" pitchFamily="34" charset="0"/>
                <a:ea typeface="Calibri" pitchFamily="34" charset="-122"/>
                <a:cs typeface="Calibri" pitchFamily="34" charset="-120"/>
              </a:rPr>
              <a:t>AI's Impact Is Uneven — Know Where It's Hottest</a:t>
            </a:r>
            <a:endParaRPr lang="en-US" sz="2600" dirty="0"/>
          </a:p>
        </p:txBody>
      </p:sp>
      <p:sp>
        <p:nvSpPr>
          <p:cNvPr id="9" name="Shape 7"/>
          <p:cNvSpPr/>
          <p:nvPr/>
        </p:nvSpPr>
        <p:spPr>
          <a:xfrm>
            <a:off x="320040" y="1188720"/>
            <a:ext cx="8503920" cy="402336"/>
          </a:xfrm>
          <a:prstGeom prst="rect">
            <a:avLst/>
          </a:prstGeom>
          <a:solidFill>
            <a:srgbClr val="FFFFFF"/>
          </a:solidFill>
          <a:ln w="12700">
            <a:solidFill>
              <a:srgbClr val="CED4DA"/>
            </a:solidFill>
            <a:prstDash val="solid"/>
          </a:ln>
        </p:spPr>
      </p:sp>
      <p:sp>
        <p:nvSpPr>
          <p:cNvPr id="10" name="Text 8"/>
          <p:cNvSpPr/>
          <p:nvPr/>
        </p:nvSpPr>
        <p:spPr>
          <a:xfrm>
            <a:off x="411480" y="1188720"/>
            <a:ext cx="2194560" cy="402336"/>
          </a:xfrm>
          <a:prstGeom prst="rect">
            <a:avLst/>
          </a:prstGeom>
          <a:noFill/>
          <a:ln/>
        </p:spPr>
        <p:txBody>
          <a:bodyPr wrap="square" lIns="0" tIns="0" rIns="0" bIns="0" rtlCol="0" anchor="ctr"/>
          <a:lstStyle/>
          <a:p>
            <a:pPr indent="0" marL="0">
              <a:buNone/>
            </a:pPr>
            <a:r>
              <a:rPr lang="en-US" sz="1000" b="1" dirty="0">
                <a:solidFill>
                  <a:srgbClr val="0D1F3C"/>
                </a:solidFill>
                <a:latin typeface="Calibri" pitchFamily="34" charset="0"/>
                <a:ea typeface="Calibri" pitchFamily="34" charset="-122"/>
                <a:cs typeface="Calibri" pitchFamily="34" charset="-120"/>
              </a:rPr>
              <a:t>Drug Discovery / R&amp;D</a:t>
            </a:r>
            <a:endParaRPr lang="en-US" sz="1000" dirty="0"/>
          </a:p>
        </p:txBody>
      </p:sp>
      <p:sp>
        <p:nvSpPr>
          <p:cNvPr id="11" name="Shape 9"/>
          <p:cNvSpPr/>
          <p:nvPr/>
        </p:nvSpPr>
        <p:spPr>
          <a:xfrm>
            <a:off x="2606040" y="1261872"/>
            <a:ext cx="5349240" cy="182880"/>
          </a:xfrm>
          <a:prstGeom prst="rect">
            <a:avLst/>
          </a:prstGeom>
          <a:solidFill>
            <a:srgbClr val="E03131"/>
          </a:solidFill>
          <a:ln w="12700">
            <a:solidFill>
              <a:srgbClr val="E03131"/>
            </a:solidFill>
            <a:prstDash val="solid"/>
          </a:ln>
        </p:spPr>
      </p:sp>
      <p:sp>
        <p:nvSpPr>
          <p:cNvPr id="12" name="Text 10"/>
          <p:cNvSpPr/>
          <p:nvPr/>
        </p:nvSpPr>
        <p:spPr>
          <a:xfrm>
            <a:off x="2679192" y="1426464"/>
            <a:ext cx="5852160" cy="146304"/>
          </a:xfrm>
          <a:prstGeom prst="rect">
            <a:avLst/>
          </a:prstGeom>
          <a:noFill/>
          <a:ln/>
        </p:spPr>
        <p:txBody>
          <a:bodyPr wrap="square" lIns="0" tIns="0" rIns="0" bIns="0" rtlCol="0" anchor="t"/>
          <a:lstStyle/>
          <a:p>
            <a:pPr indent="0" marL="0">
              <a:buNone/>
            </a:pPr>
            <a:r>
              <a:rPr lang="en-US" sz="800" i="1" dirty="0">
                <a:solidFill>
                  <a:srgbClr val="6C757D"/>
                </a:solidFill>
                <a:latin typeface="Calibri" pitchFamily="34" charset="0"/>
                <a:ea typeface="Calibri" pitchFamily="34" charset="-122"/>
                <a:cs typeface="Calibri" pitchFamily="34" charset="-120"/>
              </a:rPr>
              <a:t>Gen AI protein folding, molecular design</a:t>
            </a:r>
            <a:endParaRPr lang="en-US" sz="800" dirty="0"/>
          </a:p>
        </p:txBody>
      </p:sp>
      <p:sp>
        <p:nvSpPr>
          <p:cNvPr id="13" name="Shape 11"/>
          <p:cNvSpPr/>
          <p:nvPr/>
        </p:nvSpPr>
        <p:spPr>
          <a:xfrm>
            <a:off x="8275320" y="1280160"/>
            <a:ext cx="868680" cy="201168"/>
          </a:xfrm>
          <a:prstGeom prst="rect">
            <a:avLst/>
          </a:prstGeom>
          <a:solidFill>
            <a:srgbClr val="E03131"/>
          </a:solidFill>
          <a:ln w="12700">
            <a:solidFill>
              <a:srgbClr val="E03131"/>
            </a:solidFill>
            <a:prstDash val="solid"/>
          </a:ln>
        </p:spPr>
      </p:sp>
      <p:sp>
        <p:nvSpPr>
          <p:cNvPr id="14" name="Text 12"/>
          <p:cNvSpPr/>
          <p:nvPr/>
        </p:nvSpPr>
        <p:spPr>
          <a:xfrm>
            <a:off x="8275320" y="1280160"/>
            <a:ext cx="86868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HIGH</a:t>
            </a:r>
            <a:endParaRPr lang="en-US" sz="750" dirty="0"/>
          </a:p>
        </p:txBody>
      </p:sp>
      <p:sp>
        <p:nvSpPr>
          <p:cNvPr id="15" name="Shape 13"/>
          <p:cNvSpPr/>
          <p:nvPr/>
        </p:nvSpPr>
        <p:spPr>
          <a:xfrm>
            <a:off x="320040" y="1645920"/>
            <a:ext cx="8503920" cy="402336"/>
          </a:xfrm>
          <a:prstGeom prst="rect">
            <a:avLst/>
          </a:prstGeom>
          <a:solidFill>
            <a:srgbClr val="EEF2F7"/>
          </a:solidFill>
          <a:ln w="12700">
            <a:solidFill>
              <a:srgbClr val="CED4DA"/>
            </a:solidFill>
            <a:prstDash val="solid"/>
          </a:ln>
        </p:spPr>
      </p:sp>
      <p:sp>
        <p:nvSpPr>
          <p:cNvPr id="16" name="Text 14"/>
          <p:cNvSpPr/>
          <p:nvPr/>
        </p:nvSpPr>
        <p:spPr>
          <a:xfrm>
            <a:off x="411480" y="1645920"/>
            <a:ext cx="2194560" cy="402336"/>
          </a:xfrm>
          <a:prstGeom prst="rect">
            <a:avLst/>
          </a:prstGeom>
          <a:noFill/>
          <a:ln/>
        </p:spPr>
        <p:txBody>
          <a:bodyPr wrap="square" lIns="0" tIns="0" rIns="0" bIns="0" rtlCol="0" anchor="ctr"/>
          <a:lstStyle/>
          <a:p>
            <a:pPr indent="0" marL="0">
              <a:buNone/>
            </a:pPr>
            <a:r>
              <a:rPr lang="en-US" sz="1000" b="1" dirty="0">
                <a:solidFill>
                  <a:srgbClr val="0D1F3C"/>
                </a:solidFill>
                <a:latin typeface="Calibri" pitchFamily="34" charset="0"/>
                <a:ea typeface="Calibri" pitchFamily="34" charset="-122"/>
                <a:cs typeface="Calibri" pitchFamily="34" charset="-120"/>
              </a:rPr>
              <a:t>Clinical Documentation</a:t>
            </a:r>
            <a:endParaRPr lang="en-US" sz="1000" dirty="0"/>
          </a:p>
        </p:txBody>
      </p:sp>
      <p:sp>
        <p:nvSpPr>
          <p:cNvPr id="17" name="Shape 15"/>
          <p:cNvSpPr/>
          <p:nvPr/>
        </p:nvSpPr>
        <p:spPr>
          <a:xfrm>
            <a:off x="2606040" y="1719072"/>
            <a:ext cx="5349240" cy="182880"/>
          </a:xfrm>
          <a:prstGeom prst="rect">
            <a:avLst/>
          </a:prstGeom>
          <a:solidFill>
            <a:srgbClr val="E03131"/>
          </a:solidFill>
          <a:ln w="12700">
            <a:solidFill>
              <a:srgbClr val="E03131"/>
            </a:solidFill>
            <a:prstDash val="solid"/>
          </a:ln>
        </p:spPr>
      </p:sp>
      <p:sp>
        <p:nvSpPr>
          <p:cNvPr id="18" name="Text 16"/>
          <p:cNvSpPr/>
          <p:nvPr/>
        </p:nvSpPr>
        <p:spPr>
          <a:xfrm>
            <a:off x="2679192" y="1883664"/>
            <a:ext cx="5852160" cy="146304"/>
          </a:xfrm>
          <a:prstGeom prst="rect">
            <a:avLst/>
          </a:prstGeom>
          <a:noFill/>
          <a:ln/>
        </p:spPr>
        <p:txBody>
          <a:bodyPr wrap="square" lIns="0" tIns="0" rIns="0" bIns="0" rtlCol="0" anchor="t"/>
          <a:lstStyle/>
          <a:p>
            <a:pPr indent="0" marL="0">
              <a:buNone/>
            </a:pPr>
            <a:r>
              <a:rPr lang="en-US" sz="800" i="1" dirty="0">
                <a:solidFill>
                  <a:srgbClr val="6C757D"/>
                </a:solidFill>
                <a:latin typeface="Calibri" pitchFamily="34" charset="0"/>
                <a:ea typeface="Calibri" pitchFamily="34" charset="-122"/>
                <a:cs typeface="Calibri" pitchFamily="34" charset="-120"/>
              </a:rPr>
              <a:t>$600M ambient scribe market, 2.4× YoY</a:t>
            </a:r>
            <a:endParaRPr lang="en-US" sz="800" dirty="0"/>
          </a:p>
        </p:txBody>
      </p:sp>
      <p:sp>
        <p:nvSpPr>
          <p:cNvPr id="19" name="Shape 17"/>
          <p:cNvSpPr/>
          <p:nvPr/>
        </p:nvSpPr>
        <p:spPr>
          <a:xfrm>
            <a:off x="8275320" y="1737360"/>
            <a:ext cx="868680" cy="201168"/>
          </a:xfrm>
          <a:prstGeom prst="rect">
            <a:avLst/>
          </a:prstGeom>
          <a:solidFill>
            <a:srgbClr val="E03131"/>
          </a:solidFill>
          <a:ln w="12700">
            <a:solidFill>
              <a:srgbClr val="E03131"/>
            </a:solidFill>
            <a:prstDash val="solid"/>
          </a:ln>
        </p:spPr>
      </p:sp>
      <p:sp>
        <p:nvSpPr>
          <p:cNvPr id="20" name="Text 18"/>
          <p:cNvSpPr/>
          <p:nvPr/>
        </p:nvSpPr>
        <p:spPr>
          <a:xfrm>
            <a:off x="8275320" y="1737360"/>
            <a:ext cx="86868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HIGH</a:t>
            </a:r>
            <a:endParaRPr lang="en-US" sz="750" dirty="0"/>
          </a:p>
        </p:txBody>
      </p:sp>
      <p:sp>
        <p:nvSpPr>
          <p:cNvPr id="21" name="Shape 19"/>
          <p:cNvSpPr/>
          <p:nvPr/>
        </p:nvSpPr>
        <p:spPr>
          <a:xfrm>
            <a:off x="320040" y="2103120"/>
            <a:ext cx="8503920" cy="402336"/>
          </a:xfrm>
          <a:prstGeom prst="rect">
            <a:avLst/>
          </a:prstGeom>
          <a:solidFill>
            <a:srgbClr val="FFFFFF"/>
          </a:solidFill>
          <a:ln w="12700">
            <a:solidFill>
              <a:srgbClr val="CED4DA"/>
            </a:solidFill>
            <a:prstDash val="solid"/>
          </a:ln>
        </p:spPr>
      </p:sp>
      <p:sp>
        <p:nvSpPr>
          <p:cNvPr id="22" name="Text 20"/>
          <p:cNvSpPr/>
          <p:nvPr/>
        </p:nvSpPr>
        <p:spPr>
          <a:xfrm>
            <a:off x="411480" y="2103120"/>
            <a:ext cx="2194560" cy="402336"/>
          </a:xfrm>
          <a:prstGeom prst="rect">
            <a:avLst/>
          </a:prstGeom>
          <a:noFill/>
          <a:ln/>
        </p:spPr>
        <p:txBody>
          <a:bodyPr wrap="square" lIns="0" tIns="0" rIns="0" bIns="0" rtlCol="0" anchor="ctr"/>
          <a:lstStyle/>
          <a:p>
            <a:pPr indent="0" marL="0">
              <a:buNone/>
            </a:pPr>
            <a:r>
              <a:rPr lang="en-US" sz="1000" b="1" dirty="0">
                <a:solidFill>
                  <a:srgbClr val="0D1F3C"/>
                </a:solidFill>
                <a:latin typeface="Calibri" pitchFamily="34" charset="0"/>
                <a:ea typeface="Calibri" pitchFamily="34" charset="-122"/>
                <a:cs typeface="Calibri" pitchFamily="34" charset="-120"/>
              </a:rPr>
              <a:t>Diagnostics &amp; Imaging</a:t>
            </a:r>
            <a:endParaRPr lang="en-US" sz="1000" dirty="0"/>
          </a:p>
        </p:txBody>
      </p:sp>
      <p:sp>
        <p:nvSpPr>
          <p:cNvPr id="23" name="Shape 21"/>
          <p:cNvSpPr/>
          <p:nvPr/>
        </p:nvSpPr>
        <p:spPr>
          <a:xfrm>
            <a:off x="2606040" y="2176272"/>
            <a:ext cx="5111496" cy="182880"/>
          </a:xfrm>
          <a:prstGeom prst="rect">
            <a:avLst/>
          </a:prstGeom>
          <a:solidFill>
            <a:srgbClr val="E03131"/>
          </a:solidFill>
          <a:ln w="12700">
            <a:solidFill>
              <a:srgbClr val="E03131"/>
            </a:solidFill>
            <a:prstDash val="solid"/>
          </a:ln>
        </p:spPr>
      </p:sp>
      <p:sp>
        <p:nvSpPr>
          <p:cNvPr id="24" name="Text 22"/>
          <p:cNvSpPr/>
          <p:nvPr/>
        </p:nvSpPr>
        <p:spPr>
          <a:xfrm>
            <a:off x="2679192" y="2340864"/>
            <a:ext cx="5852160" cy="146304"/>
          </a:xfrm>
          <a:prstGeom prst="rect">
            <a:avLst/>
          </a:prstGeom>
          <a:noFill/>
          <a:ln/>
        </p:spPr>
        <p:txBody>
          <a:bodyPr wrap="square" lIns="0" tIns="0" rIns="0" bIns="0" rtlCol="0" anchor="t"/>
          <a:lstStyle/>
          <a:p>
            <a:pPr indent="0" marL="0">
              <a:buNone/>
            </a:pPr>
            <a:r>
              <a:rPr lang="en-US" sz="800" i="1" dirty="0">
                <a:solidFill>
                  <a:srgbClr val="6C757D"/>
                </a:solidFill>
                <a:latin typeface="Calibri" pitchFamily="34" charset="0"/>
                <a:ea typeface="Calibri" pitchFamily="34" charset="-122"/>
                <a:cs typeface="Calibri" pitchFamily="34" charset="-120"/>
              </a:rPr>
              <a:t>1,250+ FDA-cleared AI devices</a:t>
            </a:r>
            <a:endParaRPr lang="en-US" sz="800" dirty="0"/>
          </a:p>
        </p:txBody>
      </p:sp>
      <p:sp>
        <p:nvSpPr>
          <p:cNvPr id="25" name="Shape 23"/>
          <p:cNvSpPr/>
          <p:nvPr/>
        </p:nvSpPr>
        <p:spPr>
          <a:xfrm>
            <a:off x="8275320" y="2194560"/>
            <a:ext cx="868680" cy="201168"/>
          </a:xfrm>
          <a:prstGeom prst="rect">
            <a:avLst/>
          </a:prstGeom>
          <a:solidFill>
            <a:srgbClr val="E03131"/>
          </a:solidFill>
          <a:ln w="12700">
            <a:solidFill>
              <a:srgbClr val="E03131"/>
            </a:solidFill>
            <a:prstDash val="solid"/>
          </a:ln>
        </p:spPr>
      </p:sp>
      <p:sp>
        <p:nvSpPr>
          <p:cNvPr id="26" name="Text 24"/>
          <p:cNvSpPr/>
          <p:nvPr/>
        </p:nvSpPr>
        <p:spPr>
          <a:xfrm>
            <a:off x="8275320" y="2194560"/>
            <a:ext cx="86868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HIGH</a:t>
            </a:r>
            <a:endParaRPr lang="en-US" sz="750" dirty="0"/>
          </a:p>
        </p:txBody>
      </p:sp>
      <p:sp>
        <p:nvSpPr>
          <p:cNvPr id="27" name="Shape 25"/>
          <p:cNvSpPr/>
          <p:nvPr/>
        </p:nvSpPr>
        <p:spPr>
          <a:xfrm>
            <a:off x="320040" y="2560320"/>
            <a:ext cx="8503920" cy="402336"/>
          </a:xfrm>
          <a:prstGeom prst="rect">
            <a:avLst/>
          </a:prstGeom>
          <a:solidFill>
            <a:srgbClr val="EEF2F7"/>
          </a:solidFill>
          <a:ln w="12700">
            <a:solidFill>
              <a:srgbClr val="CED4DA"/>
            </a:solidFill>
            <a:prstDash val="solid"/>
          </a:ln>
        </p:spPr>
      </p:sp>
      <p:sp>
        <p:nvSpPr>
          <p:cNvPr id="28" name="Text 26"/>
          <p:cNvSpPr/>
          <p:nvPr/>
        </p:nvSpPr>
        <p:spPr>
          <a:xfrm>
            <a:off x="411480" y="2560320"/>
            <a:ext cx="2194560" cy="402336"/>
          </a:xfrm>
          <a:prstGeom prst="rect">
            <a:avLst/>
          </a:prstGeom>
          <a:noFill/>
          <a:ln/>
        </p:spPr>
        <p:txBody>
          <a:bodyPr wrap="square" lIns="0" tIns="0" rIns="0" bIns="0" rtlCol="0" anchor="ctr"/>
          <a:lstStyle/>
          <a:p>
            <a:pPr indent="0" marL="0">
              <a:buNone/>
            </a:pPr>
            <a:r>
              <a:rPr lang="en-US" sz="1000" b="1" dirty="0">
                <a:solidFill>
                  <a:srgbClr val="0D1F3C"/>
                </a:solidFill>
                <a:latin typeface="Calibri" pitchFamily="34" charset="0"/>
                <a:ea typeface="Calibri" pitchFamily="34" charset="-122"/>
                <a:cs typeface="Calibri" pitchFamily="34" charset="-120"/>
              </a:rPr>
              <a:t>Revenue Cycle / Admin</a:t>
            </a:r>
            <a:endParaRPr lang="en-US" sz="1000" dirty="0"/>
          </a:p>
        </p:txBody>
      </p:sp>
      <p:sp>
        <p:nvSpPr>
          <p:cNvPr id="29" name="Shape 27"/>
          <p:cNvSpPr/>
          <p:nvPr/>
        </p:nvSpPr>
        <p:spPr>
          <a:xfrm>
            <a:off x="2606040" y="2633472"/>
            <a:ext cx="5111496" cy="182880"/>
          </a:xfrm>
          <a:prstGeom prst="rect">
            <a:avLst/>
          </a:prstGeom>
          <a:solidFill>
            <a:srgbClr val="E03131"/>
          </a:solidFill>
          <a:ln w="12700">
            <a:solidFill>
              <a:srgbClr val="E03131"/>
            </a:solidFill>
            <a:prstDash val="solid"/>
          </a:ln>
        </p:spPr>
      </p:sp>
      <p:sp>
        <p:nvSpPr>
          <p:cNvPr id="30" name="Text 28"/>
          <p:cNvSpPr/>
          <p:nvPr/>
        </p:nvSpPr>
        <p:spPr>
          <a:xfrm>
            <a:off x="2679192" y="2798064"/>
            <a:ext cx="5852160" cy="146304"/>
          </a:xfrm>
          <a:prstGeom prst="rect">
            <a:avLst/>
          </a:prstGeom>
          <a:noFill/>
          <a:ln/>
        </p:spPr>
        <p:txBody>
          <a:bodyPr wrap="square" lIns="0" tIns="0" rIns="0" bIns="0" rtlCol="0" anchor="t"/>
          <a:lstStyle/>
          <a:p>
            <a:pPr indent="0" marL="0">
              <a:buNone/>
            </a:pPr>
            <a:r>
              <a:rPr lang="en-US" sz="800" i="1" dirty="0">
                <a:solidFill>
                  <a:srgbClr val="6C757D"/>
                </a:solidFill>
                <a:latin typeface="Calibri" pitchFamily="34" charset="0"/>
                <a:ea typeface="Calibri" pitchFamily="34" charset="-122"/>
                <a:cs typeface="Calibri" pitchFamily="34" charset="-120"/>
              </a:rPr>
              <a:t>$450M coding &amp; billing automation</a:t>
            </a:r>
            <a:endParaRPr lang="en-US" sz="800" dirty="0"/>
          </a:p>
        </p:txBody>
      </p:sp>
      <p:sp>
        <p:nvSpPr>
          <p:cNvPr id="31" name="Shape 29"/>
          <p:cNvSpPr/>
          <p:nvPr/>
        </p:nvSpPr>
        <p:spPr>
          <a:xfrm>
            <a:off x="8275320" y="2651760"/>
            <a:ext cx="868680" cy="201168"/>
          </a:xfrm>
          <a:prstGeom prst="rect">
            <a:avLst/>
          </a:prstGeom>
          <a:solidFill>
            <a:srgbClr val="E03131"/>
          </a:solidFill>
          <a:ln w="12700">
            <a:solidFill>
              <a:srgbClr val="E03131"/>
            </a:solidFill>
            <a:prstDash val="solid"/>
          </a:ln>
        </p:spPr>
      </p:sp>
      <p:sp>
        <p:nvSpPr>
          <p:cNvPr id="32" name="Text 30"/>
          <p:cNvSpPr/>
          <p:nvPr/>
        </p:nvSpPr>
        <p:spPr>
          <a:xfrm>
            <a:off x="8275320" y="2651760"/>
            <a:ext cx="86868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HIGH</a:t>
            </a:r>
            <a:endParaRPr lang="en-US" sz="750" dirty="0"/>
          </a:p>
        </p:txBody>
      </p:sp>
      <p:sp>
        <p:nvSpPr>
          <p:cNvPr id="33" name="Shape 31"/>
          <p:cNvSpPr/>
          <p:nvPr/>
        </p:nvSpPr>
        <p:spPr>
          <a:xfrm>
            <a:off x="320040" y="3017520"/>
            <a:ext cx="8503920" cy="402336"/>
          </a:xfrm>
          <a:prstGeom prst="rect">
            <a:avLst/>
          </a:prstGeom>
          <a:solidFill>
            <a:srgbClr val="FFFFFF"/>
          </a:solidFill>
          <a:ln w="12700">
            <a:solidFill>
              <a:srgbClr val="CED4DA"/>
            </a:solidFill>
            <a:prstDash val="solid"/>
          </a:ln>
        </p:spPr>
      </p:sp>
      <p:sp>
        <p:nvSpPr>
          <p:cNvPr id="34" name="Text 32"/>
          <p:cNvSpPr/>
          <p:nvPr/>
        </p:nvSpPr>
        <p:spPr>
          <a:xfrm>
            <a:off x="411480" y="3017520"/>
            <a:ext cx="2194560" cy="402336"/>
          </a:xfrm>
          <a:prstGeom prst="rect">
            <a:avLst/>
          </a:prstGeom>
          <a:noFill/>
          <a:ln/>
        </p:spPr>
        <p:txBody>
          <a:bodyPr wrap="square" lIns="0" tIns="0" rIns="0" bIns="0" rtlCol="0" anchor="ctr"/>
          <a:lstStyle/>
          <a:p>
            <a:pPr indent="0" marL="0">
              <a:buNone/>
            </a:pPr>
            <a:r>
              <a:rPr lang="en-US" sz="1000" b="1" dirty="0">
                <a:solidFill>
                  <a:srgbClr val="0D1F3C"/>
                </a:solidFill>
                <a:latin typeface="Calibri" pitchFamily="34" charset="0"/>
                <a:ea typeface="Calibri" pitchFamily="34" charset="-122"/>
                <a:cs typeface="Calibri" pitchFamily="34" charset="-120"/>
              </a:rPr>
              <a:t>Surgical Delivery</a:t>
            </a:r>
            <a:endParaRPr lang="en-US" sz="1000" dirty="0"/>
          </a:p>
        </p:txBody>
      </p:sp>
      <p:sp>
        <p:nvSpPr>
          <p:cNvPr id="35" name="Shape 33"/>
          <p:cNvSpPr/>
          <p:nvPr/>
        </p:nvSpPr>
        <p:spPr>
          <a:xfrm>
            <a:off x="2606040" y="3090672"/>
            <a:ext cx="3863340" cy="182880"/>
          </a:xfrm>
          <a:prstGeom prst="rect">
            <a:avLst/>
          </a:prstGeom>
          <a:solidFill>
            <a:srgbClr val="F59F00"/>
          </a:solidFill>
          <a:ln w="12700">
            <a:solidFill>
              <a:srgbClr val="F59F00"/>
            </a:solidFill>
            <a:prstDash val="solid"/>
          </a:ln>
        </p:spPr>
      </p:sp>
      <p:sp>
        <p:nvSpPr>
          <p:cNvPr id="36" name="Text 34"/>
          <p:cNvSpPr/>
          <p:nvPr/>
        </p:nvSpPr>
        <p:spPr>
          <a:xfrm>
            <a:off x="2679192" y="3255264"/>
            <a:ext cx="5852160" cy="146304"/>
          </a:xfrm>
          <a:prstGeom prst="rect">
            <a:avLst/>
          </a:prstGeom>
          <a:noFill/>
          <a:ln/>
        </p:spPr>
        <p:txBody>
          <a:bodyPr wrap="square" lIns="0" tIns="0" rIns="0" bIns="0" rtlCol="0" anchor="t"/>
          <a:lstStyle/>
          <a:p>
            <a:pPr indent="0" marL="0">
              <a:buNone/>
            </a:pPr>
            <a:r>
              <a:rPr lang="en-US" sz="800" i="1" dirty="0">
                <a:solidFill>
                  <a:srgbClr val="6C757D"/>
                </a:solidFill>
                <a:latin typeface="Calibri" pitchFamily="34" charset="0"/>
                <a:ea typeface="Calibri" pitchFamily="34" charset="-122"/>
                <a:cs typeface="Calibri" pitchFamily="34" charset="-120"/>
              </a:rPr>
              <a:t>da Vinci 5, Stryker Mako gaining share</a:t>
            </a:r>
            <a:endParaRPr lang="en-US" sz="800" dirty="0"/>
          </a:p>
        </p:txBody>
      </p:sp>
      <p:sp>
        <p:nvSpPr>
          <p:cNvPr id="37" name="Shape 35"/>
          <p:cNvSpPr/>
          <p:nvPr/>
        </p:nvSpPr>
        <p:spPr>
          <a:xfrm>
            <a:off x="8275320" y="3108960"/>
            <a:ext cx="868680" cy="201168"/>
          </a:xfrm>
          <a:prstGeom prst="rect">
            <a:avLst/>
          </a:prstGeom>
          <a:solidFill>
            <a:srgbClr val="F59F00"/>
          </a:solidFill>
          <a:ln w="12700">
            <a:solidFill>
              <a:srgbClr val="F59F00"/>
            </a:solidFill>
            <a:prstDash val="solid"/>
          </a:ln>
        </p:spPr>
      </p:sp>
      <p:sp>
        <p:nvSpPr>
          <p:cNvPr id="38" name="Text 36"/>
          <p:cNvSpPr/>
          <p:nvPr/>
        </p:nvSpPr>
        <p:spPr>
          <a:xfrm>
            <a:off x="8275320" y="3108960"/>
            <a:ext cx="86868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MED-HIGH</a:t>
            </a:r>
            <a:endParaRPr lang="en-US" sz="750" dirty="0"/>
          </a:p>
        </p:txBody>
      </p:sp>
      <p:sp>
        <p:nvSpPr>
          <p:cNvPr id="39" name="Shape 37"/>
          <p:cNvSpPr/>
          <p:nvPr/>
        </p:nvSpPr>
        <p:spPr>
          <a:xfrm>
            <a:off x="320040" y="3474720"/>
            <a:ext cx="8503920" cy="402336"/>
          </a:xfrm>
          <a:prstGeom prst="rect">
            <a:avLst/>
          </a:prstGeom>
          <a:solidFill>
            <a:srgbClr val="EEF2F7"/>
          </a:solidFill>
          <a:ln w="12700">
            <a:solidFill>
              <a:srgbClr val="CED4DA"/>
            </a:solidFill>
            <a:prstDash val="solid"/>
          </a:ln>
        </p:spPr>
      </p:sp>
      <p:sp>
        <p:nvSpPr>
          <p:cNvPr id="40" name="Text 38"/>
          <p:cNvSpPr/>
          <p:nvPr/>
        </p:nvSpPr>
        <p:spPr>
          <a:xfrm>
            <a:off x="411480" y="3474720"/>
            <a:ext cx="2194560" cy="402336"/>
          </a:xfrm>
          <a:prstGeom prst="rect">
            <a:avLst/>
          </a:prstGeom>
          <a:noFill/>
          <a:ln/>
        </p:spPr>
        <p:txBody>
          <a:bodyPr wrap="square" lIns="0" tIns="0" rIns="0" bIns="0" rtlCol="0" anchor="ctr"/>
          <a:lstStyle/>
          <a:p>
            <a:pPr indent="0" marL="0">
              <a:buNone/>
            </a:pPr>
            <a:r>
              <a:rPr lang="en-US" sz="1000" b="1" dirty="0">
                <a:solidFill>
                  <a:srgbClr val="0D1F3C"/>
                </a:solidFill>
                <a:latin typeface="Calibri" pitchFamily="34" charset="0"/>
                <a:ea typeface="Calibri" pitchFamily="34" charset="-122"/>
                <a:cs typeface="Calibri" pitchFamily="34" charset="-120"/>
              </a:rPr>
              <a:t>Clinical Trials</a:t>
            </a:r>
            <a:endParaRPr lang="en-US" sz="1000" dirty="0"/>
          </a:p>
        </p:txBody>
      </p:sp>
      <p:sp>
        <p:nvSpPr>
          <p:cNvPr id="41" name="Shape 39"/>
          <p:cNvSpPr/>
          <p:nvPr/>
        </p:nvSpPr>
        <p:spPr>
          <a:xfrm>
            <a:off x="2606040" y="3547872"/>
            <a:ext cx="3685032" cy="182880"/>
          </a:xfrm>
          <a:prstGeom prst="rect">
            <a:avLst/>
          </a:prstGeom>
          <a:solidFill>
            <a:srgbClr val="F59F00"/>
          </a:solidFill>
          <a:ln w="12700">
            <a:solidFill>
              <a:srgbClr val="F59F00"/>
            </a:solidFill>
            <a:prstDash val="solid"/>
          </a:ln>
        </p:spPr>
      </p:sp>
      <p:sp>
        <p:nvSpPr>
          <p:cNvPr id="42" name="Text 40"/>
          <p:cNvSpPr/>
          <p:nvPr/>
        </p:nvSpPr>
        <p:spPr>
          <a:xfrm>
            <a:off x="2679192" y="3712464"/>
            <a:ext cx="5852160" cy="146304"/>
          </a:xfrm>
          <a:prstGeom prst="rect">
            <a:avLst/>
          </a:prstGeom>
          <a:noFill/>
          <a:ln/>
        </p:spPr>
        <p:txBody>
          <a:bodyPr wrap="square" lIns="0" tIns="0" rIns="0" bIns="0" rtlCol="0" anchor="t"/>
          <a:lstStyle/>
          <a:p>
            <a:pPr indent="0" marL="0">
              <a:buNone/>
            </a:pPr>
            <a:r>
              <a:rPr lang="en-US" sz="800" i="1" dirty="0">
                <a:solidFill>
                  <a:srgbClr val="6C757D"/>
                </a:solidFill>
                <a:latin typeface="Calibri" pitchFamily="34" charset="0"/>
                <a:ea typeface="Calibri" pitchFamily="34" charset="-122"/>
                <a:cs typeface="Calibri" pitchFamily="34" charset="-120"/>
              </a:rPr>
              <a:t>AI site selection, trial design</a:t>
            </a:r>
            <a:endParaRPr lang="en-US" sz="800" dirty="0"/>
          </a:p>
        </p:txBody>
      </p:sp>
      <p:sp>
        <p:nvSpPr>
          <p:cNvPr id="43" name="Shape 41"/>
          <p:cNvSpPr/>
          <p:nvPr/>
        </p:nvSpPr>
        <p:spPr>
          <a:xfrm>
            <a:off x="8275320" y="3566160"/>
            <a:ext cx="868680" cy="201168"/>
          </a:xfrm>
          <a:prstGeom prst="rect">
            <a:avLst/>
          </a:prstGeom>
          <a:solidFill>
            <a:srgbClr val="F59F00"/>
          </a:solidFill>
          <a:ln w="12700">
            <a:solidFill>
              <a:srgbClr val="F59F00"/>
            </a:solidFill>
            <a:prstDash val="solid"/>
          </a:ln>
        </p:spPr>
      </p:sp>
      <p:sp>
        <p:nvSpPr>
          <p:cNvPr id="44" name="Text 42"/>
          <p:cNvSpPr/>
          <p:nvPr/>
        </p:nvSpPr>
        <p:spPr>
          <a:xfrm>
            <a:off x="8275320" y="3566160"/>
            <a:ext cx="86868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MED-HIGH</a:t>
            </a:r>
            <a:endParaRPr lang="en-US" sz="750" dirty="0"/>
          </a:p>
        </p:txBody>
      </p:sp>
      <p:sp>
        <p:nvSpPr>
          <p:cNvPr id="45" name="Shape 43"/>
          <p:cNvSpPr/>
          <p:nvPr/>
        </p:nvSpPr>
        <p:spPr>
          <a:xfrm>
            <a:off x="320040" y="3931920"/>
            <a:ext cx="8503920" cy="402336"/>
          </a:xfrm>
          <a:prstGeom prst="rect">
            <a:avLst/>
          </a:prstGeom>
          <a:solidFill>
            <a:srgbClr val="FFFFFF"/>
          </a:solidFill>
          <a:ln w="12700">
            <a:solidFill>
              <a:srgbClr val="CED4DA"/>
            </a:solidFill>
            <a:prstDash val="solid"/>
          </a:ln>
        </p:spPr>
      </p:sp>
      <p:sp>
        <p:nvSpPr>
          <p:cNvPr id="46" name="Text 44"/>
          <p:cNvSpPr/>
          <p:nvPr/>
        </p:nvSpPr>
        <p:spPr>
          <a:xfrm>
            <a:off x="411480" y="3931920"/>
            <a:ext cx="2194560" cy="402336"/>
          </a:xfrm>
          <a:prstGeom prst="rect">
            <a:avLst/>
          </a:prstGeom>
          <a:noFill/>
          <a:ln/>
        </p:spPr>
        <p:txBody>
          <a:bodyPr wrap="square" lIns="0" tIns="0" rIns="0" bIns="0" rtlCol="0" anchor="ctr"/>
          <a:lstStyle/>
          <a:p>
            <a:pPr indent="0" marL="0">
              <a:buNone/>
            </a:pPr>
            <a:r>
              <a:rPr lang="en-US" sz="1000" b="1" dirty="0">
                <a:solidFill>
                  <a:srgbClr val="0D1F3C"/>
                </a:solidFill>
                <a:latin typeface="Calibri" pitchFamily="34" charset="0"/>
                <a:ea typeface="Calibri" pitchFamily="34" charset="-122"/>
                <a:cs typeface="Calibri" pitchFamily="34" charset="-120"/>
              </a:rPr>
              <a:t>Payor / Utilization Mgmt</a:t>
            </a:r>
            <a:endParaRPr lang="en-US" sz="1000" dirty="0"/>
          </a:p>
        </p:txBody>
      </p:sp>
      <p:sp>
        <p:nvSpPr>
          <p:cNvPr id="47" name="Shape 45"/>
          <p:cNvSpPr/>
          <p:nvPr/>
        </p:nvSpPr>
        <p:spPr>
          <a:xfrm>
            <a:off x="2606040" y="4005072"/>
            <a:ext cx="2496312" cy="182880"/>
          </a:xfrm>
          <a:prstGeom prst="rect">
            <a:avLst/>
          </a:prstGeom>
          <a:solidFill>
            <a:srgbClr val="E07B00"/>
          </a:solidFill>
          <a:ln w="12700">
            <a:solidFill>
              <a:srgbClr val="E07B00"/>
            </a:solidFill>
            <a:prstDash val="solid"/>
          </a:ln>
        </p:spPr>
      </p:sp>
      <p:sp>
        <p:nvSpPr>
          <p:cNvPr id="48" name="Text 46"/>
          <p:cNvSpPr/>
          <p:nvPr/>
        </p:nvSpPr>
        <p:spPr>
          <a:xfrm>
            <a:off x="2679192" y="4169664"/>
            <a:ext cx="5852160" cy="146304"/>
          </a:xfrm>
          <a:prstGeom prst="rect">
            <a:avLst/>
          </a:prstGeom>
          <a:noFill/>
          <a:ln/>
        </p:spPr>
        <p:txBody>
          <a:bodyPr wrap="square" lIns="0" tIns="0" rIns="0" bIns="0" rtlCol="0" anchor="t"/>
          <a:lstStyle/>
          <a:p>
            <a:pPr indent="0" marL="0">
              <a:buNone/>
            </a:pPr>
            <a:r>
              <a:rPr lang="en-US" sz="800" i="1" dirty="0">
                <a:solidFill>
                  <a:srgbClr val="6C757D"/>
                </a:solidFill>
                <a:latin typeface="Calibri" pitchFamily="34" charset="0"/>
                <a:ea typeface="Calibri" pitchFamily="34" charset="-122"/>
                <a:cs typeface="Calibri" pitchFamily="34" charset="-120"/>
              </a:rPr>
              <a:t>5× YoY but still early, long sales cycles</a:t>
            </a:r>
            <a:endParaRPr lang="en-US" sz="800" dirty="0"/>
          </a:p>
        </p:txBody>
      </p:sp>
      <p:sp>
        <p:nvSpPr>
          <p:cNvPr id="49" name="Shape 47"/>
          <p:cNvSpPr/>
          <p:nvPr/>
        </p:nvSpPr>
        <p:spPr>
          <a:xfrm>
            <a:off x="8275320" y="4023360"/>
            <a:ext cx="868680" cy="201168"/>
          </a:xfrm>
          <a:prstGeom prst="rect">
            <a:avLst/>
          </a:prstGeom>
          <a:solidFill>
            <a:srgbClr val="E07B00"/>
          </a:solidFill>
          <a:ln w="12700">
            <a:solidFill>
              <a:srgbClr val="E07B00"/>
            </a:solidFill>
            <a:prstDash val="solid"/>
          </a:ln>
        </p:spPr>
      </p:sp>
      <p:sp>
        <p:nvSpPr>
          <p:cNvPr id="50" name="Text 48"/>
          <p:cNvSpPr/>
          <p:nvPr/>
        </p:nvSpPr>
        <p:spPr>
          <a:xfrm>
            <a:off x="8275320" y="4023360"/>
            <a:ext cx="86868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MEDIUM</a:t>
            </a:r>
            <a:endParaRPr lang="en-US" sz="750" dirty="0"/>
          </a:p>
        </p:txBody>
      </p:sp>
      <p:sp>
        <p:nvSpPr>
          <p:cNvPr id="51" name="Shape 49"/>
          <p:cNvSpPr/>
          <p:nvPr/>
        </p:nvSpPr>
        <p:spPr>
          <a:xfrm>
            <a:off x="320040" y="4389120"/>
            <a:ext cx="8503920" cy="402336"/>
          </a:xfrm>
          <a:prstGeom prst="rect">
            <a:avLst/>
          </a:prstGeom>
          <a:solidFill>
            <a:srgbClr val="EEF2F7"/>
          </a:solidFill>
          <a:ln w="12700">
            <a:solidFill>
              <a:srgbClr val="CED4DA"/>
            </a:solidFill>
            <a:prstDash val="solid"/>
          </a:ln>
        </p:spPr>
      </p:sp>
      <p:sp>
        <p:nvSpPr>
          <p:cNvPr id="52" name="Text 50"/>
          <p:cNvSpPr/>
          <p:nvPr/>
        </p:nvSpPr>
        <p:spPr>
          <a:xfrm>
            <a:off x="411480" y="4389120"/>
            <a:ext cx="2194560" cy="402336"/>
          </a:xfrm>
          <a:prstGeom prst="rect">
            <a:avLst/>
          </a:prstGeom>
          <a:noFill/>
          <a:ln/>
        </p:spPr>
        <p:txBody>
          <a:bodyPr wrap="square" lIns="0" tIns="0" rIns="0" bIns="0" rtlCol="0" anchor="ctr"/>
          <a:lstStyle/>
          <a:p>
            <a:pPr indent="0" marL="0">
              <a:buNone/>
            </a:pPr>
            <a:r>
              <a:rPr lang="en-US" sz="1000" b="1" dirty="0">
                <a:solidFill>
                  <a:srgbClr val="0D1F3C"/>
                </a:solidFill>
                <a:latin typeface="Calibri" pitchFamily="34" charset="0"/>
                <a:ea typeface="Calibri" pitchFamily="34" charset="-122"/>
                <a:cs typeface="Calibri" pitchFamily="34" charset="-120"/>
              </a:rPr>
              <a:t>Patient Engagement</a:t>
            </a:r>
            <a:endParaRPr lang="en-US" sz="1000" dirty="0"/>
          </a:p>
        </p:txBody>
      </p:sp>
      <p:sp>
        <p:nvSpPr>
          <p:cNvPr id="53" name="Shape 51"/>
          <p:cNvSpPr/>
          <p:nvPr/>
        </p:nvSpPr>
        <p:spPr>
          <a:xfrm>
            <a:off x="2606040" y="4462272"/>
            <a:ext cx="1188720" cy="182880"/>
          </a:xfrm>
          <a:prstGeom prst="rect">
            <a:avLst/>
          </a:prstGeom>
          <a:solidFill>
            <a:srgbClr val="0B7285"/>
          </a:solidFill>
          <a:ln w="12700">
            <a:solidFill>
              <a:srgbClr val="0B7285"/>
            </a:solidFill>
            <a:prstDash val="solid"/>
          </a:ln>
        </p:spPr>
      </p:sp>
      <p:sp>
        <p:nvSpPr>
          <p:cNvPr id="54" name="Text 52"/>
          <p:cNvSpPr/>
          <p:nvPr/>
        </p:nvSpPr>
        <p:spPr>
          <a:xfrm>
            <a:off x="2679192" y="4626864"/>
            <a:ext cx="5852160" cy="146304"/>
          </a:xfrm>
          <a:prstGeom prst="rect">
            <a:avLst/>
          </a:prstGeom>
          <a:noFill/>
          <a:ln/>
        </p:spPr>
        <p:txBody>
          <a:bodyPr wrap="square" lIns="0" tIns="0" rIns="0" bIns="0" rtlCol="0" anchor="t"/>
          <a:lstStyle/>
          <a:p>
            <a:pPr indent="0" marL="0">
              <a:buNone/>
            </a:pPr>
            <a:r>
              <a:rPr lang="en-US" sz="800" i="1" dirty="0">
                <a:solidFill>
                  <a:srgbClr val="6C757D"/>
                </a:solidFill>
                <a:latin typeface="Calibri" pitchFamily="34" charset="0"/>
                <a:ea typeface="Calibri" pitchFamily="34" charset="-122"/>
                <a:cs typeface="Calibri" pitchFamily="34" charset="-120"/>
              </a:rPr>
              <a:t>20× YoY growth from small base</a:t>
            </a:r>
            <a:endParaRPr lang="en-US" sz="800" dirty="0"/>
          </a:p>
        </p:txBody>
      </p:sp>
      <p:sp>
        <p:nvSpPr>
          <p:cNvPr id="55" name="Shape 53"/>
          <p:cNvSpPr/>
          <p:nvPr/>
        </p:nvSpPr>
        <p:spPr>
          <a:xfrm>
            <a:off x="8275320" y="4480560"/>
            <a:ext cx="868680" cy="201168"/>
          </a:xfrm>
          <a:prstGeom prst="rect">
            <a:avLst/>
          </a:prstGeom>
          <a:solidFill>
            <a:srgbClr val="0B7285"/>
          </a:solidFill>
          <a:ln w="12700">
            <a:solidFill>
              <a:srgbClr val="0B7285"/>
            </a:solidFill>
            <a:prstDash val="solid"/>
          </a:ln>
        </p:spPr>
      </p:sp>
      <p:sp>
        <p:nvSpPr>
          <p:cNvPr id="56" name="Text 54"/>
          <p:cNvSpPr/>
          <p:nvPr/>
        </p:nvSpPr>
        <p:spPr>
          <a:xfrm>
            <a:off x="8275320" y="4480560"/>
            <a:ext cx="86868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EMERGING</a:t>
            </a:r>
            <a:endParaRPr lang="en-US" sz="750" dirty="0"/>
          </a:p>
        </p:txBody>
      </p:sp>
      <p:sp>
        <p:nvSpPr>
          <p:cNvPr id="57" name="Shape 55"/>
          <p:cNvSpPr/>
          <p:nvPr/>
        </p:nvSpPr>
        <p:spPr>
          <a:xfrm>
            <a:off x="320040" y="4727448"/>
            <a:ext cx="128016" cy="128016"/>
          </a:xfrm>
          <a:prstGeom prst="ellipse">
            <a:avLst/>
          </a:prstGeom>
          <a:solidFill>
            <a:srgbClr val="E03131"/>
          </a:solidFill>
          <a:ln w="12700">
            <a:solidFill>
              <a:srgbClr val="E03131"/>
            </a:solidFill>
            <a:prstDash val="solid"/>
          </a:ln>
        </p:spPr>
      </p:sp>
      <p:sp>
        <p:nvSpPr>
          <p:cNvPr id="58" name="Text 56"/>
          <p:cNvSpPr/>
          <p:nvPr/>
        </p:nvSpPr>
        <p:spPr>
          <a:xfrm>
            <a:off x="502920" y="4718304"/>
            <a:ext cx="1645920" cy="146304"/>
          </a:xfrm>
          <a:prstGeom prst="rect">
            <a:avLst/>
          </a:prstGeom>
          <a:noFill/>
          <a:ln/>
        </p:spPr>
        <p:txBody>
          <a:bodyPr wrap="square" lIns="0" tIns="0" rIns="0" bIns="0" rtlCol="0" anchor="ctr"/>
          <a:lstStyle/>
          <a:p>
            <a:pPr indent="0" marL="0">
              <a:buNone/>
            </a:pPr>
            <a:r>
              <a:rPr lang="en-US" sz="850" dirty="0">
                <a:solidFill>
                  <a:srgbClr val="6C757D"/>
                </a:solidFill>
                <a:latin typeface="Calibri" pitchFamily="34" charset="0"/>
                <a:ea typeface="Calibri" pitchFamily="34" charset="-122"/>
                <a:cs typeface="Calibri" pitchFamily="34" charset="-120"/>
              </a:rPr>
              <a:t>HIGH</a:t>
            </a:r>
            <a:endParaRPr lang="en-US" sz="850" dirty="0"/>
          </a:p>
        </p:txBody>
      </p:sp>
      <p:sp>
        <p:nvSpPr>
          <p:cNvPr id="59" name="Shape 57"/>
          <p:cNvSpPr/>
          <p:nvPr/>
        </p:nvSpPr>
        <p:spPr>
          <a:xfrm>
            <a:off x="2468880" y="4727448"/>
            <a:ext cx="128016" cy="128016"/>
          </a:xfrm>
          <a:prstGeom prst="ellipse">
            <a:avLst/>
          </a:prstGeom>
          <a:solidFill>
            <a:srgbClr val="F59F00"/>
          </a:solidFill>
          <a:ln w="12700">
            <a:solidFill>
              <a:srgbClr val="F59F00"/>
            </a:solidFill>
            <a:prstDash val="solid"/>
          </a:ln>
        </p:spPr>
      </p:sp>
      <p:sp>
        <p:nvSpPr>
          <p:cNvPr id="60" name="Text 58"/>
          <p:cNvSpPr/>
          <p:nvPr/>
        </p:nvSpPr>
        <p:spPr>
          <a:xfrm>
            <a:off x="2651760" y="4718304"/>
            <a:ext cx="1645920" cy="146304"/>
          </a:xfrm>
          <a:prstGeom prst="rect">
            <a:avLst/>
          </a:prstGeom>
          <a:noFill/>
          <a:ln/>
        </p:spPr>
        <p:txBody>
          <a:bodyPr wrap="square" lIns="0" tIns="0" rIns="0" bIns="0" rtlCol="0" anchor="ctr"/>
          <a:lstStyle/>
          <a:p>
            <a:pPr indent="0" marL="0">
              <a:buNone/>
            </a:pPr>
            <a:r>
              <a:rPr lang="en-US" sz="850" dirty="0">
                <a:solidFill>
                  <a:srgbClr val="6C757D"/>
                </a:solidFill>
                <a:latin typeface="Calibri" pitchFamily="34" charset="0"/>
                <a:ea typeface="Calibri" pitchFamily="34" charset="-122"/>
                <a:cs typeface="Calibri" pitchFamily="34" charset="-120"/>
              </a:rPr>
              <a:t>MED-HIGH</a:t>
            </a:r>
            <a:endParaRPr lang="en-US" sz="850" dirty="0"/>
          </a:p>
        </p:txBody>
      </p:sp>
      <p:sp>
        <p:nvSpPr>
          <p:cNvPr id="61" name="Shape 59"/>
          <p:cNvSpPr/>
          <p:nvPr/>
        </p:nvSpPr>
        <p:spPr>
          <a:xfrm>
            <a:off x="4617720" y="4727448"/>
            <a:ext cx="128016" cy="128016"/>
          </a:xfrm>
          <a:prstGeom prst="ellipse">
            <a:avLst/>
          </a:prstGeom>
          <a:solidFill>
            <a:srgbClr val="E07B00"/>
          </a:solidFill>
          <a:ln w="12700">
            <a:solidFill>
              <a:srgbClr val="E07B00"/>
            </a:solidFill>
            <a:prstDash val="solid"/>
          </a:ln>
        </p:spPr>
      </p:sp>
      <p:sp>
        <p:nvSpPr>
          <p:cNvPr id="62" name="Text 60"/>
          <p:cNvSpPr/>
          <p:nvPr/>
        </p:nvSpPr>
        <p:spPr>
          <a:xfrm>
            <a:off x="4800600" y="4718304"/>
            <a:ext cx="1645920" cy="146304"/>
          </a:xfrm>
          <a:prstGeom prst="rect">
            <a:avLst/>
          </a:prstGeom>
          <a:noFill/>
          <a:ln/>
        </p:spPr>
        <p:txBody>
          <a:bodyPr wrap="square" lIns="0" tIns="0" rIns="0" bIns="0" rtlCol="0" anchor="ctr"/>
          <a:lstStyle/>
          <a:p>
            <a:pPr indent="0" marL="0">
              <a:buNone/>
            </a:pPr>
            <a:r>
              <a:rPr lang="en-US" sz="850" dirty="0">
                <a:solidFill>
                  <a:srgbClr val="6C757D"/>
                </a:solidFill>
                <a:latin typeface="Calibri" pitchFamily="34" charset="0"/>
                <a:ea typeface="Calibri" pitchFamily="34" charset="-122"/>
                <a:cs typeface="Calibri" pitchFamily="34" charset="-120"/>
              </a:rPr>
              <a:t>MEDIUM</a:t>
            </a:r>
            <a:endParaRPr lang="en-US" sz="850" dirty="0"/>
          </a:p>
        </p:txBody>
      </p:sp>
      <p:sp>
        <p:nvSpPr>
          <p:cNvPr id="63" name="Shape 61"/>
          <p:cNvSpPr/>
          <p:nvPr/>
        </p:nvSpPr>
        <p:spPr>
          <a:xfrm>
            <a:off x="6766560" y="4727448"/>
            <a:ext cx="128016" cy="128016"/>
          </a:xfrm>
          <a:prstGeom prst="ellipse">
            <a:avLst/>
          </a:prstGeom>
          <a:solidFill>
            <a:srgbClr val="0B7285"/>
          </a:solidFill>
          <a:ln w="12700">
            <a:solidFill>
              <a:srgbClr val="0B7285"/>
            </a:solidFill>
            <a:prstDash val="solid"/>
          </a:ln>
        </p:spPr>
      </p:sp>
      <p:sp>
        <p:nvSpPr>
          <p:cNvPr id="64" name="Text 62"/>
          <p:cNvSpPr/>
          <p:nvPr/>
        </p:nvSpPr>
        <p:spPr>
          <a:xfrm>
            <a:off x="6949440" y="4718304"/>
            <a:ext cx="1645920" cy="146304"/>
          </a:xfrm>
          <a:prstGeom prst="rect">
            <a:avLst/>
          </a:prstGeom>
          <a:noFill/>
          <a:ln/>
        </p:spPr>
        <p:txBody>
          <a:bodyPr wrap="square" lIns="0" tIns="0" rIns="0" bIns="0" rtlCol="0" anchor="ctr"/>
          <a:lstStyle/>
          <a:p>
            <a:pPr indent="0" marL="0">
              <a:buNone/>
            </a:pPr>
            <a:r>
              <a:rPr lang="en-US" sz="850" dirty="0">
                <a:solidFill>
                  <a:srgbClr val="6C757D"/>
                </a:solidFill>
                <a:latin typeface="Calibri" pitchFamily="34" charset="0"/>
                <a:ea typeface="Calibri" pitchFamily="34" charset="-122"/>
                <a:cs typeface="Calibri" pitchFamily="34" charset="-120"/>
              </a:rPr>
              <a:t>EMERGING</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320040" y="201168"/>
            <a:ext cx="347472" cy="347472"/>
          </a:xfrm>
          <a:prstGeom prst="rect">
            <a:avLst/>
          </a:prstGeom>
          <a:solidFill>
            <a:srgbClr val="0B7285"/>
          </a:solidFill>
          <a:ln w="12700">
            <a:solidFill>
              <a:srgbClr val="0B7285"/>
            </a:solidFill>
            <a:prstDash val="solid"/>
          </a:ln>
        </p:spPr>
      </p:sp>
      <p:sp>
        <p:nvSpPr>
          <p:cNvPr id="3" name="Text 1"/>
          <p:cNvSpPr/>
          <p:nvPr/>
        </p:nvSpPr>
        <p:spPr>
          <a:xfrm>
            <a:off x="320040" y="201168"/>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4" name="Text 2"/>
          <p:cNvSpPr/>
          <p:nvPr/>
        </p:nvSpPr>
        <p:spPr>
          <a:xfrm>
            <a:off x="749808" y="219456"/>
            <a:ext cx="4572000" cy="310896"/>
          </a:xfrm>
          <a:prstGeom prst="rect">
            <a:avLst/>
          </a:prstGeom>
          <a:noFill/>
          <a:ln/>
        </p:spPr>
        <p:txBody>
          <a:bodyPr wrap="square" lIns="0" tIns="0" rIns="0" bIns="0" rtlCol="0" anchor="ctr"/>
          <a:lstStyle/>
          <a:p>
            <a:pPr indent="0" marL="0">
              <a:buNone/>
            </a:pPr>
            <a:r>
              <a:rPr lang="en-US" sz="1100" spc="100" kern="0" dirty="0">
                <a:solidFill>
                  <a:srgbClr val="0B7285"/>
                </a:solidFill>
                <a:latin typeface="Calibri" pitchFamily="34" charset="0"/>
                <a:ea typeface="Calibri" pitchFamily="34" charset="-122"/>
                <a:cs typeface="Calibri" pitchFamily="34" charset="-120"/>
              </a:rPr>
              <a:t>THE OPPORTUNITIES</a:t>
            </a:r>
            <a:endParaRPr lang="en-US" sz="1100" dirty="0"/>
          </a:p>
        </p:txBody>
      </p:sp>
      <p:sp>
        <p:nvSpPr>
          <p:cNvPr id="5" name="Shape 3"/>
          <p:cNvSpPr/>
          <p:nvPr/>
        </p:nvSpPr>
        <p:spPr>
          <a:xfrm>
            <a:off x="0" y="4910328"/>
            <a:ext cx="9144000" cy="233172"/>
          </a:xfrm>
          <a:prstGeom prst="rect">
            <a:avLst/>
          </a:prstGeom>
          <a:solidFill>
            <a:srgbClr val="0D1F3C"/>
          </a:solidFill>
          <a:ln w="12700">
            <a:solidFill>
              <a:srgbClr val="0D1F3C"/>
            </a:solidFill>
            <a:prstDash val="solid"/>
          </a:ln>
        </p:spPr>
      </p:sp>
      <p:sp>
        <p:nvSpPr>
          <p:cNvPr id="6" name="Text 4"/>
          <p:cNvSpPr/>
          <p:nvPr/>
        </p:nvSpPr>
        <p:spPr>
          <a:xfrm>
            <a:off x="320040" y="4910328"/>
            <a:ext cx="7863840" cy="233172"/>
          </a:xfrm>
          <a:prstGeom prst="rect">
            <a:avLst/>
          </a:prstGeom>
          <a:noFill/>
          <a:ln/>
        </p:spPr>
        <p:txBody>
          <a:bodyPr wrap="square" lIns="0" tIns="0" rIns="0" bIns="0"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AI in Healthcare &amp; Life Sciences  |  MIT AI Executive Academy  |  Capstone 2026  |  CONFIDENTIAL</a:t>
            </a:r>
            <a:endParaRPr lang="en-US" sz="800" dirty="0"/>
          </a:p>
        </p:txBody>
      </p:sp>
      <p:sp>
        <p:nvSpPr>
          <p:cNvPr id="7" name="Text 5"/>
          <p:cNvSpPr/>
          <p:nvPr/>
        </p:nvSpPr>
        <p:spPr>
          <a:xfrm>
            <a:off x="8412480" y="4910328"/>
            <a:ext cx="594360" cy="233172"/>
          </a:xfrm>
          <a:prstGeom prst="rect">
            <a:avLst/>
          </a:prstGeom>
          <a:noFill/>
          <a:ln/>
        </p:spPr>
        <p:txBody>
          <a:bodyPr wrap="square" lIns="0" tIns="0" rIns="0" bIns="0" rtlCol="0" anchor="ctr"/>
          <a:lstStyle/>
          <a:p>
            <a:pPr algn="r" indent="0" marL="0">
              <a:buNone/>
            </a:pPr>
            <a:r>
              <a:rPr lang="en-US" sz="800" dirty="0">
                <a:solidFill>
                  <a:srgbClr val="FFFFFF"/>
                </a:solidFill>
                <a:latin typeface="Calibri" pitchFamily="34" charset="0"/>
                <a:ea typeface="Calibri" pitchFamily="34" charset="-122"/>
                <a:cs typeface="Calibri" pitchFamily="34" charset="-120"/>
              </a:rPr>
              <a:t>5 / 11</a:t>
            </a:r>
            <a:endParaRPr lang="en-US" sz="800" dirty="0"/>
          </a:p>
        </p:txBody>
      </p:sp>
      <p:sp>
        <p:nvSpPr>
          <p:cNvPr id="8" name="Text 6"/>
          <p:cNvSpPr/>
          <p:nvPr/>
        </p:nvSpPr>
        <p:spPr>
          <a:xfrm>
            <a:off x="320040" y="621792"/>
            <a:ext cx="8503920" cy="457200"/>
          </a:xfrm>
          <a:prstGeom prst="rect">
            <a:avLst/>
          </a:prstGeom>
          <a:noFill/>
          <a:ln/>
        </p:spPr>
        <p:txBody>
          <a:bodyPr wrap="square" lIns="0" tIns="0" rIns="0" bIns="0" rtlCol="0" anchor="ctr"/>
          <a:lstStyle/>
          <a:p>
            <a:pPr algn="l" indent="0" marL="0">
              <a:buNone/>
            </a:pPr>
            <a:r>
              <a:rPr lang="en-US" sz="2600" b="1" dirty="0">
                <a:solidFill>
                  <a:srgbClr val="0D1F3C"/>
                </a:solidFill>
                <a:latin typeface="Calibri" pitchFamily="34" charset="0"/>
                <a:ea typeface="Calibri" pitchFamily="34" charset="-122"/>
                <a:cs typeface="Calibri" pitchFamily="34" charset="-120"/>
              </a:rPr>
              <a:t>Five Vectors of Value Creation — Each with Measurable ROI</a:t>
            </a:r>
            <a:endParaRPr lang="en-US" sz="2600" dirty="0"/>
          </a:p>
        </p:txBody>
      </p:sp>
      <p:sp>
        <p:nvSpPr>
          <p:cNvPr id="9" name="Shape 7"/>
          <p:cNvSpPr/>
          <p:nvPr/>
        </p:nvSpPr>
        <p:spPr>
          <a:xfrm>
            <a:off x="320040" y="1234440"/>
            <a:ext cx="2606040" cy="1737360"/>
          </a:xfrm>
          <a:prstGeom prst="rect">
            <a:avLst/>
          </a:prstGeom>
          <a:solidFill>
            <a:srgbClr val="FFFFFF"/>
          </a:solidFill>
          <a:ln w="12700">
            <a:solidFill>
              <a:srgbClr val="CED4DA"/>
            </a:solidFill>
            <a:prstDash val="solid"/>
          </a:ln>
          <a:effectLst>
            <a:outerShdw sx="100000" sy="100000" kx="0" ky="0" algn="bl" rotWithShape="0" blurRad="101600" dist="38100" dir="8100000">
              <a:srgbClr val="000000">
                <a:alpha val="12000"/>
              </a:srgbClr>
            </a:outerShdw>
          </a:effectLst>
        </p:spPr>
      </p:sp>
      <p:sp>
        <p:nvSpPr>
          <p:cNvPr id="10" name="Shape 8"/>
          <p:cNvSpPr/>
          <p:nvPr/>
        </p:nvSpPr>
        <p:spPr>
          <a:xfrm>
            <a:off x="320040" y="1234440"/>
            <a:ext cx="2606040" cy="164592"/>
          </a:xfrm>
          <a:prstGeom prst="rect">
            <a:avLst/>
          </a:prstGeom>
          <a:solidFill>
            <a:srgbClr val="0B7285"/>
          </a:solidFill>
          <a:ln w="12700">
            <a:solidFill>
              <a:srgbClr val="0B7285"/>
            </a:solidFill>
            <a:prstDash val="solid"/>
          </a:ln>
        </p:spPr>
      </p:sp>
      <p:sp>
        <p:nvSpPr>
          <p:cNvPr id="11" name="Text 9"/>
          <p:cNvSpPr/>
          <p:nvPr/>
        </p:nvSpPr>
        <p:spPr>
          <a:xfrm>
            <a:off x="320040" y="1234440"/>
            <a:ext cx="384048" cy="16459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01</a:t>
            </a:r>
            <a:endParaRPr lang="en-US" sz="900" dirty="0"/>
          </a:p>
        </p:txBody>
      </p:sp>
      <p:sp>
        <p:nvSpPr>
          <p:cNvPr id="12" name="Text 10"/>
          <p:cNvSpPr/>
          <p:nvPr/>
        </p:nvSpPr>
        <p:spPr>
          <a:xfrm>
            <a:off x="1920240" y="1243584"/>
            <a:ext cx="960120" cy="146304"/>
          </a:xfrm>
          <a:prstGeom prst="rect">
            <a:avLst/>
          </a:prstGeom>
          <a:noFill/>
          <a:ln/>
        </p:spPr>
        <p:txBody>
          <a:bodyPr wrap="square" lIns="25400" tIns="25400" rIns="25400" bIns="25400" rtlCol="0" anchor="ctr"/>
          <a:lstStyle/>
          <a:p>
            <a:pPr algn="r" indent="0" marL="0">
              <a:buNone/>
            </a:pPr>
            <a:r>
              <a:rPr lang="en-US" sz="700" dirty="0">
                <a:solidFill>
                  <a:srgbClr val="FFFFFF"/>
                </a:solidFill>
                <a:latin typeface="Calibri" pitchFamily="34" charset="0"/>
                <a:ea typeface="Calibri" pitchFamily="34" charset="-122"/>
                <a:cs typeface="Calibri" pitchFamily="34" charset="-120"/>
              </a:rPr>
              <a:t>Pharma</a:t>
            </a:r>
            <a:endParaRPr lang="en-US" sz="700" dirty="0"/>
          </a:p>
        </p:txBody>
      </p:sp>
      <p:sp>
        <p:nvSpPr>
          <p:cNvPr id="13" name="Text 11"/>
          <p:cNvSpPr/>
          <p:nvPr/>
        </p:nvSpPr>
        <p:spPr>
          <a:xfrm>
            <a:off x="429768" y="1453896"/>
            <a:ext cx="2423160" cy="256032"/>
          </a:xfrm>
          <a:prstGeom prst="rect">
            <a:avLst/>
          </a:prstGeom>
          <a:noFill/>
          <a:ln/>
        </p:spPr>
        <p:txBody>
          <a:bodyPr wrap="square" lIns="0" tIns="0" rIns="0" bIns="0" rtlCol="0" anchor="ctr"/>
          <a:lstStyle/>
          <a:p>
            <a:pPr algn="l" indent="0" marL="0">
              <a:buNone/>
            </a:pPr>
            <a:r>
              <a:rPr lang="en-US" sz="1300" b="1" dirty="0">
                <a:solidFill>
                  <a:srgbClr val="0D1F3C"/>
                </a:solidFill>
                <a:latin typeface="Calibri" pitchFamily="34" charset="0"/>
                <a:ea typeface="Calibri" pitchFamily="34" charset="-122"/>
                <a:cs typeface="Calibri" pitchFamily="34" charset="-120"/>
              </a:rPr>
              <a:t>Drug Discovery</a:t>
            </a:r>
            <a:endParaRPr lang="en-US" sz="1300" dirty="0"/>
          </a:p>
        </p:txBody>
      </p:sp>
      <p:sp>
        <p:nvSpPr>
          <p:cNvPr id="14" name="Shape 12"/>
          <p:cNvSpPr/>
          <p:nvPr/>
        </p:nvSpPr>
        <p:spPr>
          <a:xfrm>
            <a:off x="429768" y="1728216"/>
            <a:ext cx="2386584" cy="219456"/>
          </a:xfrm>
          <a:prstGeom prst="rect">
            <a:avLst/>
          </a:prstGeom>
          <a:solidFill>
            <a:srgbClr val="EEF2F7"/>
          </a:solidFill>
          <a:ln w="12700">
            <a:solidFill>
              <a:srgbClr val="EEF2F7"/>
            </a:solidFill>
            <a:prstDash val="solid"/>
          </a:ln>
        </p:spPr>
      </p:sp>
      <p:sp>
        <p:nvSpPr>
          <p:cNvPr id="15" name="Text 13"/>
          <p:cNvSpPr/>
          <p:nvPr/>
        </p:nvSpPr>
        <p:spPr>
          <a:xfrm>
            <a:off x="457200" y="1728216"/>
            <a:ext cx="2350008" cy="219456"/>
          </a:xfrm>
          <a:prstGeom prst="rect">
            <a:avLst/>
          </a:prstGeom>
          <a:noFill/>
          <a:ln/>
        </p:spPr>
        <p:txBody>
          <a:bodyPr wrap="square" lIns="0" tIns="0" rIns="0" bIns="0" rtlCol="0" anchor="ctr"/>
          <a:lstStyle/>
          <a:p>
            <a:pPr indent="0" marL="0">
              <a:buNone/>
            </a:pPr>
            <a:r>
              <a:rPr lang="en-US" sz="900" b="1" dirty="0">
                <a:solidFill>
                  <a:srgbClr val="12B886"/>
                </a:solidFill>
                <a:latin typeface="Calibri" pitchFamily="34" charset="0"/>
                <a:ea typeface="Calibri" pitchFamily="34" charset="-122"/>
                <a:cs typeface="Calibri" pitchFamily="34" charset="-120"/>
              </a:rPr>
              <a:t>10–40% faster drug approval</a:t>
            </a:r>
            <a:endParaRPr lang="en-US" sz="900" dirty="0"/>
          </a:p>
        </p:txBody>
      </p:sp>
      <p:sp>
        <p:nvSpPr>
          <p:cNvPr id="16" name="Text 14"/>
          <p:cNvSpPr/>
          <p:nvPr/>
        </p:nvSpPr>
        <p:spPr>
          <a:xfrm>
            <a:off x="429768" y="1993392"/>
            <a:ext cx="2386584" cy="914400"/>
          </a:xfrm>
          <a:prstGeom prst="rect">
            <a:avLst/>
          </a:prstGeom>
          <a:noFill/>
          <a:ln/>
        </p:spPr>
        <p:txBody>
          <a:bodyPr wrap="square" lIns="0" tIns="0" rIns="0" bIns="0" rtlCol="0" anchor="t"/>
          <a:lstStyle/>
          <a:p>
            <a:pPr algn="l" indent="0" marL="0">
              <a:buNone/>
            </a:pPr>
            <a:r>
              <a:rPr lang="en-US" sz="900" dirty="0">
                <a:solidFill>
                  <a:srgbClr val="6C757D"/>
                </a:solidFill>
                <a:latin typeface="Calibri" pitchFamily="34" charset="0"/>
                <a:ea typeface="Calibri" pitchFamily="34" charset="-122"/>
                <a:cs typeface="Calibri" pitchFamily="34" charset="-120"/>
              </a:rPr>
              <a:t>66% of life sciences execs directing GenAI budgets to R&amp;D. Eli Lilly's $1B+ TuneLab, Recursion &amp; Insilico Medicine lead AI-native discovery. Sub-2.5yr target-to-trial timelines.</a:t>
            </a:r>
            <a:endParaRPr lang="en-US" sz="900" dirty="0"/>
          </a:p>
        </p:txBody>
      </p:sp>
      <p:sp>
        <p:nvSpPr>
          <p:cNvPr id="17" name="Shape 15"/>
          <p:cNvSpPr/>
          <p:nvPr/>
        </p:nvSpPr>
        <p:spPr>
          <a:xfrm>
            <a:off x="3246120" y="1234440"/>
            <a:ext cx="2606040" cy="1737360"/>
          </a:xfrm>
          <a:prstGeom prst="rect">
            <a:avLst/>
          </a:prstGeom>
          <a:solidFill>
            <a:srgbClr val="FFFFFF"/>
          </a:solidFill>
          <a:ln w="12700">
            <a:solidFill>
              <a:srgbClr val="CED4DA"/>
            </a:solidFill>
            <a:prstDash val="solid"/>
          </a:ln>
          <a:effectLst>
            <a:outerShdw sx="100000" sy="100000" kx="0" ky="0" algn="bl" rotWithShape="0" blurRad="101600" dist="38100" dir="8100000">
              <a:srgbClr val="000000">
                <a:alpha val="12000"/>
              </a:srgbClr>
            </a:outerShdw>
          </a:effectLst>
        </p:spPr>
      </p:sp>
      <p:sp>
        <p:nvSpPr>
          <p:cNvPr id="18" name="Shape 16"/>
          <p:cNvSpPr/>
          <p:nvPr/>
        </p:nvSpPr>
        <p:spPr>
          <a:xfrm>
            <a:off x="3246120" y="1234440"/>
            <a:ext cx="2606040" cy="164592"/>
          </a:xfrm>
          <a:prstGeom prst="rect">
            <a:avLst/>
          </a:prstGeom>
          <a:solidFill>
            <a:srgbClr val="0B7285"/>
          </a:solidFill>
          <a:ln w="12700">
            <a:solidFill>
              <a:srgbClr val="0B7285"/>
            </a:solidFill>
            <a:prstDash val="solid"/>
          </a:ln>
        </p:spPr>
      </p:sp>
      <p:sp>
        <p:nvSpPr>
          <p:cNvPr id="19" name="Text 17"/>
          <p:cNvSpPr/>
          <p:nvPr/>
        </p:nvSpPr>
        <p:spPr>
          <a:xfrm>
            <a:off x="3246120" y="1234440"/>
            <a:ext cx="384048" cy="16459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02</a:t>
            </a:r>
            <a:endParaRPr lang="en-US" sz="900" dirty="0"/>
          </a:p>
        </p:txBody>
      </p:sp>
      <p:sp>
        <p:nvSpPr>
          <p:cNvPr id="20" name="Text 18"/>
          <p:cNvSpPr/>
          <p:nvPr/>
        </p:nvSpPr>
        <p:spPr>
          <a:xfrm>
            <a:off x="4846320" y="1243584"/>
            <a:ext cx="960120" cy="146304"/>
          </a:xfrm>
          <a:prstGeom prst="rect">
            <a:avLst/>
          </a:prstGeom>
          <a:noFill/>
          <a:ln/>
        </p:spPr>
        <p:txBody>
          <a:bodyPr wrap="square" lIns="25400" tIns="25400" rIns="25400" bIns="25400" rtlCol="0" anchor="ctr"/>
          <a:lstStyle/>
          <a:p>
            <a:pPr algn="r" indent="0" marL="0">
              <a:buNone/>
            </a:pPr>
            <a:r>
              <a:rPr lang="en-US" sz="700" dirty="0">
                <a:solidFill>
                  <a:srgbClr val="FFFFFF"/>
                </a:solidFill>
                <a:latin typeface="Calibri" pitchFamily="34" charset="0"/>
                <a:ea typeface="Calibri" pitchFamily="34" charset="-122"/>
                <a:cs typeface="Calibri" pitchFamily="34" charset="-120"/>
              </a:rPr>
              <a:t>Providers</a:t>
            </a:r>
            <a:endParaRPr lang="en-US" sz="700" dirty="0"/>
          </a:p>
        </p:txBody>
      </p:sp>
      <p:sp>
        <p:nvSpPr>
          <p:cNvPr id="21" name="Text 19"/>
          <p:cNvSpPr/>
          <p:nvPr/>
        </p:nvSpPr>
        <p:spPr>
          <a:xfrm>
            <a:off x="3355848" y="1453896"/>
            <a:ext cx="2423160" cy="256032"/>
          </a:xfrm>
          <a:prstGeom prst="rect">
            <a:avLst/>
          </a:prstGeom>
          <a:noFill/>
          <a:ln/>
        </p:spPr>
        <p:txBody>
          <a:bodyPr wrap="square" lIns="0" tIns="0" rIns="0" bIns="0" rtlCol="0" anchor="ctr"/>
          <a:lstStyle/>
          <a:p>
            <a:pPr algn="l" indent="0" marL="0">
              <a:buNone/>
            </a:pPr>
            <a:r>
              <a:rPr lang="en-US" sz="1300" b="1" dirty="0">
                <a:solidFill>
                  <a:srgbClr val="0D1F3C"/>
                </a:solidFill>
                <a:latin typeface="Calibri" pitchFamily="34" charset="0"/>
                <a:ea typeface="Calibri" pitchFamily="34" charset="-122"/>
                <a:cs typeface="Calibri" pitchFamily="34" charset="-120"/>
              </a:rPr>
              <a:t>Clinical Documentation</a:t>
            </a:r>
            <a:endParaRPr lang="en-US" sz="1300" dirty="0"/>
          </a:p>
        </p:txBody>
      </p:sp>
      <p:sp>
        <p:nvSpPr>
          <p:cNvPr id="22" name="Shape 20"/>
          <p:cNvSpPr/>
          <p:nvPr/>
        </p:nvSpPr>
        <p:spPr>
          <a:xfrm>
            <a:off x="3355848" y="1728216"/>
            <a:ext cx="2386584" cy="219456"/>
          </a:xfrm>
          <a:prstGeom prst="rect">
            <a:avLst/>
          </a:prstGeom>
          <a:solidFill>
            <a:srgbClr val="EEF2F7"/>
          </a:solidFill>
          <a:ln w="12700">
            <a:solidFill>
              <a:srgbClr val="EEF2F7"/>
            </a:solidFill>
            <a:prstDash val="solid"/>
          </a:ln>
        </p:spPr>
      </p:sp>
      <p:sp>
        <p:nvSpPr>
          <p:cNvPr id="23" name="Text 21"/>
          <p:cNvSpPr/>
          <p:nvPr/>
        </p:nvSpPr>
        <p:spPr>
          <a:xfrm>
            <a:off x="3383280" y="1728216"/>
            <a:ext cx="2350008" cy="219456"/>
          </a:xfrm>
          <a:prstGeom prst="rect">
            <a:avLst/>
          </a:prstGeom>
          <a:noFill/>
          <a:ln/>
        </p:spPr>
        <p:txBody>
          <a:bodyPr wrap="square" lIns="0" tIns="0" rIns="0" bIns="0" rtlCol="0" anchor="ctr"/>
          <a:lstStyle/>
          <a:p>
            <a:pPr indent="0" marL="0">
              <a:buNone/>
            </a:pPr>
            <a:r>
              <a:rPr lang="en-US" sz="900" b="1" dirty="0">
                <a:solidFill>
                  <a:srgbClr val="12B886"/>
                </a:solidFill>
                <a:latin typeface="Calibri" pitchFamily="34" charset="0"/>
                <a:ea typeface="Calibri" pitchFamily="34" charset="-122"/>
                <a:cs typeface="Calibri" pitchFamily="34" charset="-120"/>
              </a:rPr>
              <a:t>$600M market · 2.4× YoY</a:t>
            </a:r>
            <a:endParaRPr lang="en-US" sz="900" dirty="0"/>
          </a:p>
        </p:txBody>
      </p:sp>
      <p:sp>
        <p:nvSpPr>
          <p:cNvPr id="24" name="Text 22"/>
          <p:cNvSpPr/>
          <p:nvPr/>
        </p:nvSpPr>
        <p:spPr>
          <a:xfrm>
            <a:off x="3355848" y="1993392"/>
            <a:ext cx="2386584" cy="914400"/>
          </a:xfrm>
          <a:prstGeom prst="rect">
            <a:avLst/>
          </a:prstGeom>
          <a:noFill/>
          <a:ln/>
        </p:spPr>
        <p:txBody>
          <a:bodyPr wrap="square" lIns="0" tIns="0" rIns="0" bIns="0" rtlCol="0" anchor="t"/>
          <a:lstStyle/>
          <a:p>
            <a:pPr algn="l" indent="0" marL="0">
              <a:buNone/>
            </a:pPr>
            <a:r>
              <a:rPr lang="en-US" sz="900" dirty="0">
                <a:solidFill>
                  <a:srgbClr val="6C757D"/>
                </a:solidFill>
                <a:latin typeface="Calibri" pitchFamily="34" charset="0"/>
                <a:ea typeface="Calibri" pitchFamily="34" charset="-122"/>
                <a:cs typeface="Calibri" pitchFamily="34" charset="-120"/>
              </a:rPr>
              <a:t>Ambient scribes are healthcare AI's first breakout category. Kaiser Permanente's Abridge rollout across 600+ medical offices — fastest tech implementation in 20 years.</a:t>
            </a:r>
            <a:endParaRPr lang="en-US" sz="900" dirty="0"/>
          </a:p>
        </p:txBody>
      </p:sp>
      <p:sp>
        <p:nvSpPr>
          <p:cNvPr id="25" name="Shape 23"/>
          <p:cNvSpPr/>
          <p:nvPr/>
        </p:nvSpPr>
        <p:spPr>
          <a:xfrm>
            <a:off x="6172200" y="1234440"/>
            <a:ext cx="2606040" cy="1737360"/>
          </a:xfrm>
          <a:prstGeom prst="rect">
            <a:avLst/>
          </a:prstGeom>
          <a:solidFill>
            <a:srgbClr val="FFFFFF"/>
          </a:solidFill>
          <a:ln w="12700">
            <a:solidFill>
              <a:srgbClr val="CED4DA"/>
            </a:solidFill>
            <a:prstDash val="solid"/>
          </a:ln>
          <a:effectLst>
            <a:outerShdw sx="100000" sy="100000" kx="0" ky="0" algn="bl" rotWithShape="0" blurRad="101600" dist="38100" dir="8100000">
              <a:srgbClr val="000000">
                <a:alpha val="12000"/>
              </a:srgbClr>
            </a:outerShdw>
          </a:effectLst>
        </p:spPr>
      </p:sp>
      <p:sp>
        <p:nvSpPr>
          <p:cNvPr id="26" name="Shape 24"/>
          <p:cNvSpPr/>
          <p:nvPr/>
        </p:nvSpPr>
        <p:spPr>
          <a:xfrm>
            <a:off x="6172200" y="1234440"/>
            <a:ext cx="2606040" cy="164592"/>
          </a:xfrm>
          <a:prstGeom prst="rect">
            <a:avLst/>
          </a:prstGeom>
          <a:solidFill>
            <a:srgbClr val="0B7285"/>
          </a:solidFill>
          <a:ln w="12700">
            <a:solidFill>
              <a:srgbClr val="0B7285"/>
            </a:solidFill>
            <a:prstDash val="solid"/>
          </a:ln>
        </p:spPr>
      </p:sp>
      <p:sp>
        <p:nvSpPr>
          <p:cNvPr id="27" name="Text 25"/>
          <p:cNvSpPr/>
          <p:nvPr/>
        </p:nvSpPr>
        <p:spPr>
          <a:xfrm>
            <a:off x="6172200" y="1234440"/>
            <a:ext cx="384048" cy="16459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03</a:t>
            </a:r>
            <a:endParaRPr lang="en-US" sz="900" dirty="0"/>
          </a:p>
        </p:txBody>
      </p:sp>
      <p:sp>
        <p:nvSpPr>
          <p:cNvPr id="28" name="Text 26"/>
          <p:cNvSpPr/>
          <p:nvPr/>
        </p:nvSpPr>
        <p:spPr>
          <a:xfrm>
            <a:off x="7772400" y="1243584"/>
            <a:ext cx="960120" cy="146304"/>
          </a:xfrm>
          <a:prstGeom prst="rect">
            <a:avLst/>
          </a:prstGeom>
          <a:noFill/>
          <a:ln/>
        </p:spPr>
        <p:txBody>
          <a:bodyPr wrap="square" lIns="25400" tIns="25400" rIns="25400" bIns="25400" rtlCol="0" anchor="ctr"/>
          <a:lstStyle/>
          <a:p>
            <a:pPr algn="r" indent="0" marL="0">
              <a:buNone/>
            </a:pPr>
            <a:r>
              <a:rPr lang="en-US" sz="700" dirty="0">
                <a:solidFill>
                  <a:srgbClr val="FFFFFF"/>
                </a:solidFill>
                <a:latin typeface="Calibri" pitchFamily="34" charset="0"/>
                <a:ea typeface="Calibri" pitchFamily="34" charset="-122"/>
                <a:cs typeface="Calibri" pitchFamily="34" charset="-120"/>
              </a:rPr>
              <a:t>MedTech / AMC</a:t>
            </a:r>
            <a:endParaRPr lang="en-US" sz="700" dirty="0"/>
          </a:p>
        </p:txBody>
      </p:sp>
      <p:sp>
        <p:nvSpPr>
          <p:cNvPr id="29" name="Text 27"/>
          <p:cNvSpPr/>
          <p:nvPr/>
        </p:nvSpPr>
        <p:spPr>
          <a:xfrm>
            <a:off x="6281928" y="1453896"/>
            <a:ext cx="2423160" cy="256032"/>
          </a:xfrm>
          <a:prstGeom prst="rect">
            <a:avLst/>
          </a:prstGeom>
          <a:noFill/>
          <a:ln/>
        </p:spPr>
        <p:txBody>
          <a:bodyPr wrap="square" lIns="0" tIns="0" rIns="0" bIns="0" rtlCol="0" anchor="ctr"/>
          <a:lstStyle/>
          <a:p>
            <a:pPr algn="l" indent="0" marL="0">
              <a:buNone/>
            </a:pPr>
            <a:r>
              <a:rPr lang="en-US" sz="1300" b="1" dirty="0">
                <a:solidFill>
                  <a:srgbClr val="0D1F3C"/>
                </a:solidFill>
                <a:latin typeface="Calibri" pitchFamily="34" charset="0"/>
                <a:ea typeface="Calibri" pitchFamily="34" charset="-122"/>
                <a:cs typeface="Calibri" pitchFamily="34" charset="-120"/>
              </a:rPr>
              <a:t>Diagnostics &amp; Imaging</a:t>
            </a:r>
            <a:endParaRPr lang="en-US" sz="1300" dirty="0"/>
          </a:p>
        </p:txBody>
      </p:sp>
      <p:sp>
        <p:nvSpPr>
          <p:cNvPr id="30" name="Shape 28"/>
          <p:cNvSpPr/>
          <p:nvPr/>
        </p:nvSpPr>
        <p:spPr>
          <a:xfrm>
            <a:off x="6281928" y="1728216"/>
            <a:ext cx="2386584" cy="219456"/>
          </a:xfrm>
          <a:prstGeom prst="rect">
            <a:avLst/>
          </a:prstGeom>
          <a:solidFill>
            <a:srgbClr val="EEF2F7"/>
          </a:solidFill>
          <a:ln w="12700">
            <a:solidFill>
              <a:srgbClr val="EEF2F7"/>
            </a:solidFill>
            <a:prstDash val="solid"/>
          </a:ln>
        </p:spPr>
      </p:sp>
      <p:sp>
        <p:nvSpPr>
          <p:cNvPr id="31" name="Text 29"/>
          <p:cNvSpPr/>
          <p:nvPr/>
        </p:nvSpPr>
        <p:spPr>
          <a:xfrm>
            <a:off x="6309360" y="1728216"/>
            <a:ext cx="2350008" cy="219456"/>
          </a:xfrm>
          <a:prstGeom prst="rect">
            <a:avLst/>
          </a:prstGeom>
          <a:noFill/>
          <a:ln/>
        </p:spPr>
        <p:txBody>
          <a:bodyPr wrap="square" lIns="0" tIns="0" rIns="0" bIns="0" rtlCol="0" anchor="ctr"/>
          <a:lstStyle/>
          <a:p>
            <a:pPr indent="0" marL="0">
              <a:buNone/>
            </a:pPr>
            <a:r>
              <a:rPr lang="en-US" sz="900" b="1" dirty="0">
                <a:solidFill>
                  <a:srgbClr val="12B886"/>
                </a:solidFill>
                <a:latin typeface="Calibri" pitchFamily="34" charset="0"/>
                <a:ea typeface="Calibri" pitchFamily="34" charset="-122"/>
                <a:cs typeface="Calibri" pitchFamily="34" charset="-120"/>
              </a:rPr>
              <a:t>14.5% accuracy lift vs. surgeons</a:t>
            </a:r>
            <a:endParaRPr lang="en-US" sz="900" dirty="0"/>
          </a:p>
        </p:txBody>
      </p:sp>
      <p:sp>
        <p:nvSpPr>
          <p:cNvPr id="32" name="Text 30"/>
          <p:cNvSpPr/>
          <p:nvPr/>
        </p:nvSpPr>
        <p:spPr>
          <a:xfrm>
            <a:off x="6281928" y="1993392"/>
            <a:ext cx="2386584" cy="914400"/>
          </a:xfrm>
          <a:prstGeom prst="rect">
            <a:avLst/>
          </a:prstGeom>
          <a:noFill/>
          <a:ln/>
        </p:spPr>
        <p:txBody>
          <a:bodyPr wrap="square" lIns="0" tIns="0" rIns="0" bIns="0" rtlCol="0" anchor="t"/>
          <a:lstStyle/>
          <a:p>
            <a:pPr algn="l" indent="0" marL="0">
              <a:buNone/>
            </a:pPr>
            <a:r>
              <a:rPr lang="en-US" sz="900" dirty="0">
                <a:solidFill>
                  <a:srgbClr val="6C757D"/>
                </a:solidFill>
                <a:latin typeface="Calibri" pitchFamily="34" charset="0"/>
                <a:ea typeface="Calibri" pitchFamily="34" charset="-122"/>
                <a:cs typeface="Calibri" pitchFamily="34" charset="-120"/>
              </a:rPr>
              <a:t>1,250+ FDA-cleared AI devices. NHS AI stroke tool raised recovery rates from 16% to 48%. Radiology, pathology &amp; cardiology leading at scale.</a:t>
            </a:r>
            <a:endParaRPr lang="en-US" sz="900" dirty="0"/>
          </a:p>
        </p:txBody>
      </p:sp>
      <p:sp>
        <p:nvSpPr>
          <p:cNvPr id="33" name="Shape 31"/>
          <p:cNvSpPr/>
          <p:nvPr/>
        </p:nvSpPr>
        <p:spPr>
          <a:xfrm>
            <a:off x="1298448" y="3246120"/>
            <a:ext cx="2606040" cy="1737360"/>
          </a:xfrm>
          <a:prstGeom prst="rect">
            <a:avLst/>
          </a:prstGeom>
          <a:solidFill>
            <a:srgbClr val="FFFFFF"/>
          </a:solidFill>
          <a:ln w="12700">
            <a:solidFill>
              <a:srgbClr val="CED4DA"/>
            </a:solidFill>
            <a:prstDash val="solid"/>
          </a:ln>
          <a:effectLst>
            <a:outerShdw sx="100000" sy="100000" kx="0" ky="0" algn="bl" rotWithShape="0" blurRad="101600" dist="38100" dir="8100000">
              <a:srgbClr val="000000">
                <a:alpha val="12000"/>
              </a:srgbClr>
            </a:outerShdw>
          </a:effectLst>
        </p:spPr>
      </p:sp>
      <p:sp>
        <p:nvSpPr>
          <p:cNvPr id="34" name="Shape 32"/>
          <p:cNvSpPr/>
          <p:nvPr/>
        </p:nvSpPr>
        <p:spPr>
          <a:xfrm>
            <a:off x="1298448" y="3246120"/>
            <a:ext cx="2606040" cy="164592"/>
          </a:xfrm>
          <a:prstGeom prst="rect">
            <a:avLst/>
          </a:prstGeom>
          <a:solidFill>
            <a:srgbClr val="0B7285"/>
          </a:solidFill>
          <a:ln w="12700">
            <a:solidFill>
              <a:srgbClr val="0B7285"/>
            </a:solidFill>
            <a:prstDash val="solid"/>
          </a:ln>
        </p:spPr>
      </p:sp>
      <p:sp>
        <p:nvSpPr>
          <p:cNvPr id="35" name="Text 33"/>
          <p:cNvSpPr/>
          <p:nvPr/>
        </p:nvSpPr>
        <p:spPr>
          <a:xfrm>
            <a:off x="1298448" y="3246120"/>
            <a:ext cx="384048" cy="16459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04</a:t>
            </a:r>
            <a:endParaRPr lang="en-US" sz="900" dirty="0"/>
          </a:p>
        </p:txBody>
      </p:sp>
      <p:sp>
        <p:nvSpPr>
          <p:cNvPr id="36" name="Text 34"/>
          <p:cNvSpPr/>
          <p:nvPr/>
        </p:nvSpPr>
        <p:spPr>
          <a:xfrm>
            <a:off x="2898648" y="3255264"/>
            <a:ext cx="960120" cy="146304"/>
          </a:xfrm>
          <a:prstGeom prst="rect">
            <a:avLst/>
          </a:prstGeom>
          <a:noFill/>
          <a:ln/>
        </p:spPr>
        <p:txBody>
          <a:bodyPr wrap="square" lIns="25400" tIns="25400" rIns="25400" bIns="25400" rtlCol="0" anchor="ctr"/>
          <a:lstStyle/>
          <a:p>
            <a:pPr algn="r" indent="0" marL="0">
              <a:buNone/>
            </a:pPr>
            <a:r>
              <a:rPr lang="en-US" sz="700" dirty="0">
                <a:solidFill>
                  <a:srgbClr val="FFFFFF"/>
                </a:solidFill>
                <a:latin typeface="Calibri" pitchFamily="34" charset="0"/>
                <a:ea typeface="Calibri" pitchFamily="34" charset="-122"/>
                <a:cs typeface="Calibri" pitchFamily="34" charset="-120"/>
              </a:rPr>
              <a:t>Providers / Payors</a:t>
            </a:r>
            <a:endParaRPr lang="en-US" sz="700" dirty="0"/>
          </a:p>
        </p:txBody>
      </p:sp>
      <p:sp>
        <p:nvSpPr>
          <p:cNvPr id="37" name="Text 35"/>
          <p:cNvSpPr/>
          <p:nvPr/>
        </p:nvSpPr>
        <p:spPr>
          <a:xfrm>
            <a:off x="1408176" y="3465576"/>
            <a:ext cx="2423160" cy="256032"/>
          </a:xfrm>
          <a:prstGeom prst="rect">
            <a:avLst/>
          </a:prstGeom>
          <a:noFill/>
          <a:ln/>
        </p:spPr>
        <p:txBody>
          <a:bodyPr wrap="square" lIns="0" tIns="0" rIns="0" bIns="0" rtlCol="0" anchor="ctr"/>
          <a:lstStyle/>
          <a:p>
            <a:pPr algn="l" indent="0" marL="0">
              <a:buNone/>
            </a:pPr>
            <a:r>
              <a:rPr lang="en-US" sz="1300" b="1" dirty="0">
                <a:solidFill>
                  <a:srgbClr val="0D1F3C"/>
                </a:solidFill>
                <a:latin typeface="Calibri" pitchFamily="34" charset="0"/>
                <a:ea typeface="Calibri" pitchFamily="34" charset="-122"/>
                <a:cs typeface="Calibri" pitchFamily="34" charset="-120"/>
              </a:rPr>
              <a:t>Revenue Cycle &amp; Admin</a:t>
            </a:r>
            <a:endParaRPr lang="en-US" sz="1300" dirty="0"/>
          </a:p>
        </p:txBody>
      </p:sp>
      <p:sp>
        <p:nvSpPr>
          <p:cNvPr id="38" name="Shape 36"/>
          <p:cNvSpPr/>
          <p:nvPr/>
        </p:nvSpPr>
        <p:spPr>
          <a:xfrm>
            <a:off x="1408176" y="3739896"/>
            <a:ext cx="2386584" cy="219456"/>
          </a:xfrm>
          <a:prstGeom prst="rect">
            <a:avLst/>
          </a:prstGeom>
          <a:solidFill>
            <a:srgbClr val="EEF2F7"/>
          </a:solidFill>
          <a:ln w="12700">
            <a:solidFill>
              <a:srgbClr val="EEF2F7"/>
            </a:solidFill>
            <a:prstDash val="solid"/>
          </a:ln>
        </p:spPr>
      </p:sp>
      <p:sp>
        <p:nvSpPr>
          <p:cNvPr id="39" name="Text 37"/>
          <p:cNvSpPr/>
          <p:nvPr/>
        </p:nvSpPr>
        <p:spPr>
          <a:xfrm>
            <a:off x="1435608" y="3739896"/>
            <a:ext cx="2350008" cy="219456"/>
          </a:xfrm>
          <a:prstGeom prst="rect">
            <a:avLst/>
          </a:prstGeom>
          <a:noFill/>
          <a:ln/>
        </p:spPr>
        <p:txBody>
          <a:bodyPr wrap="square" lIns="0" tIns="0" rIns="0" bIns="0" rtlCol="0" anchor="ctr"/>
          <a:lstStyle/>
          <a:p>
            <a:pPr indent="0" marL="0">
              <a:buNone/>
            </a:pPr>
            <a:r>
              <a:rPr lang="en-US" sz="900" b="1" dirty="0">
                <a:solidFill>
                  <a:srgbClr val="12B886"/>
                </a:solidFill>
                <a:latin typeface="Calibri" pitchFamily="34" charset="0"/>
                <a:ea typeface="Calibri" pitchFamily="34" charset="-122"/>
                <a:cs typeface="Calibri" pitchFamily="34" charset="-120"/>
              </a:rPr>
              <a:t>$450M automation market</a:t>
            </a:r>
            <a:endParaRPr lang="en-US" sz="900" dirty="0"/>
          </a:p>
        </p:txBody>
      </p:sp>
      <p:sp>
        <p:nvSpPr>
          <p:cNvPr id="40" name="Text 38"/>
          <p:cNvSpPr/>
          <p:nvPr/>
        </p:nvSpPr>
        <p:spPr>
          <a:xfrm>
            <a:off x="1408176" y="4005072"/>
            <a:ext cx="2386584" cy="914400"/>
          </a:xfrm>
          <a:prstGeom prst="rect">
            <a:avLst/>
          </a:prstGeom>
          <a:noFill/>
          <a:ln/>
        </p:spPr>
        <p:txBody>
          <a:bodyPr wrap="square" lIns="0" tIns="0" rIns="0" bIns="0" rtlCol="0" anchor="t"/>
          <a:lstStyle/>
          <a:p>
            <a:pPr algn="l" indent="0" marL="0">
              <a:buNone/>
            </a:pPr>
            <a:r>
              <a:rPr lang="en-US" sz="900" dirty="0">
                <a:solidFill>
                  <a:srgbClr val="6C757D"/>
                </a:solidFill>
                <a:latin typeface="Calibri" pitchFamily="34" charset="0"/>
                <a:ea typeface="Calibri" pitchFamily="34" charset="-122"/>
                <a:cs typeface="Calibri" pitchFamily="34" charset="-120"/>
              </a:rPr>
              <a:t>22% decrease in prior auth denials. Agentic AI projecting 25–50% cost reductions in admin functions. Payor AI segment growing 5× YoY.</a:t>
            </a:r>
            <a:endParaRPr lang="en-US" sz="900" dirty="0"/>
          </a:p>
        </p:txBody>
      </p:sp>
      <p:sp>
        <p:nvSpPr>
          <p:cNvPr id="41" name="Shape 39"/>
          <p:cNvSpPr/>
          <p:nvPr/>
        </p:nvSpPr>
        <p:spPr>
          <a:xfrm>
            <a:off x="4224528" y="3246120"/>
            <a:ext cx="2606040" cy="1737360"/>
          </a:xfrm>
          <a:prstGeom prst="rect">
            <a:avLst/>
          </a:prstGeom>
          <a:solidFill>
            <a:srgbClr val="FFFFFF"/>
          </a:solidFill>
          <a:ln w="12700">
            <a:solidFill>
              <a:srgbClr val="CED4DA"/>
            </a:solidFill>
            <a:prstDash val="solid"/>
          </a:ln>
          <a:effectLst>
            <a:outerShdw sx="100000" sy="100000" kx="0" ky="0" algn="bl" rotWithShape="0" blurRad="101600" dist="38100" dir="8100000">
              <a:srgbClr val="000000">
                <a:alpha val="12000"/>
              </a:srgbClr>
            </a:outerShdw>
          </a:effectLst>
        </p:spPr>
      </p:sp>
      <p:sp>
        <p:nvSpPr>
          <p:cNvPr id="42" name="Shape 40"/>
          <p:cNvSpPr/>
          <p:nvPr/>
        </p:nvSpPr>
        <p:spPr>
          <a:xfrm>
            <a:off x="4224528" y="3246120"/>
            <a:ext cx="2606040" cy="164592"/>
          </a:xfrm>
          <a:prstGeom prst="rect">
            <a:avLst/>
          </a:prstGeom>
          <a:solidFill>
            <a:srgbClr val="0B7285"/>
          </a:solidFill>
          <a:ln w="12700">
            <a:solidFill>
              <a:srgbClr val="0B7285"/>
            </a:solidFill>
            <a:prstDash val="solid"/>
          </a:ln>
        </p:spPr>
      </p:sp>
      <p:sp>
        <p:nvSpPr>
          <p:cNvPr id="43" name="Text 41"/>
          <p:cNvSpPr/>
          <p:nvPr/>
        </p:nvSpPr>
        <p:spPr>
          <a:xfrm>
            <a:off x="4224528" y="3246120"/>
            <a:ext cx="384048" cy="16459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05</a:t>
            </a:r>
            <a:endParaRPr lang="en-US" sz="900" dirty="0"/>
          </a:p>
        </p:txBody>
      </p:sp>
      <p:sp>
        <p:nvSpPr>
          <p:cNvPr id="44" name="Text 42"/>
          <p:cNvSpPr/>
          <p:nvPr/>
        </p:nvSpPr>
        <p:spPr>
          <a:xfrm>
            <a:off x="5824728" y="3255264"/>
            <a:ext cx="960120" cy="146304"/>
          </a:xfrm>
          <a:prstGeom prst="rect">
            <a:avLst/>
          </a:prstGeom>
          <a:noFill/>
          <a:ln/>
        </p:spPr>
        <p:txBody>
          <a:bodyPr wrap="square" lIns="25400" tIns="25400" rIns="25400" bIns="25400" rtlCol="0" anchor="ctr"/>
          <a:lstStyle/>
          <a:p>
            <a:pPr algn="r" indent="0" marL="0">
              <a:buNone/>
            </a:pPr>
            <a:r>
              <a:rPr lang="en-US" sz="700" dirty="0">
                <a:solidFill>
                  <a:srgbClr val="FFFFFF"/>
                </a:solidFill>
                <a:latin typeface="Calibri" pitchFamily="34" charset="0"/>
                <a:ea typeface="Calibri" pitchFamily="34" charset="-122"/>
                <a:cs typeface="Calibri" pitchFamily="34" charset="-120"/>
              </a:rPr>
              <a:t>MedTech</a:t>
            </a:r>
            <a:endParaRPr lang="en-US" sz="700" dirty="0"/>
          </a:p>
        </p:txBody>
      </p:sp>
      <p:sp>
        <p:nvSpPr>
          <p:cNvPr id="45" name="Text 43"/>
          <p:cNvSpPr/>
          <p:nvPr/>
        </p:nvSpPr>
        <p:spPr>
          <a:xfrm>
            <a:off x="4334256" y="3465576"/>
            <a:ext cx="2423160" cy="256032"/>
          </a:xfrm>
          <a:prstGeom prst="rect">
            <a:avLst/>
          </a:prstGeom>
          <a:noFill/>
          <a:ln/>
        </p:spPr>
        <p:txBody>
          <a:bodyPr wrap="square" lIns="0" tIns="0" rIns="0" bIns="0" rtlCol="0" anchor="ctr"/>
          <a:lstStyle/>
          <a:p>
            <a:pPr algn="l" indent="0" marL="0">
              <a:buNone/>
            </a:pPr>
            <a:r>
              <a:rPr lang="en-US" sz="1300" b="1" dirty="0">
                <a:solidFill>
                  <a:srgbClr val="0D1F3C"/>
                </a:solidFill>
                <a:latin typeface="Calibri" pitchFamily="34" charset="0"/>
                <a:ea typeface="Calibri" pitchFamily="34" charset="-122"/>
                <a:cs typeface="Calibri" pitchFamily="34" charset="-120"/>
              </a:rPr>
              <a:t>Surgical Robotics</a:t>
            </a:r>
            <a:endParaRPr lang="en-US" sz="1300" dirty="0"/>
          </a:p>
        </p:txBody>
      </p:sp>
      <p:sp>
        <p:nvSpPr>
          <p:cNvPr id="46" name="Shape 44"/>
          <p:cNvSpPr/>
          <p:nvPr/>
        </p:nvSpPr>
        <p:spPr>
          <a:xfrm>
            <a:off x="4334256" y="3739896"/>
            <a:ext cx="2386584" cy="219456"/>
          </a:xfrm>
          <a:prstGeom prst="rect">
            <a:avLst/>
          </a:prstGeom>
          <a:solidFill>
            <a:srgbClr val="EEF2F7"/>
          </a:solidFill>
          <a:ln w="12700">
            <a:solidFill>
              <a:srgbClr val="EEF2F7"/>
            </a:solidFill>
            <a:prstDash val="solid"/>
          </a:ln>
        </p:spPr>
      </p:sp>
      <p:sp>
        <p:nvSpPr>
          <p:cNvPr id="47" name="Text 45"/>
          <p:cNvSpPr/>
          <p:nvPr/>
        </p:nvSpPr>
        <p:spPr>
          <a:xfrm>
            <a:off x="4361688" y="3739896"/>
            <a:ext cx="2350008" cy="219456"/>
          </a:xfrm>
          <a:prstGeom prst="rect">
            <a:avLst/>
          </a:prstGeom>
          <a:noFill/>
          <a:ln/>
        </p:spPr>
        <p:txBody>
          <a:bodyPr wrap="square" lIns="0" tIns="0" rIns="0" bIns="0" rtlCol="0" anchor="ctr"/>
          <a:lstStyle/>
          <a:p>
            <a:pPr indent="0" marL="0">
              <a:buNone/>
            </a:pPr>
            <a:r>
              <a:rPr lang="en-US" sz="900" b="1" dirty="0">
                <a:solidFill>
                  <a:srgbClr val="12B886"/>
                </a:solidFill>
                <a:latin typeface="Calibri" pitchFamily="34" charset="0"/>
                <a:ea typeface="Calibri" pitchFamily="34" charset="-122"/>
                <a:cs typeface="Calibri" pitchFamily="34" charset="-120"/>
              </a:rPr>
              <a:t>&gt;13% revenue share in healthcare AI</a:t>
            </a:r>
            <a:endParaRPr lang="en-US" sz="900" dirty="0"/>
          </a:p>
        </p:txBody>
      </p:sp>
      <p:sp>
        <p:nvSpPr>
          <p:cNvPr id="48" name="Text 46"/>
          <p:cNvSpPr/>
          <p:nvPr/>
        </p:nvSpPr>
        <p:spPr>
          <a:xfrm>
            <a:off x="4334256" y="4005072"/>
            <a:ext cx="2386584" cy="914400"/>
          </a:xfrm>
          <a:prstGeom prst="rect">
            <a:avLst/>
          </a:prstGeom>
          <a:noFill/>
          <a:ln/>
        </p:spPr>
        <p:txBody>
          <a:bodyPr wrap="square" lIns="0" tIns="0" rIns="0" bIns="0" rtlCol="0" anchor="t"/>
          <a:lstStyle/>
          <a:p>
            <a:pPr algn="l" indent="0" marL="0">
              <a:buNone/>
            </a:pPr>
            <a:r>
              <a:rPr lang="en-US" sz="900" dirty="0">
                <a:solidFill>
                  <a:srgbClr val="6C757D"/>
                </a:solidFill>
                <a:latin typeface="Calibri" pitchFamily="34" charset="0"/>
                <a:ea typeface="Calibri" pitchFamily="34" charset="-122"/>
                <a:cs typeface="Calibri" pitchFamily="34" charset="-120"/>
              </a:rPr>
              <a:t>da Vinci 5 (ISRG), Stryker Mako, Medtronic CathWorks building defensible AI-powered moats in high-margin procedural segments.</a:t>
            </a:r>
            <a:endParaRPr lang="en-US" sz="900" dirty="0"/>
          </a:p>
        </p:txBody>
      </p:sp>
      <p:sp>
        <p:nvSpPr>
          <p:cNvPr id="49" name="Text 47"/>
          <p:cNvSpPr/>
          <p:nvPr/>
        </p:nvSpPr>
        <p:spPr>
          <a:xfrm>
            <a:off x="320040" y="4700016"/>
            <a:ext cx="8503920" cy="164592"/>
          </a:xfrm>
          <a:prstGeom prst="rect">
            <a:avLst/>
          </a:prstGeom>
          <a:noFill/>
          <a:ln/>
        </p:spPr>
        <p:txBody>
          <a:bodyPr wrap="square" lIns="0" tIns="0" rIns="0" bIns="0" rtlCol="0" anchor="ctr"/>
          <a:lstStyle/>
          <a:p>
            <a:pPr indent="0" marL="0">
              <a:buNone/>
            </a:pPr>
            <a:r>
              <a:rPr lang="en-US" sz="750" i="1" dirty="0">
                <a:solidFill>
                  <a:srgbClr val="6C757D"/>
                </a:solidFill>
                <a:latin typeface="Calibri" pitchFamily="34" charset="0"/>
                <a:ea typeface="Calibri" pitchFamily="34" charset="-122"/>
                <a:cs typeface="Calibri" pitchFamily="34" charset="-120"/>
              </a:rPr>
              <a:t>Sources: Menlo Ventures 2025, Microsoft/IDC, Drug Discovery News 2025, Signity Solutions 2026, NVIDIA Health AI Report 2025</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320040" y="201168"/>
            <a:ext cx="347472" cy="347472"/>
          </a:xfrm>
          <a:prstGeom prst="rect">
            <a:avLst/>
          </a:prstGeom>
          <a:solidFill>
            <a:srgbClr val="0B7285"/>
          </a:solidFill>
          <a:ln w="12700">
            <a:solidFill>
              <a:srgbClr val="0B7285"/>
            </a:solidFill>
            <a:prstDash val="solid"/>
          </a:ln>
        </p:spPr>
      </p:sp>
      <p:sp>
        <p:nvSpPr>
          <p:cNvPr id="3" name="Text 1"/>
          <p:cNvSpPr/>
          <p:nvPr/>
        </p:nvSpPr>
        <p:spPr>
          <a:xfrm>
            <a:off x="320040" y="201168"/>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4" name="Text 2"/>
          <p:cNvSpPr/>
          <p:nvPr/>
        </p:nvSpPr>
        <p:spPr>
          <a:xfrm>
            <a:off x="749808" y="219456"/>
            <a:ext cx="4572000" cy="310896"/>
          </a:xfrm>
          <a:prstGeom prst="rect">
            <a:avLst/>
          </a:prstGeom>
          <a:noFill/>
          <a:ln/>
        </p:spPr>
        <p:txBody>
          <a:bodyPr wrap="square" lIns="0" tIns="0" rIns="0" bIns="0" rtlCol="0" anchor="ctr"/>
          <a:lstStyle/>
          <a:p>
            <a:pPr indent="0" marL="0">
              <a:buNone/>
            </a:pPr>
            <a:r>
              <a:rPr lang="en-US" sz="1100" spc="100" kern="0" dirty="0">
                <a:solidFill>
                  <a:srgbClr val="0B7285"/>
                </a:solidFill>
                <a:latin typeface="Calibri" pitchFamily="34" charset="0"/>
                <a:ea typeface="Calibri" pitchFamily="34" charset="-122"/>
                <a:cs typeface="Calibri" pitchFamily="34" charset="-120"/>
              </a:rPr>
              <a:t>THE THREATS</a:t>
            </a:r>
            <a:endParaRPr lang="en-US" sz="1100" dirty="0"/>
          </a:p>
        </p:txBody>
      </p:sp>
      <p:sp>
        <p:nvSpPr>
          <p:cNvPr id="5" name="Shape 3"/>
          <p:cNvSpPr/>
          <p:nvPr/>
        </p:nvSpPr>
        <p:spPr>
          <a:xfrm>
            <a:off x="0" y="4910328"/>
            <a:ext cx="9144000" cy="233172"/>
          </a:xfrm>
          <a:prstGeom prst="rect">
            <a:avLst/>
          </a:prstGeom>
          <a:solidFill>
            <a:srgbClr val="0D1F3C"/>
          </a:solidFill>
          <a:ln w="12700">
            <a:solidFill>
              <a:srgbClr val="0D1F3C"/>
            </a:solidFill>
            <a:prstDash val="solid"/>
          </a:ln>
        </p:spPr>
      </p:sp>
      <p:sp>
        <p:nvSpPr>
          <p:cNvPr id="6" name="Text 4"/>
          <p:cNvSpPr/>
          <p:nvPr/>
        </p:nvSpPr>
        <p:spPr>
          <a:xfrm>
            <a:off x="320040" y="4910328"/>
            <a:ext cx="7863840" cy="233172"/>
          </a:xfrm>
          <a:prstGeom prst="rect">
            <a:avLst/>
          </a:prstGeom>
          <a:noFill/>
          <a:ln/>
        </p:spPr>
        <p:txBody>
          <a:bodyPr wrap="square" lIns="0" tIns="0" rIns="0" bIns="0"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AI in Healthcare &amp; Life Sciences  |  MIT AI Executive Academy  |  Capstone 2026  |  CONFIDENTIAL</a:t>
            </a:r>
            <a:endParaRPr lang="en-US" sz="800" dirty="0"/>
          </a:p>
        </p:txBody>
      </p:sp>
      <p:sp>
        <p:nvSpPr>
          <p:cNvPr id="7" name="Text 5"/>
          <p:cNvSpPr/>
          <p:nvPr/>
        </p:nvSpPr>
        <p:spPr>
          <a:xfrm>
            <a:off x="8412480" y="4910328"/>
            <a:ext cx="594360" cy="233172"/>
          </a:xfrm>
          <a:prstGeom prst="rect">
            <a:avLst/>
          </a:prstGeom>
          <a:noFill/>
          <a:ln/>
        </p:spPr>
        <p:txBody>
          <a:bodyPr wrap="square" lIns="0" tIns="0" rIns="0" bIns="0" rtlCol="0" anchor="ctr"/>
          <a:lstStyle/>
          <a:p>
            <a:pPr algn="r" indent="0" marL="0">
              <a:buNone/>
            </a:pPr>
            <a:r>
              <a:rPr lang="en-US" sz="800" dirty="0">
                <a:solidFill>
                  <a:srgbClr val="FFFFFF"/>
                </a:solidFill>
                <a:latin typeface="Calibri" pitchFamily="34" charset="0"/>
                <a:ea typeface="Calibri" pitchFamily="34" charset="-122"/>
                <a:cs typeface="Calibri" pitchFamily="34" charset="-120"/>
              </a:rPr>
              <a:t>6 / 11</a:t>
            </a:r>
            <a:endParaRPr lang="en-US" sz="800" dirty="0"/>
          </a:p>
        </p:txBody>
      </p:sp>
      <p:sp>
        <p:nvSpPr>
          <p:cNvPr id="8" name="Text 6"/>
          <p:cNvSpPr/>
          <p:nvPr/>
        </p:nvSpPr>
        <p:spPr>
          <a:xfrm>
            <a:off x="320040" y="621792"/>
            <a:ext cx="8503920" cy="457200"/>
          </a:xfrm>
          <a:prstGeom prst="rect">
            <a:avLst/>
          </a:prstGeom>
          <a:noFill/>
          <a:ln/>
        </p:spPr>
        <p:txBody>
          <a:bodyPr wrap="square" lIns="0" tIns="0" rIns="0" bIns="0" rtlCol="0" anchor="ctr"/>
          <a:lstStyle/>
          <a:p>
            <a:pPr algn="l" indent="0" marL="0">
              <a:buNone/>
            </a:pPr>
            <a:r>
              <a:rPr lang="en-US" sz="2400" b="1" dirty="0">
                <a:solidFill>
                  <a:srgbClr val="0D1F3C"/>
                </a:solidFill>
                <a:latin typeface="Calibri" pitchFamily="34" charset="0"/>
                <a:ea typeface="Calibri" pitchFamily="34" charset="-122"/>
                <a:cs typeface="Calibri" pitchFamily="34" charset="-120"/>
              </a:rPr>
              <a:t>Not Everyone Wins — Some Vulnerable Players Don't Know It Yet</a:t>
            </a:r>
            <a:endParaRPr lang="en-US" sz="2400" dirty="0"/>
          </a:p>
        </p:txBody>
      </p:sp>
      <p:sp>
        <p:nvSpPr>
          <p:cNvPr id="9" name="Shape 7"/>
          <p:cNvSpPr/>
          <p:nvPr/>
        </p:nvSpPr>
        <p:spPr>
          <a:xfrm>
            <a:off x="320040" y="1170432"/>
            <a:ext cx="4187952" cy="274320"/>
          </a:xfrm>
          <a:prstGeom prst="rect">
            <a:avLst/>
          </a:prstGeom>
          <a:solidFill>
            <a:srgbClr val="0D1F3C"/>
          </a:solidFill>
          <a:ln w="12700">
            <a:solidFill>
              <a:srgbClr val="0D1F3C"/>
            </a:solidFill>
            <a:prstDash val="solid"/>
          </a:ln>
        </p:spPr>
      </p:sp>
      <p:sp>
        <p:nvSpPr>
          <p:cNvPr id="10" name="Text 8"/>
          <p:cNvSpPr/>
          <p:nvPr/>
        </p:nvSpPr>
        <p:spPr>
          <a:xfrm>
            <a:off x="320040" y="1170432"/>
            <a:ext cx="418795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BUSINESS MODELS UNDER PRESSURE</a:t>
            </a:r>
            <a:endParaRPr lang="en-US" sz="1000" dirty="0"/>
          </a:p>
        </p:txBody>
      </p:sp>
      <p:sp>
        <p:nvSpPr>
          <p:cNvPr id="11" name="Shape 9"/>
          <p:cNvSpPr/>
          <p:nvPr/>
        </p:nvSpPr>
        <p:spPr>
          <a:xfrm>
            <a:off x="320040" y="1517904"/>
            <a:ext cx="4187952" cy="539496"/>
          </a:xfrm>
          <a:prstGeom prst="rect">
            <a:avLst/>
          </a:prstGeom>
          <a:solidFill>
            <a:srgbClr val="FFFFFF"/>
          </a:solidFill>
          <a:ln w="12700">
            <a:solidFill>
              <a:srgbClr val="CED4DA"/>
            </a:solidFill>
            <a:prstDash val="solid"/>
          </a:ln>
        </p:spPr>
      </p:sp>
      <p:sp>
        <p:nvSpPr>
          <p:cNvPr id="12" name="Shape 10"/>
          <p:cNvSpPr/>
          <p:nvPr/>
        </p:nvSpPr>
        <p:spPr>
          <a:xfrm>
            <a:off x="320040" y="1517904"/>
            <a:ext cx="54864" cy="539496"/>
          </a:xfrm>
          <a:prstGeom prst="rect">
            <a:avLst/>
          </a:prstGeom>
          <a:solidFill>
            <a:srgbClr val="E03131"/>
          </a:solidFill>
          <a:ln w="12700">
            <a:solidFill>
              <a:srgbClr val="E03131"/>
            </a:solidFill>
            <a:prstDash val="solid"/>
          </a:ln>
        </p:spPr>
      </p:sp>
      <p:sp>
        <p:nvSpPr>
          <p:cNvPr id="13" name="Text 11"/>
          <p:cNvSpPr/>
          <p:nvPr/>
        </p:nvSpPr>
        <p:spPr>
          <a:xfrm>
            <a:off x="438912" y="1554480"/>
            <a:ext cx="2834640" cy="182880"/>
          </a:xfrm>
          <a:prstGeom prst="rect">
            <a:avLst/>
          </a:prstGeom>
          <a:noFill/>
          <a:ln/>
        </p:spPr>
        <p:txBody>
          <a:bodyPr wrap="square" lIns="0" tIns="0" rIns="0" bIns="0" rtlCol="0" anchor="ctr"/>
          <a:lstStyle/>
          <a:p>
            <a:pPr indent="0" marL="0">
              <a:buNone/>
            </a:pPr>
            <a:r>
              <a:rPr lang="en-US" sz="1000" b="1" dirty="0">
                <a:solidFill>
                  <a:srgbClr val="0D1F3C"/>
                </a:solidFill>
                <a:latin typeface="Calibri" pitchFamily="34" charset="0"/>
                <a:ea typeface="Calibri" pitchFamily="34" charset="-122"/>
                <a:cs typeface="Calibri" pitchFamily="34" charset="-120"/>
              </a:rPr>
              <a:t>High-Volume Diagnostic Reads</a:t>
            </a:r>
            <a:endParaRPr lang="en-US" sz="1000" dirty="0"/>
          </a:p>
        </p:txBody>
      </p:sp>
      <p:sp>
        <p:nvSpPr>
          <p:cNvPr id="14" name="Shape 12"/>
          <p:cNvSpPr/>
          <p:nvPr/>
        </p:nvSpPr>
        <p:spPr>
          <a:xfrm>
            <a:off x="3310128" y="1572768"/>
            <a:ext cx="566928" cy="155448"/>
          </a:xfrm>
          <a:prstGeom prst="rect">
            <a:avLst/>
          </a:prstGeom>
          <a:solidFill>
            <a:srgbClr val="E03131"/>
          </a:solidFill>
          <a:ln w="12700">
            <a:solidFill>
              <a:srgbClr val="E03131"/>
            </a:solidFill>
            <a:prstDash val="solid"/>
          </a:ln>
        </p:spPr>
      </p:sp>
      <p:sp>
        <p:nvSpPr>
          <p:cNvPr id="15" name="Text 13"/>
          <p:cNvSpPr/>
          <p:nvPr/>
        </p:nvSpPr>
        <p:spPr>
          <a:xfrm>
            <a:off x="3310128" y="1572768"/>
            <a:ext cx="566928"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HIGH</a:t>
            </a:r>
            <a:endParaRPr lang="en-US" sz="800" dirty="0"/>
          </a:p>
        </p:txBody>
      </p:sp>
      <p:sp>
        <p:nvSpPr>
          <p:cNvPr id="16" name="Text 14"/>
          <p:cNvSpPr/>
          <p:nvPr/>
        </p:nvSpPr>
        <p:spPr>
          <a:xfrm>
            <a:off x="438912" y="1755648"/>
            <a:ext cx="3977640" cy="256032"/>
          </a:xfrm>
          <a:prstGeom prst="rect">
            <a:avLst/>
          </a:prstGeom>
          <a:noFill/>
          <a:ln/>
        </p:spPr>
        <p:txBody>
          <a:bodyPr wrap="square" lIns="0" tIns="0" rIns="0" bIns="0" rtlCol="0" anchor="ctr"/>
          <a:lstStyle/>
          <a:p>
            <a:pPr indent="0" marL="0">
              <a:buNone/>
            </a:pPr>
            <a:r>
              <a:rPr lang="en-US" sz="850" dirty="0">
                <a:solidFill>
                  <a:srgbClr val="6C757D"/>
                </a:solidFill>
                <a:latin typeface="Calibri" pitchFamily="34" charset="0"/>
                <a:ea typeface="Calibri" pitchFamily="34" charset="-122"/>
                <a:cs typeface="Calibri" pitchFamily="34" charset="-120"/>
              </a:rPr>
              <a:t>AI compresses interpretation time &amp; reduces the premium on volume throughput that radiology/pathology staffing models depend on.</a:t>
            </a:r>
            <a:endParaRPr lang="en-US" sz="850" dirty="0"/>
          </a:p>
        </p:txBody>
      </p:sp>
      <p:sp>
        <p:nvSpPr>
          <p:cNvPr id="17" name="Shape 15"/>
          <p:cNvSpPr/>
          <p:nvPr/>
        </p:nvSpPr>
        <p:spPr>
          <a:xfrm>
            <a:off x="320040" y="2112264"/>
            <a:ext cx="4187952" cy="539496"/>
          </a:xfrm>
          <a:prstGeom prst="rect">
            <a:avLst/>
          </a:prstGeom>
          <a:solidFill>
            <a:srgbClr val="EEF2F7"/>
          </a:solidFill>
          <a:ln w="12700">
            <a:solidFill>
              <a:srgbClr val="CED4DA"/>
            </a:solidFill>
            <a:prstDash val="solid"/>
          </a:ln>
        </p:spPr>
      </p:sp>
      <p:sp>
        <p:nvSpPr>
          <p:cNvPr id="18" name="Shape 16"/>
          <p:cNvSpPr/>
          <p:nvPr/>
        </p:nvSpPr>
        <p:spPr>
          <a:xfrm>
            <a:off x="320040" y="2112264"/>
            <a:ext cx="54864" cy="539496"/>
          </a:xfrm>
          <a:prstGeom prst="rect">
            <a:avLst/>
          </a:prstGeom>
          <a:solidFill>
            <a:srgbClr val="E03131"/>
          </a:solidFill>
          <a:ln w="12700">
            <a:solidFill>
              <a:srgbClr val="E03131"/>
            </a:solidFill>
            <a:prstDash val="solid"/>
          </a:ln>
        </p:spPr>
      </p:sp>
      <p:sp>
        <p:nvSpPr>
          <p:cNvPr id="19" name="Text 17"/>
          <p:cNvSpPr/>
          <p:nvPr/>
        </p:nvSpPr>
        <p:spPr>
          <a:xfrm>
            <a:off x="438912" y="2148840"/>
            <a:ext cx="2834640" cy="182880"/>
          </a:xfrm>
          <a:prstGeom prst="rect">
            <a:avLst/>
          </a:prstGeom>
          <a:noFill/>
          <a:ln/>
        </p:spPr>
        <p:txBody>
          <a:bodyPr wrap="square" lIns="0" tIns="0" rIns="0" bIns="0" rtlCol="0" anchor="ctr"/>
          <a:lstStyle/>
          <a:p>
            <a:pPr indent="0" marL="0">
              <a:buNone/>
            </a:pPr>
            <a:r>
              <a:rPr lang="en-US" sz="1000" b="1" dirty="0">
                <a:solidFill>
                  <a:srgbClr val="0D1F3C"/>
                </a:solidFill>
                <a:latin typeface="Calibri" pitchFamily="34" charset="0"/>
                <a:ea typeface="Calibri" pitchFamily="34" charset="-122"/>
                <a:cs typeface="Calibri" pitchFamily="34" charset="-120"/>
              </a:rPr>
              <a:t>Traditional CROs</a:t>
            </a:r>
            <a:endParaRPr lang="en-US" sz="1000" dirty="0"/>
          </a:p>
        </p:txBody>
      </p:sp>
      <p:sp>
        <p:nvSpPr>
          <p:cNvPr id="20" name="Shape 18"/>
          <p:cNvSpPr/>
          <p:nvPr/>
        </p:nvSpPr>
        <p:spPr>
          <a:xfrm>
            <a:off x="3310128" y="2167128"/>
            <a:ext cx="566928" cy="155448"/>
          </a:xfrm>
          <a:prstGeom prst="rect">
            <a:avLst/>
          </a:prstGeom>
          <a:solidFill>
            <a:srgbClr val="E03131"/>
          </a:solidFill>
          <a:ln w="12700">
            <a:solidFill>
              <a:srgbClr val="E03131"/>
            </a:solidFill>
            <a:prstDash val="solid"/>
          </a:ln>
        </p:spPr>
      </p:sp>
      <p:sp>
        <p:nvSpPr>
          <p:cNvPr id="21" name="Text 19"/>
          <p:cNvSpPr/>
          <p:nvPr/>
        </p:nvSpPr>
        <p:spPr>
          <a:xfrm>
            <a:off x="3310128" y="2167128"/>
            <a:ext cx="566928"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HIGH</a:t>
            </a:r>
            <a:endParaRPr lang="en-US" sz="800" dirty="0"/>
          </a:p>
        </p:txBody>
      </p:sp>
      <p:sp>
        <p:nvSpPr>
          <p:cNvPr id="22" name="Text 20"/>
          <p:cNvSpPr/>
          <p:nvPr/>
        </p:nvSpPr>
        <p:spPr>
          <a:xfrm>
            <a:off x="438912" y="2350008"/>
            <a:ext cx="3977640" cy="256032"/>
          </a:xfrm>
          <a:prstGeom prst="rect">
            <a:avLst/>
          </a:prstGeom>
          <a:noFill/>
          <a:ln/>
        </p:spPr>
        <p:txBody>
          <a:bodyPr wrap="square" lIns="0" tIns="0" rIns="0" bIns="0" rtlCol="0" anchor="ctr"/>
          <a:lstStyle/>
          <a:p>
            <a:pPr indent="0" marL="0">
              <a:buNone/>
            </a:pPr>
            <a:r>
              <a:rPr lang="en-US" sz="850" dirty="0">
                <a:solidFill>
                  <a:srgbClr val="6C757D"/>
                </a:solidFill>
                <a:latin typeface="Calibri" pitchFamily="34" charset="0"/>
                <a:ea typeface="Calibri" pitchFamily="34" charset="-122"/>
                <a:cs typeface="Calibri" pitchFamily="34" charset="-120"/>
              </a:rPr>
              <a:t>AI-native pharma building in-house trial design &amp; site selection, reducing dependence on large contract research organizations.</a:t>
            </a:r>
            <a:endParaRPr lang="en-US" sz="850" dirty="0"/>
          </a:p>
        </p:txBody>
      </p:sp>
      <p:sp>
        <p:nvSpPr>
          <p:cNvPr id="23" name="Shape 21"/>
          <p:cNvSpPr/>
          <p:nvPr/>
        </p:nvSpPr>
        <p:spPr>
          <a:xfrm>
            <a:off x="320040" y="2706624"/>
            <a:ext cx="4187952" cy="539496"/>
          </a:xfrm>
          <a:prstGeom prst="rect">
            <a:avLst/>
          </a:prstGeom>
          <a:solidFill>
            <a:srgbClr val="FFFFFF"/>
          </a:solidFill>
          <a:ln w="12700">
            <a:solidFill>
              <a:srgbClr val="CED4DA"/>
            </a:solidFill>
            <a:prstDash val="solid"/>
          </a:ln>
        </p:spPr>
      </p:sp>
      <p:sp>
        <p:nvSpPr>
          <p:cNvPr id="24" name="Shape 22"/>
          <p:cNvSpPr/>
          <p:nvPr/>
        </p:nvSpPr>
        <p:spPr>
          <a:xfrm>
            <a:off x="320040" y="2706624"/>
            <a:ext cx="54864" cy="539496"/>
          </a:xfrm>
          <a:prstGeom prst="rect">
            <a:avLst/>
          </a:prstGeom>
          <a:solidFill>
            <a:srgbClr val="E03131"/>
          </a:solidFill>
          <a:ln w="12700">
            <a:solidFill>
              <a:srgbClr val="E03131"/>
            </a:solidFill>
            <a:prstDash val="solid"/>
          </a:ln>
        </p:spPr>
      </p:sp>
      <p:sp>
        <p:nvSpPr>
          <p:cNvPr id="25" name="Text 23"/>
          <p:cNvSpPr/>
          <p:nvPr/>
        </p:nvSpPr>
        <p:spPr>
          <a:xfrm>
            <a:off x="438912" y="2743200"/>
            <a:ext cx="2834640" cy="182880"/>
          </a:xfrm>
          <a:prstGeom prst="rect">
            <a:avLst/>
          </a:prstGeom>
          <a:noFill/>
          <a:ln/>
        </p:spPr>
        <p:txBody>
          <a:bodyPr wrap="square" lIns="0" tIns="0" rIns="0" bIns="0" rtlCol="0" anchor="ctr"/>
          <a:lstStyle/>
          <a:p>
            <a:pPr indent="0" marL="0">
              <a:buNone/>
            </a:pPr>
            <a:r>
              <a:rPr lang="en-US" sz="1000" b="1" dirty="0">
                <a:solidFill>
                  <a:srgbClr val="0D1F3C"/>
                </a:solidFill>
                <a:latin typeface="Calibri" pitchFamily="34" charset="0"/>
                <a:ea typeface="Calibri" pitchFamily="34" charset="-122"/>
                <a:cs typeface="Calibri" pitchFamily="34" charset="-120"/>
              </a:rPr>
              <a:t>Legacy EHR Vendors</a:t>
            </a:r>
            <a:endParaRPr lang="en-US" sz="1000" dirty="0"/>
          </a:p>
        </p:txBody>
      </p:sp>
      <p:sp>
        <p:nvSpPr>
          <p:cNvPr id="26" name="Shape 24"/>
          <p:cNvSpPr/>
          <p:nvPr/>
        </p:nvSpPr>
        <p:spPr>
          <a:xfrm>
            <a:off x="3310128" y="2761488"/>
            <a:ext cx="566928" cy="155448"/>
          </a:xfrm>
          <a:prstGeom prst="rect">
            <a:avLst/>
          </a:prstGeom>
          <a:solidFill>
            <a:srgbClr val="E03131"/>
          </a:solidFill>
          <a:ln w="12700">
            <a:solidFill>
              <a:srgbClr val="E03131"/>
            </a:solidFill>
            <a:prstDash val="solid"/>
          </a:ln>
        </p:spPr>
      </p:sp>
      <p:sp>
        <p:nvSpPr>
          <p:cNvPr id="27" name="Text 25"/>
          <p:cNvSpPr/>
          <p:nvPr/>
        </p:nvSpPr>
        <p:spPr>
          <a:xfrm>
            <a:off x="3310128" y="2761488"/>
            <a:ext cx="566928"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HIGH</a:t>
            </a:r>
            <a:endParaRPr lang="en-US" sz="800" dirty="0"/>
          </a:p>
        </p:txBody>
      </p:sp>
      <p:sp>
        <p:nvSpPr>
          <p:cNvPr id="28" name="Text 26"/>
          <p:cNvSpPr/>
          <p:nvPr/>
        </p:nvSpPr>
        <p:spPr>
          <a:xfrm>
            <a:off x="438912" y="2944368"/>
            <a:ext cx="3977640" cy="256032"/>
          </a:xfrm>
          <a:prstGeom prst="rect">
            <a:avLst/>
          </a:prstGeom>
          <a:noFill/>
          <a:ln/>
        </p:spPr>
        <p:txBody>
          <a:bodyPr wrap="square" lIns="0" tIns="0" rIns="0" bIns="0" rtlCol="0" anchor="ctr"/>
          <a:lstStyle/>
          <a:p>
            <a:pPr indent="0" marL="0">
              <a:buNone/>
            </a:pPr>
            <a:r>
              <a:rPr lang="en-US" sz="850" dirty="0">
                <a:solidFill>
                  <a:srgbClr val="6C757D"/>
                </a:solidFill>
                <a:latin typeface="Calibri" pitchFamily="34" charset="0"/>
                <a:ea typeface="Calibri" pitchFamily="34" charset="-122"/>
                <a:cs typeface="Calibri" pitchFamily="34" charset="-120"/>
              </a:rPr>
              <a:t>Facing module cannibalization from AI documentation layers that capture clinical workflow value atop existing platforms.</a:t>
            </a:r>
            <a:endParaRPr lang="en-US" sz="850" dirty="0"/>
          </a:p>
        </p:txBody>
      </p:sp>
      <p:sp>
        <p:nvSpPr>
          <p:cNvPr id="29" name="Shape 27"/>
          <p:cNvSpPr/>
          <p:nvPr/>
        </p:nvSpPr>
        <p:spPr>
          <a:xfrm>
            <a:off x="320040" y="3300984"/>
            <a:ext cx="4187952" cy="539496"/>
          </a:xfrm>
          <a:prstGeom prst="rect">
            <a:avLst/>
          </a:prstGeom>
          <a:solidFill>
            <a:srgbClr val="EEF2F7"/>
          </a:solidFill>
          <a:ln w="12700">
            <a:solidFill>
              <a:srgbClr val="CED4DA"/>
            </a:solidFill>
            <a:prstDash val="solid"/>
          </a:ln>
        </p:spPr>
      </p:sp>
      <p:sp>
        <p:nvSpPr>
          <p:cNvPr id="30" name="Shape 28"/>
          <p:cNvSpPr/>
          <p:nvPr/>
        </p:nvSpPr>
        <p:spPr>
          <a:xfrm>
            <a:off x="320040" y="3300984"/>
            <a:ext cx="54864" cy="539496"/>
          </a:xfrm>
          <a:prstGeom prst="rect">
            <a:avLst/>
          </a:prstGeom>
          <a:solidFill>
            <a:srgbClr val="F59F00"/>
          </a:solidFill>
          <a:ln w="12700">
            <a:solidFill>
              <a:srgbClr val="F59F00"/>
            </a:solidFill>
            <a:prstDash val="solid"/>
          </a:ln>
        </p:spPr>
      </p:sp>
      <p:sp>
        <p:nvSpPr>
          <p:cNvPr id="31" name="Text 29"/>
          <p:cNvSpPr/>
          <p:nvPr/>
        </p:nvSpPr>
        <p:spPr>
          <a:xfrm>
            <a:off x="438912" y="3337560"/>
            <a:ext cx="2834640" cy="182880"/>
          </a:xfrm>
          <a:prstGeom prst="rect">
            <a:avLst/>
          </a:prstGeom>
          <a:noFill/>
          <a:ln/>
        </p:spPr>
        <p:txBody>
          <a:bodyPr wrap="square" lIns="0" tIns="0" rIns="0" bIns="0" rtlCol="0" anchor="ctr"/>
          <a:lstStyle/>
          <a:p>
            <a:pPr indent="0" marL="0">
              <a:buNone/>
            </a:pPr>
            <a:r>
              <a:rPr lang="en-US" sz="1000" b="1" dirty="0">
                <a:solidFill>
                  <a:srgbClr val="0D1F3C"/>
                </a:solidFill>
                <a:latin typeface="Calibri" pitchFamily="34" charset="0"/>
                <a:ea typeface="Calibri" pitchFamily="34" charset="-122"/>
                <a:cs typeface="Calibri" pitchFamily="34" charset="-120"/>
              </a:rPr>
              <a:t>Fee-for-Service Payor Models</a:t>
            </a:r>
            <a:endParaRPr lang="en-US" sz="1000" dirty="0"/>
          </a:p>
        </p:txBody>
      </p:sp>
      <p:sp>
        <p:nvSpPr>
          <p:cNvPr id="32" name="Shape 30"/>
          <p:cNvSpPr/>
          <p:nvPr/>
        </p:nvSpPr>
        <p:spPr>
          <a:xfrm>
            <a:off x="3310128" y="3355848"/>
            <a:ext cx="566928" cy="155448"/>
          </a:xfrm>
          <a:prstGeom prst="rect">
            <a:avLst/>
          </a:prstGeom>
          <a:solidFill>
            <a:srgbClr val="F59F00"/>
          </a:solidFill>
          <a:ln w="12700">
            <a:solidFill>
              <a:srgbClr val="F59F00"/>
            </a:solidFill>
            <a:prstDash val="solid"/>
          </a:ln>
        </p:spPr>
      </p:sp>
      <p:sp>
        <p:nvSpPr>
          <p:cNvPr id="33" name="Text 31"/>
          <p:cNvSpPr/>
          <p:nvPr/>
        </p:nvSpPr>
        <p:spPr>
          <a:xfrm>
            <a:off x="3310128" y="3355848"/>
            <a:ext cx="566928"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MED</a:t>
            </a:r>
            <a:endParaRPr lang="en-US" sz="800" dirty="0"/>
          </a:p>
        </p:txBody>
      </p:sp>
      <p:sp>
        <p:nvSpPr>
          <p:cNvPr id="34" name="Text 32"/>
          <p:cNvSpPr/>
          <p:nvPr/>
        </p:nvSpPr>
        <p:spPr>
          <a:xfrm>
            <a:off x="438912" y="3538728"/>
            <a:ext cx="3977640" cy="256032"/>
          </a:xfrm>
          <a:prstGeom prst="rect">
            <a:avLst/>
          </a:prstGeom>
          <a:noFill/>
          <a:ln/>
        </p:spPr>
        <p:txBody>
          <a:bodyPr wrap="square" lIns="0" tIns="0" rIns="0" bIns="0" rtlCol="0" anchor="ctr"/>
          <a:lstStyle/>
          <a:p>
            <a:pPr indent="0" marL="0">
              <a:buNone/>
            </a:pPr>
            <a:r>
              <a:rPr lang="en-US" sz="850" dirty="0">
                <a:solidFill>
                  <a:srgbClr val="6C757D"/>
                </a:solidFill>
                <a:latin typeface="Calibri" pitchFamily="34" charset="0"/>
                <a:ea typeface="Calibri" pitchFamily="34" charset="-122"/>
                <a:cs typeface="Calibri" pitchFamily="34" charset="-120"/>
              </a:rPr>
              <a:t>AI-enabled predictive risk scoring makes outcomes-based models viable — threatening utilization-management revenue centers.</a:t>
            </a:r>
            <a:endParaRPr lang="en-US" sz="850" dirty="0"/>
          </a:p>
        </p:txBody>
      </p:sp>
      <p:sp>
        <p:nvSpPr>
          <p:cNvPr id="35" name="Shape 33"/>
          <p:cNvSpPr/>
          <p:nvPr/>
        </p:nvSpPr>
        <p:spPr>
          <a:xfrm>
            <a:off x="320040" y="3895344"/>
            <a:ext cx="4187952" cy="539496"/>
          </a:xfrm>
          <a:prstGeom prst="rect">
            <a:avLst/>
          </a:prstGeom>
          <a:solidFill>
            <a:srgbClr val="FFFFFF"/>
          </a:solidFill>
          <a:ln w="12700">
            <a:solidFill>
              <a:srgbClr val="CED4DA"/>
            </a:solidFill>
            <a:prstDash val="solid"/>
          </a:ln>
        </p:spPr>
      </p:sp>
      <p:sp>
        <p:nvSpPr>
          <p:cNvPr id="36" name="Shape 34"/>
          <p:cNvSpPr/>
          <p:nvPr/>
        </p:nvSpPr>
        <p:spPr>
          <a:xfrm>
            <a:off x="320040" y="3895344"/>
            <a:ext cx="54864" cy="539496"/>
          </a:xfrm>
          <a:prstGeom prst="rect">
            <a:avLst/>
          </a:prstGeom>
          <a:solidFill>
            <a:srgbClr val="E03131"/>
          </a:solidFill>
          <a:ln w="12700">
            <a:solidFill>
              <a:srgbClr val="E03131"/>
            </a:solidFill>
            <a:prstDash val="solid"/>
          </a:ln>
        </p:spPr>
      </p:sp>
      <p:sp>
        <p:nvSpPr>
          <p:cNvPr id="37" name="Text 35"/>
          <p:cNvSpPr/>
          <p:nvPr/>
        </p:nvSpPr>
        <p:spPr>
          <a:xfrm>
            <a:off x="438912" y="3931920"/>
            <a:ext cx="2834640" cy="182880"/>
          </a:xfrm>
          <a:prstGeom prst="rect">
            <a:avLst/>
          </a:prstGeom>
          <a:noFill/>
          <a:ln/>
        </p:spPr>
        <p:txBody>
          <a:bodyPr wrap="square" lIns="0" tIns="0" rIns="0" bIns="0" rtlCol="0" anchor="ctr"/>
          <a:lstStyle/>
          <a:p>
            <a:pPr indent="0" marL="0">
              <a:buNone/>
            </a:pPr>
            <a:r>
              <a:rPr lang="en-US" sz="1000" b="1" dirty="0">
                <a:solidFill>
                  <a:srgbClr val="0D1F3C"/>
                </a:solidFill>
                <a:latin typeface="Calibri" pitchFamily="34" charset="0"/>
                <a:ea typeface="Calibri" pitchFamily="34" charset="-122"/>
                <a:cs typeface="Calibri" pitchFamily="34" charset="-120"/>
              </a:rPr>
              <a:t>Health Insurance (Structural)</a:t>
            </a:r>
            <a:endParaRPr lang="en-US" sz="1000" dirty="0"/>
          </a:p>
        </p:txBody>
      </p:sp>
      <p:sp>
        <p:nvSpPr>
          <p:cNvPr id="38" name="Shape 36"/>
          <p:cNvSpPr/>
          <p:nvPr/>
        </p:nvSpPr>
        <p:spPr>
          <a:xfrm>
            <a:off x="3310128" y="3950208"/>
            <a:ext cx="566928" cy="155448"/>
          </a:xfrm>
          <a:prstGeom prst="rect">
            <a:avLst/>
          </a:prstGeom>
          <a:solidFill>
            <a:srgbClr val="E03131"/>
          </a:solidFill>
          <a:ln w="12700">
            <a:solidFill>
              <a:srgbClr val="E03131"/>
            </a:solidFill>
            <a:prstDash val="solid"/>
          </a:ln>
        </p:spPr>
      </p:sp>
      <p:sp>
        <p:nvSpPr>
          <p:cNvPr id="39" name="Text 37"/>
          <p:cNvSpPr/>
          <p:nvPr/>
        </p:nvSpPr>
        <p:spPr>
          <a:xfrm>
            <a:off x="3310128" y="3950208"/>
            <a:ext cx="566928"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HIGH</a:t>
            </a:r>
            <a:endParaRPr lang="en-US" sz="800" dirty="0"/>
          </a:p>
        </p:txBody>
      </p:sp>
      <p:sp>
        <p:nvSpPr>
          <p:cNvPr id="40" name="Text 38"/>
          <p:cNvSpPr/>
          <p:nvPr/>
        </p:nvSpPr>
        <p:spPr>
          <a:xfrm>
            <a:off x="438912" y="4133088"/>
            <a:ext cx="3977640" cy="256032"/>
          </a:xfrm>
          <a:prstGeom prst="rect">
            <a:avLst/>
          </a:prstGeom>
          <a:noFill/>
          <a:ln/>
        </p:spPr>
        <p:txBody>
          <a:bodyPr wrap="square" lIns="0" tIns="0" rIns="0" bIns="0" rtlCol="0" anchor="ctr"/>
          <a:lstStyle/>
          <a:p>
            <a:pPr indent="0" marL="0">
              <a:buNone/>
            </a:pPr>
            <a:r>
              <a:rPr lang="en-US" sz="850" dirty="0">
                <a:solidFill>
                  <a:srgbClr val="6C757D"/>
                </a:solidFill>
                <a:latin typeface="Calibri" pitchFamily="34" charset="0"/>
                <a:ea typeface="Calibri" pitchFamily="34" charset="-122"/>
                <a:cs typeface="Calibri" pitchFamily="34" charset="-120"/>
              </a:rPr>
              <a:t>Precision medicine breaks pooled risk models — the most existential structural threat across the entire ecosystem.</a:t>
            </a:r>
            <a:endParaRPr lang="en-US" sz="850" dirty="0"/>
          </a:p>
        </p:txBody>
      </p:sp>
      <p:sp>
        <p:nvSpPr>
          <p:cNvPr id="41" name="Shape 39"/>
          <p:cNvSpPr/>
          <p:nvPr/>
        </p:nvSpPr>
        <p:spPr>
          <a:xfrm>
            <a:off x="4681728" y="1170432"/>
            <a:ext cx="4142232" cy="274320"/>
          </a:xfrm>
          <a:prstGeom prst="rect">
            <a:avLst/>
          </a:prstGeom>
          <a:solidFill>
            <a:srgbClr val="0B7285"/>
          </a:solidFill>
          <a:ln w="12700">
            <a:solidFill>
              <a:srgbClr val="0B7285"/>
            </a:solidFill>
            <a:prstDash val="solid"/>
          </a:ln>
        </p:spPr>
      </p:sp>
      <p:sp>
        <p:nvSpPr>
          <p:cNvPr id="42" name="Text 40"/>
          <p:cNvSpPr/>
          <p:nvPr/>
        </p:nvSpPr>
        <p:spPr>
          <a:xfrm>
            <a:off x="4681728" y="1170432"/>
            <a:ext cx="414223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ROLES &amp; FUNCTIONS AT RISK</a:t>
            </a:r>
            <a:endParaRPr lang="en-US" sz="1000" dirty="0"/>
          </a:p>
        </p:txBody>
      </p:sp>
      <p:sp>
        <p:nvSpPr>
          <p:cNvPr id="43" name="Shape 41"/>
          <p:cNvSpPr/>
          <p:nvPr/>
        </p:nvSpPr>
        <p:spPr>
          <a:xfrm>
            <a:off x="4681728" y="1517904"/>
            <a:ext cx="4142232" cy="539496"/>
          </a:xfrm>
          <a:prstGeom prst="rect">
            <a:avLst/>
          </a:prstGeom>
          <a:solidFill>
            <a:srgbClr val="FFFFFF"/>
          </a:solidFill>
          <a:ln w="12700">
            <a:solidFill>
              <a:srgbClr val="CED4DA"/>
            </a:solidFill>
            <a:prstDash val="solid"/>
          </a:ln>
        </p:spPr>
      </p:sp>
      <p:sp>
        <p:nvSpPr>
          <p:cNvPr id="44" name="Shape 42"/>
          <p:cNvSpPr/>
          <p:nvPr/>
        </p:nvSpPr>
        <p:spPr>
          <a:xfrm>
            <a:off x="4681728" y="1517904"/>
            <a:ext cx="54864" cy="539496"/>
          </a:xfrm>
          <a:prstGeom prst="rect">
            <a:avLst/>
          </a:prstGeom>
          <a:solidFill>
            <a:srgbClr val="E03131"/>
          </a:solidFill>
          <a:ln w="12700">
            <a:solidFill>
              <a:srgbClr val="E03131"/>
            </a:solidFill>
            <a:prstDash val="solid"/>
          </a:ln>
        </p:spPr>
      </p:sp>
      <p:sp>
        <p:nvSpPr>
          <p:cNvPr id="45" name="Text 43"/>
          <p:cNvSpPr/>
          <p:nvPr/>
        </p:nvSpPr>
        <p:spPr>
          <a:xfrm>
            <a:off x="4800600" y="1554480"/>
            <a:ext cx="2834640" cy="182880"/>
          </a:xfrm>
          <a:prstGeom prst="rect">
            <a:avLst/>
          </a:prstGeom>
          <a:noFill/>
          <a:ln/>
        </p:spPr>
        <p:txBody>
          <a:bodyPr wrap="square" lIns="0" tIns="0" rIns="0" bIns="0" rtlCol="0" anchor="ctr"/>
          <a:lstStyle/>
          <a:p>
            <a:pPr indent="0" marL="0">
              <a:buNone/>
            </a:pPr>
            <a:r>
              <a:rPr lang="en-US" sz="1000" b="1" dirty="0">
                <a:solidFill>
                  <a:srgbClr val="0D1F3C"/>
                </a:solidFill>
                <a:latin typeface="Calibri" pitchFamily="34" charset="0"/>
                <a:ea typeface="Calibri" pitchFamily="34" charset="-122"/>
                <a:cs typeface="Calibri" pitchFamily="34" charset="-120"/>
              </a:rPr>
              <a:t>Prior Auth Reviewers</a:t>
            </a:r>
            <a:endParaRPr lang="en-US" sz="1000" dirty="0"/>
          </a:p>
        </p:txBody>
      </p:sp>
      <p:sp>
        <p:nvSpPr>
          <p:cNvPr id="46" name="Shape 44"/>
          <p:cNvSpPr/>
          <p:nvPr/>
        </p:nvSpPr>
        <p:spPr>
          <a:xfrm>
            <a:off x="7662672" y="1572768"/>
            <a:ext cx="548640" cy="155448"/>
          </a:xfrm>
          <a:prstGeom prst="rect">
            <a:avLst/>
          </a:prstGeom>
          <a:solidFill>
            <a:srgbClr val="E03131"/>
          </a:solidFill>
          <a:ln w="12700">
            <a:solidFill>
              <a:srgbClr val="E03131"/>
            </a:solidFill>
            <a:prstDash val="solid"/>
          </a:ln>
        </p:spPr>
      </p:sp>
      <p:sp>
        <p:nvSpPr>
          <p:cNvPr id="47" name="Text 45"/>
          <p:cNvSpPr/>
          <p:nvPr/>
        </p:nvSpPr>
        <p:spPr>
          <a:xfrm>
            <a:off x="7662672" y="1572768"/>
            <a:ext cx="548640"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HIGH</a:t>
            </a:r>
            <a:endParaRPr lang="en-US" sz="800" dirty="0"/>
          </a:p>
        </p:txBody>
      </p:sp>
      <p:sp>
        <p:nvSpPr>
          <p:cNvPr id="48" name="Text 46"/>
          <p:cNvSpPr/>
          <p:nvPr/>
        </p:nvSpPr>
        <p:spPr>
          <a:xfrm>
            <a:off x="4800600" y="1755648"/>
            <a:ext cx="3931920" cy="256032"/>
          </a:xfrm>
          <a:prstGeom prst="rect">
            <a:avLst/>
          </a:prstGeom>
          <a:noFill/>
          <a:ln/>
        </p:spPr>
        <p:txBody>
          <a:bodyPr wrap="square" lIns="0" tIns="0" rIns="0" bIns="0" rtlCol="0" anchor="ctr"/>
          <a:lstStyle/>
          <a:p>
            <a:pPr indent="0" marL="0">
              <a:buNone/>
            </a:pPr>
            <a:r>
              <a:rPr lang="en-US" sz="850" dirty="0">
                <a:solidFill>
                  <a:srgbClr val="6C757D"/>
                </a:solidFill>
                <a:latin typeface="Calibri" pitchFamily="34" charset="0"/>
                <a:ea typeface="Calibri" pitchFamily="34" charset="-122"/>
                <a:cs typeface="Calibri" pitchFamily="34" charset="-120"/>
              </a:rPr>
              <a:t>AI automation covering denial logic</a:t>
            </a:r>
            <a:endParaRPr lang="en-US" sz="850" dirty="0"/>
          </a:p>
        </p:txBody>
      </p:sp>
      <p:sp>
        <p:nvSpPr>
          <p:cNvPr id="49" name="Shape 47"/>
          <p:cNvSpPr/>
          <p:nvPr/>
        </p:nvSpPr>
        <p:spPr>
          <a:xfrm>
            <a:off x="4681728" y="2112264"/>
            <a:ext cx="4142232" cy="539496"/>
          </a:xfrm>
          <a:prstGeom prst="rect">
            <a:avLst/>
          </a:prstGeom>
          <a:solidFill>
            <a:srgbClr val="EEF2F7"/>
          </a:solidFill>
          <a:ln w="12700">
            <a:solidFill>
              <a:srgbClr val="CED4DA"/>
            </a:solidFill>
            <a:prstDash val="solid"/>
          </a:ln>
        </p:spPr>
      </p:sp>
      <p:sp>
        <p:nvSpPr>
          <p:cNvPr id="50" name="Shape 48"/>
          <p:cNvSpPr/>
          <p:nvPr/>
        </p:nvSpPr>
        <p:spPr>
          <a:xfrm>
            <a:off x="4681728" y="2112264"/>
            <a:ext cx="54864" cy="539496"/>
          </a:xfrm>
          <a:prstGeom prst="rect">
            <a:avLst/>
          </a:prstGeom>
          <a:solidFill>
            <a:srgbClr val="E03131"/>
          </a:solidFill>
          <a:ln w="12700">
            <a:solidFill>
              <a:srgbClr val="E03131"/>
            </a:solidFill>
            <a:prstDash val="solid"/>
          </a:ln>
        </p:spPr>
      </p:sp>
      <p:sp>
        <p:nvSpPr>
          <p:cNvPr id="51" name="Text 49"/>
          <p:cNvSpPr/>
          <p:nvPr/>
        </p:nvSpPr>
        <p:spPr>
          <a:xfrm>
            <a:off x="4800600" y="2148840"/>
            <a:ext cx="2834640" cy="182880"/>
          </a:xfrm>
          <a:prstGeom prst="rect">
            <a:avLst/>
          </a:prstGeom>
          <a:noFill/>
          <a:ln/>
        </p:spPr>
        <p:txBody>
          <a:bodyPr wrap="square" lIns="0" tIns="0" rIns="0" bIns="0" rtlCol="0" anchor="ctr"/>
          <a:lstStyle/>
          <a:p>
            <a:pPr indent="0" marL="0">
              <a:buNone/>
            </a:pPr>
            <a:r>
              <a:rPr lang="en-US" sz="1000" b="1" dirty="0">
                <a:solidFill>
                  <a:srgbClr val="0D1F3C"/>
                </a:solidFill>
                <a:latin typeface="Calibri" pitchFamily="34" charset="0"/>
                <a:ea typeface="Calibri" pitchFamily="34" charset="-122"/>
                <a:cs typeface="Calibri" pitchFamily="34" charset="-120"/>
              </a:rPr>
              <a:t>Medical Coders &amp; Billers</a:t>
            </a:r>
            <a:endParaRPr lang="en-US" sz="1000" dirty="0"/>
          </a:p>
        </p:txBody>
      </p:sp>
      <p:sp>
        <p:nvSpPr>
          <p:cNvPr id="52" name="Shape 50"/>
          <p:cNvSpPr/>
          <p:nvPr/>
        </p:nvSpPr>
        <p:spPr>
          <a:xfrm>
            <a:off x="7662672" y="2167128"/>
            <a:ext cx="548640" cy="155448"/>
          </a:xfrm>
          <a:prstGeom prst="rect">
            <a:avLst/>
          </a:prstGeom>
          <a:solidFill>
            <a:srgbClr val="E03131"/>
          </a:solidFill>
          <a:ln w="12700">
            <a:solidFill>
              <a:srgbClr val="E03131"/>
            </a:solidFill>
            <a:prstDash val="solid"/>
          </a:ln>
        </p:spPr>
      </p:sp>
      <p:sp>
        <p:nvSpPr>
          <p:cNvPr id="53" name="Text 51"/>
          <p:cNvSpPr/>
          <p:nvPr/>
        </p:nvSpPr>
        <p:spPr>
          <a:xfrm>
            <a:off x="7662672" y="2167128"/>
            <a:ext cx="548640"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HIGH</a:t>
            </a:r>
            <a:endParaRPr lang="en-US" sz="800" dirty="0"/>
          </a:p>
        </p:txBody>
      </p:sp>
      <p:sp>
        <p:nvSpPr>
          <p:cNvPr id="54" name="Text 52"/>
          <p:cNvSpPr/>
          <p:nvPr/>
        </p:nvSpPr>
        <p:spPr>
          <a:xfrm>
            <a:off x="4800600" y="2350008"/>
            <a:ext cx="3931920" cy="256032"/>
          </a:xfrm>
          <a:prstGeom prst="rect">
            <a:avLst/>
          </a:prstGeom>
          <a:noFill/>
          <a:ln/>
        </p:spPr>
        <p:txBody>
          <a:bodyPr wrap="square" lIns="0" tIns="0" rIns="0" bIns="0" rtlCol="0" anchor="ctr"/>
          <a:lstStyle/>
          <a:p>
            <a:pPr indent="0" marL="0">
              <a:buNone/>
            </a:pPr>
            <a:r>
              <a:rPr lang="en-US" sz="850" dirty="0">
                <a:solidFill>
                  <a:srgbClr val="6C757D"/>
                </a:solidFill>
                <a:latin typeface="Calibri" pitchFamily="34" charset="0"/>
                <a:ea typeface="Calibri" pitchFamily="34" charset="-122"/>
                <a:cs typeface="Calibri" pitchFamily="34" charset="-120"/>
              </a:rPr>
              <a:t>$450M automation market already deployed</a:t>
            </a:r>
            <a:endParaRPr lang="en-US" sz="850" dirty="0"/>
          </a:p>
        </p:txBody>
      </p:sp>
      <p:sp>
        <p:nvSpPr>
          <p:cNvPr id="55" name="Shape 53"/>
          <p:cNvSpPr/>
          <p:nvPr/>
        </p:nvSpPr>
        <p:spPr>
          <a:xfrm>
            <a:off x="4681728" y="2706624"/>
            <a:ext cx="4142232" cy="539496"/>
          </a:xfrm>
          <a:prstGeom prst="rect">
            <a:avLst/>
          </a:prstGeom>
          <a:solidFill>
            <a:srgbClr val="FFFFFF"/>
          </a:solidFill>
          <a:ln w="12700">
            <a:solidFill>
              <a:srgbClr val="CED4DA"/>
            </a:solidFill>
            <a:prstDash val="solid"/>
          </a:ln>
        </p:spPr>
      </p:sp>
      <p:sp>
        <p:nvSpPr>
          <p:cNvPr id="56" name="Shape 54"/>
          <p:cNvSpPr/>
          <p:nvPr/>
        </p:nvSpPr>
        <p:spPr>
          <a:xfrm>
            <a:off x="4681728" y="2706624"/>
            <a:ext cx="54864" cy="539496"/>
          </a:xfrm>
          <a:prstGeom prst="rect">
            <a:avLst/>
          </a:prstGeom>
          <a:solidFill>
            <a:srgbClr val="E03131"/>
          </a:solidFill>
          <a:ln w="12700">
            <a:solidFill>
              <a:srgbClr val="E03131"/>
            </a:solidFill>
            <a:prstDash val="solid"/>
          </a:ln>
        </p:spPr>
      </p:sp>
      <p:sp>
        <p:nvSpPr>
          <p:cNvPr id="57" name="Text 55"/>
          <p:cNvSpPr/>
          <p:nvPr/>
        </p:nvSpPr>
        <p:spPr>
          <a:xfrm>
            <a:off x="4800600" y="2743200"/>
            <a:ext cx="2834640" cy="182880"/>
          </a:xfrm>
          <a:prstGeom prst="rect">
            <a:avLst/>
          </a:prstGeom>
          <a:noFill/>
          <a:ln/>
        </p:spPr>
        <p:txBody>
          <a:bodyPr wrap="square" lIns="0" tIns="0" rIns="0" bIns="0" rtlCol="0" anchor="ctr"/>
          <a:lstStyle/>
          <a:p>
            <a:pPr indent="0" marL="0">
              <a:buNone/>
            </a:pPr>
            <a:r>
              <a:rPr lang="en-US" sz="1000" b="1" dirty="0">
                <a:solidFill>
                  <a:srgbClr val="0D1F3C"/>
                </a:solidFill>
                <a:latin typeface="Calibri" pitchFamily="34" charset="0"/>
                <a:ea typeface="Calibri" pitchFamily="34" charset="-122"/>
                <a:cs typeface="Calibri" pitchFamily="34" charset="-120"/>
              </a:rPr>
              <a:t>Admin Call Centers</a:t>
            </a:r>
            <a:endParaRPr lang="en-US" sz="1000" dirty="0"/>
          </a:p>
        </p:txBody>
      </p:sp>
      <p:sp>
        <p:nvSpPr>
          <p:cNvPr id="58" name="Shape 56"/>
          <p:cNvSpPr/>
          <p:nvPr/>
        </p:nvSpPr>
        <p:spPr>
          <a:xfrm>
            <a:off x="7662672" y="2761488"/>
            <a:ext cx="548640" cy="155448"/>
          </a:xfrm>
          <a:prstGeom prst="rect">
            <a:avLst/>
          </a:prstGeom>
          <a:solidFill>
            <a:srgbClr val="E03131"/>
          </a:solidFill>
          <a:ln w="12700">
            <a:solidFill>
              <a:srgbClr val="E03131"/>
            </a:solidFill>
            <a:prstDash val="solid"/>
          </a:ln>
        </p:spPr>
      </p:sp>
      <p:sp>
        <p:nvSpPr>
          <p:cNvPr id="59" name="Text 57"/>
          <p:cNvSpPr/>
          <p:nvPr/>
        </p:nvSpPr>
        <p:spPr>
          <a:xfrm>
            <a:off x="7662672" y="2761488"/>
            <a:ext cx="548640"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HIGH</a:t>
            </a:r>
            <a:endParaRPr lang="en-US" sz="800" dirty="0"/>
          </a:p>
        </p:txBody>
      </p:sp>
      <p:sp>
        <p:nvSpPr>
          <p:cNvPr id="60" name="Text 58"/>
          <p:cNvSpPr/>
          <p:nvPr/>
        </p:nvSpPr>
        <p:spPr>
          <a:xfrm>
            <a:off x="4800600" y="2944368"/>
            <a:ext cx="3931920" cy="256032"/>
          </a:xfrm>
          <a:prstGeom prst="rect">
            <a:avLst/>
          </a:prstGeom>
          <a:noFill/>
          <a:ln/>
        </p:spPr>
        <p:txBody>
          <a:bodyPr wrap="square" lIns="0" tIns="0" rIns="0" bIns="0" rtlCol="0" anchor="ctr"/>
          <a:lstStyle/>
          <a:p>
            <a:pPr indent="0" marL="0">
              <a:buNone/>
            </a:pPr>
            <a:r>
              <a:rPr lang="en-US" sz="850" dirty="0">
                <a:solidFill>
                  <a:srgbClr val="6C757D"/>
                </a:solidFill>
                <a:latin typeface="Calibri" pitchFamily="34" charset="0"/>
                <a:ea typeface="Calibri" pitchFamily="34" charset="-122"/>
                <a:cs typeface="Calibri" pitchFamily="34" charset="-120"/>
              </a:rPr>
              <a:t>Patient engagement AI growing 20× YoY</a:t>
            </a:r>
            <a:endParaRPr lang="en-US" sz="850" dirty="0"/>
          </a:p>
        </p:txBody>
      </p:sp>
      <p:sp>
        <p:nvSpPr>
          <p:cNvPr id="61" name="Shape 59"/>
          <p:cNvSpPr/>
          <p:nvPr/>
        </p:nvSpPr>
        <p:spPr>
          <a:xfrm>
            <a:off x="4681728" y="3300984"/>
            <a:ext cx="4142232" cy="539496"/>
          </a:xfrm>
          <a:prstGeom prst="rect">
            <a:avLst/>
          </a:prstGeom>
          <a:solidFill>
            <a:srgbClr val="EEF2F7"/>
          </a:solidFill>
          <a:ln w="12700">
            <a:solidFill>
              <a:srgbClr val="CED4DA"/>
            </a:solidFill>
            <a:prstDash val="solid"/>
          </a:ln>
        </p:spPr>
      </p:sp>
      <p:sp>
        <p:nvSpPr>
          <p:cNvPr id="62" name="Shape 60"/>
          <p:cNvSpPr/>
          <p:nvPr/>
        </p:nvSpPr>
        <p:spPr>
          <a:xfrm>
            <a:off x="4681728" y="3300984"/>
            <a:ext cx="54864" cy="539496"/>
          </a:xfrm>
          <a:prstGeom prst="rect">
            <a:avLst/>
          </a:prstGeom>
          <a:solidFill>
            <a:srgbClr val="F59F00"/>
          </a:solidFill>
          <a:ln w="12700">
            <a:solidFill>
              <a:srgbClr val="F59F00"/>
            </a:solidFill>
            <a:prstDash val="solid"/>
          </a:ln>
        </p:spPr>
      </p:sp>
      <p:sp>
        <p:nvSpPr>
          <p:cNvPr id="63" name="Text 61"/>
          <p:cNvSpPr/>
          <p:nvPr/>
        </p:nvSpPr>
        <p:spPr>
          <a:xfrm>
            <a:off x="4800600" y="3337560"/>
            <a:ext cx="2834640" cy="182880"/>
          </a:xfrm>
          <a:prstGeom prst="rect">
            <a:avLst/>
          </a:prstGeom>
          <a:noFill/>
          <a:ln/>
        </p:spPr>
        <p:txBody>
          <a:bodyPr wrap="square" lIns="0" tIns="0" rIns="0" bIns="0" rtlCol="0" anchor="ctr"/>
          <a:lstStyle/>
          <a:p>
            <a:pPr indent="0" marL="0">
              <a:buNone/>
            </a:pPr>
            <a:r>
              <a:rPr lang="en-US" sz="1000" b="1" dirty="0">
                <a:solidFill>
                  <a:srgbClr val="0D1F3C"/>
                </a:solidFill>
                <a:latin typeface="Calibri" pitchFamily="34" charset="0"/>
                <a:ea typeface="Calibri" pitchFamily="34" charset="-122"/>
                <a:cs typeface="Calibri" pitchFamily="34" charset="-120"/>
              </a:rPr>
              <a:t>Certain Radiology Functions</a:t>
            </a:r>
            <a:endParaRPr lang="en-US" sz="1000" dirty="0"/>
          </a:p>
        </p:txBody>
      </p:sp>
      <p:sp>
        <p:nvSpPr>
          <p:cNvPr id="64" name="Shape 62"/>
          <p:cNvSpPr/>
          <p:nvPr/>
        </p:nvSpPr>
        <p:spPr>
          <a:xfrm>
            <a:off x="7662672" y="3355848"/>
            <a:ext cx="548640" cy="155448"/>
          </a:xfrm>
          <a:prstGeom prst="rect">
            <a:avLst/>
          </a:prstGeom>
          <a:solidFill>
            <a:srgbClr val="F59F00"/>
          </a:solidFill>
          <a:ln w="12700">
            <a:solidFill>
              <a:srgbClr val="F59F00"/>
            </a:solidFill>
            <a:prstDash val="solid"/>
          </a:ln>
        </p:spPr>
      </p:sp>
      <p:sp>
        <p:nvSpPr>
          <p:cNvPr id="65" name="Text 63"/>
          <p:cNvSpPr/>
          <p:nvPr/>
        </p:nvSpPr>
        <p:spPr>
          <a:xfrm>
            <a:off x="7662672" y="3355848"/>
            <a:ext cx="548640"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MED</a:t>
            </a:r>
            <a:endParaRPr lang="en-US" sz="800" dirty="0"/>
          </a:p>
        </p:txBody>
      </p:sp>
      <p:sp>
        <p:nvSpPr>
          <p:cNvPr id="66" name="Text 64"/>
          <p:cNvSpPr/>
          <p:nvPr/>
        </p:nvSpPr>
        <p:spPr>
          <a:xfrm>
            <a:off x="4800600" y="3538728"/>
            <a:ext cx="3931920" cy="256032"/>
          </a:xfrm>
          <a:prstGeom prst="rect">
            <a:avLst/>
          </a:prstGeom>
          <a:noFill/>
          <a:ln/>
        </p:spPr>
        <p:txBody>
          <a:bodyPr wrap="square" lIns="0" tIns="0" rIns="0" bIns="0" rtlCol="0" anchor="ctr"/>
          <a:lstStyle/>
          <a:p>
            <a:pPr indent="0" marL="0">
              <a:buNone/>
            </a:pPr>
            <a:r>
              <a:rPr lang="en-US" sz="850" dirty="0">
                <a:solidFill>
                  <a:srgbClr val="6C757D"/>
                </a:solidFill>
                <a:latin typeface="Calibri" pitchFamily="34" charset="0"/>
                <a:ea typeface="Calibri" pitchFamily="34" charset="-122"/>
                <a:cs typeface="Calibri" pitchFamily="34" charset="-120"/>
              </a:rPr>
              <a:t>AI augments; full displacement still distant</a:t>
            </a:r>
            <a:endParaRPr lang="en-US" sz="850" dirty="0"/>
          </a:p>
        </p:txBody>
      </p:sp>
      <p:sp>
        <p:nvSpPr>
          <p:cNvPr id="67" name="Shape 65"/>
          <p:cNvSpPr/>
          <p:nvPr/>
        </p:nvSpPr>
        <p:spPr>
          <a:xfrm>
            <a:off x="4681728" y="3895344"/>
            <a:ext cx="4142232" cy="539496"/>
          </a:xfrm>
          <a:prstGeom prst="rect">
            <a:avLst/>
          </a:prstGeom>
          <a:solidFill>
            <a:srgbClr val="FFFFFF"/>
          </a:solidFill>
          <a:ln w="12700">
            <a:solidFill>
              <a:srgbClr val="CED4DA"/>
            </a:solidFill>
            <a:prstDash val="solid"/>
          </a:ln>
        </p:spPr>
      </p:sp>
      <p:sp>
        <p:nvSpPr>
          <p:cNvPr id="68" name="Shape 66"/>
          <p:cNvSpPr/>
          <p:nvPr/>
        </p:nvSpPr>
        <p:spPr>
          <a:xfrm>
            <a:off x="4681728" y="3895344"/>
            <a:ext cx="54864" cy="539496"/>
          </a:xfrm>
          <a:prstGeom prst="rect">
            <a:avLst/>
          </a:prstGeom>
          <a:solidFill>
            <a:srgbClr val="F59F00"/>
          </a:solidFill>
          <a:ln w="12700">
            <a:solidFill>
              <a:srgbClr val="F59F00"/>
            </a:solidFill>
            <a:prstDash val="solid"/>
          </a:ln>
        </p:spPr>
      </p:sp>
      <p:sp>
        <p:nvSpPr>
          <p:cNvPr id="69" name="Text 67"/>
          <p:cNvSpPr/>
          <p:nvPr/>
        </p:nvSpPr>
        <p:spPr>
          <a:xfrm>
            <a:off x="4800600" y="3931920"/>
            <a:ext cx="2834640" cy="182880"/>
          </a:xfrm>
          <a:prstGeom prst="rect">
            <a:avLst/>
          </a:prstGeom>
          <a:noFill/>
          <a:ln/>
        </p:spPr>
        <p:txBody>
          <a:bodyPr wrap="square" lIns="0" tIns="0" rIns="0" bIns="0" rtlCol="0" anchor="ctr"/>
          <a:lstStyle/>
          <a:p>
            <a:pPr indent="0" marL="0">
              <a:buNone/>
            </a:pPr>
            <a:r>
              <a:rPr lang="en-US" sz="1000" b="1" dirty="0">
                <a:solidFill>
                  <a:srgbClr val="0D1F3C"/>
                </a:solidFill>
                <a:latin typeface="Calibri" pitchFamily="34" charset="0"/>
                <a:ea typeface="Calibri" pitchFamily="34" charset="-122"/>
                <a:cs typeface="Calibri" pitchFamily="34" charset="-120"/>
              </a:rPr>
              <a:t>Lab Technicians (routine)</a:t>
            </a:r>
            <a:endParaRPr lang="en-US" sz="1000" dirty="0"/>
          </a:p>
        </p:txBody>
      </p:sp>
      <p:sp>
        <p:nvSpPr>
          <p:cNvPr id="70" name="Shape 68"/>
          <p:cNvSpPr/>
          <p:nvPr/>
        </p:nvSpPr>
        <p:spPr>
          <a:xfrm>
            <a:off x="7662672" y="3950208"/>
            <a:ext cx="548640" cy="155448"/>
          </a:xfrm>
          <a:prstGeom prst="rect">
            <a:avLst/>
          </a:prstGeom>
          <a:solidFill>
            <a:srgbClr val="F59F00"/>
          </a:solidFill>
          <a:ln w="12700">
            <a:solidFill>
              <a:srgbClr val="F59F00"/>
            </a:solidFill>
            <a:prstDash val="solid"/>
          </a:ln>
        </p:spPr>
      </p:sp>
      <p:sp>
        <p:nvSpPr>
          <p:cNvPr id="71" name="Text 69"/>
          <p:cNvSpPr/>
          <p:nvPr/>
        </p:nvSpPr>
        <p:spPr>
          <a:xfrm>
            <a:off x="7662672" y="3950208"/>
            <a:ext cx="548640" cy="1554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MED</a:t>
            </a:r>
            <a:endParaRPr lang="en-US" sz="800" dirty="0"/>
          </a:p>
        </p:txBody>
      </p:sp>
      <p:sp>
        <p:nvSpPr>
          <p:cNvPr id="72" name="Text 70"/>
          <p:cNvSpPr/>
          <p:nvPr/>
        </p:nvSpPr>
        <p:spPr>
          <a:xfrm>
            <a:off x="4800600" y="4133088"/>
            <a:ext cx="3931920" cy="256032"/>
          </a:xfrm>
          <a:prstGeom prst="rect">
            <a:avLst/>
          </a:prstGeom>
          <a:noFill/>
          <a:ln/>
        </p:spPr>
        <p:txBody>
          <a:bodyPr wrap="square" lIns="0" tIns="0" rIns="0" bIns="0" rtlCol="0" anchor="ctr"/>
          <a:lstStyle/>
          <a:p>
            <a:pPr indent="0" marL="0">
              <a:buNone/>
            </a:pPr>
            <a:r>
              <a:rPr lang="en-US" sz="850" dirty="0">
                <a:solidFill>
                  <a:srgbClr val="6C757D"/>
                </a:solidFill>
                <a:latin typeface="Calibri" pitchFamily="34" charset="0"/>
                <a:ea typeface="Calibri" pitchFamily="34" charset="-122"/>
                <a:cs typeface="Calibri" pitchFamily="34" charset="-120"/>
              </a:rPr>
              <a:t>AI diagnostics expanding in pathology</a:t>
            </a:r>
            <a:endParaRPr lang="en-US" sz="850" dirty="0"/>
          </a:p>
        </p:txBody>
      </p:sp>
      <p:sp>
        <p:nvSpPr>
          <p:cNvPr id="73" name="Shape 71"/>
          <p:cNvSpPr/>
          <p:nvPr/>
        </p:nvSpPr>
        <p:spPr>
          <a:xfrm>
            <a:off x="320040" y="4599432"/>
            <a:ext cx="8503920" cy="246888"/>
          </a:xfrm>
          <a:prstGeom prst="rect">
            <a:avLst/>
          </a:prstGeom>
          <a:solidFill>
            <a:srgbClr val="EEF2F7"/>
          </a:solidFill>
          <a:ln w="12700">
            <a:solidFill>
              <a:srgbClr val="CED4DA"/>
            </a:solidFill>
            <a:prstDash val="solid"/>
          </a:ln>
        </p:spPr>
      </p:sp>
      <p:sp>
        <p:nvSpPr>
          <p:cNvPr id="74" name="Text 72"/>
          <p:cNvSpPr/>
          <p:nvPr/>
        </p:nvSpPr>
        <p:spPr>
          <a:xfrm>
            <a:off x="457200" y="4599432"/>
            <a:ext cx="8321040" cy="246888"/>
          </a:xfrm>
          <a:prstGeom prst="rect">
            <a:avLst/>
          </a:prstGeom>
          <a:noFill/>
          <a:ln/>
        </p:spPr>
        <p:txBody>
          <a:bodyPr wrap="square" lIns="0" tIns="0" rIns="0" bIns="0" rtlCol="0" anchor="ctr"/>
          <a:lstStyle/>
          <a:p>
            <a:pPr indent="0" marL="0">
              <a:buNone/>
            </a:pPr>
            <a:r>
              <a:rPr lang="en-US" sz="900" i="1" dirty="0">
                <a:solidFill>
                  <a:srgbClr val="0D1F3C"/>
                </a:solidFill>
                <a:latin typeface="Calibri" pitchFamily="34" charset="0"/>
                <a:ea typeface="Calibri" pitchFamily="34" charset="-122"/>
                <a:cs typeface="Calibri" pitchFamily="34" charset="-120"/>
              </a:rPr>
              <a:t>Key Insight: Disruption requires the competitor to execute — the threat is real but not inevitable for organizations that move decisively.</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320040" y="201168"/>
            <a:ext cx="347472" cy="347472"/>
          </a:xfrm>
          <a:prstGeom prst="rect">
            <a:avLst/>
          </a:prstGeom>
          <a:solidFill>
            <a:srgbClr val="0B7285"/>
          </a:solidFill>
          <a:ln w="12700">
            <a:solidFill>
              <a:srgbClr val="0B7285"/>
            </a:solidFill>
            <a:prstDash val="solid"/>
          </a:ln>
        </p:spPr>
      </p:sp>
      <p:sp>
        <p:nvSpPr>
          <p:cNvPr id="3" name="Text 1"/>
          <p:cNvSpPr/>
          <p:nvPr/>
        </p:nvSpPr>
        <p:spPr>
          <a:xfrm>
            <a:off x="320040" y="201168"/>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05</a:t>
            </a:r>
            <a:endParaRPr lang="en-US" sz="1400" dirty="0"/>
          </a:p>
        </p:txBody>
      </p:sp>
      <p:sp>
        <p:nvSpPr>
          <p:cNvPr id="4" name="Text 2"/>
          <p:cNvSpPr/>
          <p:nvPr/>
        </p:nvSpPr>
        <p:spPr>
          <a:xfrm>
            <a:off x="749808" y="219456"/>
            <a:ext cx="4572000" cy="310896"/>
          </a:xfrm>
          <a:prstGeom prst="rect">
            <a:avLst/>
          </a:prstGeom>
          <a:noFill/>
          <a:ln/>
        </p:spPr>
        <p:txBody>
          <a:bodyPr wrap="square" lIns="0" tIns="0" rIns="0" bIns="0" rtlCol="0" anchor="ctr"/>
          <a:lstStyle/>
          <a:p>
            <a:pPr indent="0" marL="0">
              <a:buNone/>
            </a:pPr>
            <a:r>
              <a:rPr lang="en-US" sz="1100" spc="100" kern="0" dirty="0">
                <a:solidFill>
                  <a:srgbClr val="0B7285"/>
                </a:solidFill>
                <a:latin typeface="Calibri" pitchFamily="34" charset="0"/>
                <a:ea typeface="Calibri" pitchFamily="34" charset="-122"/>
                <a:cs typeface="Calibri" pitchFamily="34" charset="-120"/>
              </a:rPr>
              <a:t>THE DEPLOYMENT GAP</a:t>
            </a:r>
            <a:endParaRPr lang="en-US" sz="1100" dirty="0"/>
          </a:p>
        </p:txBody>
      </p:sp>
      <p:sp>
        <p:nvSpPr>
          <p:cNvPr id="5" name="Shape 3"/>
          <p:cNvSpPr/>
          <p:nvPr/>
        </p:nvSpPr>
        <p:spPr>
          <a:xfrm>
            <a:off x="0" y="4910328"/>
            <a:ext cx="9144000" cy="233172"/>
          </a:xfrm>
          <a:prstGeom prst="rect">
            <a:avLst/>
          </a:prstGeom>
          <a:solidFill>
            <a:srgbClr val="0D1F3C"/>
          </a:solidFill>
          <a:ln w="12700">
            <a:solidFill>
              <a:srgbClr val="0D1F3C"/>
            </a:solidFill>
            <a:prstDash val="solid"/>
          </a:ln>
        </p:spPr>
      </p:sp>
      <p:sp>
        <p:nvSpPr>
          <p:cNvPr id="6" name="Text 4"/>
          <p:cNvSpPr/>
          <p:nvPr/>
        </p:nvSpPr>
        <p:spPr>
          <a:xfrm>
            <a:off x="320040" y="4910328"/>
            <a:ext cx="7863840" cy="233172"/>
          </a:xfrm>
          <a:prstGeom prst="rect">
            <a:avLst/>
          </a:prstGeom>
          <a:noFill/>
          <a:ln/>
        </p:spPr>
        <p:txBody>
          <a:bodyPr wrap="square" lIns="0" tIns="0" rIns="0" bIns="0"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AI in Healthcare &amp; Life Sciences  |  MIT AI Executive Academy  |  Capstone 2026  |  CONFIDENTIAL</a:t>
            </a:r>
            <a:endParaRPr lang="en-US" sz="800" dirty="0"/>
          </a:p>
        </p:txBody>
      </p:sp>
      <p:sp>
        <p:nvSpPr>
          <p:cNvPr id="7" name="Text 5"/>
          <p:cNvSpPr/>
          <p:nvPr/>
        </p:nvSpPr>
        <p:spPr>
          <a:xfrm>
            <a:off x="8412480" y="4910328"/>
            <a:ext cx="594360" cy="233172"/>
          </a:xfrm>
          <a:prstGeom prst="rect">
            <a:avLst/>
          </a:prstGeom>
          <a:noFill/>
          <a:ln/>
        </p:spPr>
        <p:txBody>
          <a:bodyPr wrap="square" lIns="0" tIns="0" rIns="0" bIns="0" rtlCol="0" anchor="ctr"/>
          <a:lstStyle/>
          <a:p>
            <a:pPr algn="r" indent="0" marL="0">
              <a:buNone/>
            </a:pPr>
            <a:r>
              <a:rPr lang="en-US" sz="800" dirty="0">
                <a:solidFill>
                  <a:srgbClr val="FFFFFF"/>
                </a:solidFill>
                <a:latin typeface="Calibri" pitchFamily="34" charset="0"/>
                <a:ea typeface="Calibri" pitchFamily="34" charset="-122"/>
                <a:cs typeface="Calibri" pitchFamily="34" charset="-120"/>
              </a:rPr>
              <a:t>7 / 11</a:t>
            </a:r>
            <a:endParaRPr lang="en-US" sz="800" dirty="0"/>
          </a:p>
        </p:txBody>
      </p:sp>
      <p:sp>
        <p:nvSpPr>
          <p:cNvPr id="8" name="Text 6"/>
          <p:cNvSpPr/>
          <p:nvPr/>
        </p:nvSpPr>
        <p:spPr>
          <a:xfrm>
            <a:off x="320040" y="621792"/>
            <a:ext cx="8503920" cy="457200"/>
          </a:xfrm>
          <a:prstGeom prst="rect">
            <a:avLst/>
          </a:prstGeom>
          <a:noFill/>
          <a:ln/>
        </p:spPr>
        <p:txBody>
          <a:bodyPr wrap="square" lIns="0" tIns="0" rIns="0" bIns="0" rtlCol="0" anchor="ctr"/>
          <a:lstStyle/>
          <a:p>
            <a:pPr algn="l" indent="0" marL="0">
              <a:buNone/>
            </a:pPr>
            <a:r>
              <a:rPr lang="en-US" sz="2400" b="1" dirty="0">
                <a:solidFill>
                  <a:srgbClr val="0D1F3C"/>
                </a:solidFill>
                <a:latin typeface="Calibri" pitchFamily="34" charset="0"/>
                <a:ea typeface="Calibri" pitchFamily="34" charset="-122"/>
                <a:cs typeface="Calibri" pitchFamily="34" charset="-120"/>
              </a:rPr>
              <a:t>The Most Important Slide: Massive Potential, Structural Barriers</a:t>
            </a:r>
            <a:endParaRPr lang="en-US" sz="2400" dirty="0"/>
          </a:p>
        </p:txBody>
      </p:sp>
      <p:sp>
        <p:nvSpPr>
          <p:cNvPr id="9" name="Shape 7"/>
          <p:cNvSpPr/>
          <p:nvPr/>
        </p:nvSpPr>
        <p:spPr>
          <a:xfrm>
            <a:off x="320040" y="1170432"/>
            <a:ext cx="2194560" cy="2377440"/>
          </a:xfrm>
          <a:prstGeom prst="rect">
            <a:avLst/>
          </a:prstGeom>
          <a:solidFill>
            <a:srgbClr val="0D1F3C"/>
          </a:solidFill>
          <a:ln w="12700">
            <a:solidFill>
              <a:srgbClr val="0D1F3C"/>
            </a:solidFill>
            <a:prstDash val="solid"/>
          </a:ln>
          <a:effectLst>
            <a:outerShdw sx="100000" sy="100000" kx="0" ky="0" algn="bl" rotWithShape="0" blurRad="101600" dist="38100" dir="8100000">
              <a:srgbClr val="000000">
                <a:alpha val="12000"/>
              </a:srgbClr>
            </a:outerShdw>
          </a:effectLst>
        </p:spPr>
      </p:sp>
      <p:sp>
        <p:nvSpPr>
          <p:cNvPr id="10" name="Text 8"/>
          <p:cNvSpPr/>
          <p:nvPr/>
        </p:nvSpPr>
        <p:spPr>
          <a:xfrm>
            <a:off x="320040" y="1261872"/>
            <a:ext cx="2194560" cy="822960"/>
          </a:xfrm>
          <a:prstGeom prst="rect">
            <a:avLst/>
          </a:prstGeom>
          <a:noFill/>
          <a:ln/>
        </p:spPr>
        <p:txBody>
          <a:bodyPr wrap="square" lIns="0" tIns="0" rIns="0" bIns="0" rtlCol="0" anchor="ctr"/>
          <a:lstStyle/>
          <a:p>
            <a:pPr algn="ctr" indent="0" marL="0">
              <a:buNone/>
            </a:pPr>
            <a:r>
              <a:rPr lang="en-US" sz="5600" b="1" dirty="0">
                <a:solidFill>
                  <a:srgbClr val="E03131"/>
                </a:solidFill>
                <a:latin typeface="Calibri" pitchFamily="34" charset="0"/>
                <a:ea typeface="Calibri" pitchFamily="34" charset="-122"/>
                <a:cs typeface="Calibri" pitchFamily="34" charset="-120"/>
              </a:rPr>
              <a:t>81%</a:t>
            </a:r>
            <a:endParaRPr lang="en-US" sz="5600" dirty="0"/>
          </a:p>
        </p:txBody>
      </p:sp>
      <p:sp>
        <p:nvSpPr>
          <p:cNvPr id="11" name="Text 9"/>
          <p:cNvSpPr/>
          <p:nvPr/>
        </p:nvSpPr>
        <p:spPr>
          <a:xfrm>
            <a:off x="320040" y="2103120"/>
            <a:ext cx="2194560" cy="502920"/>
          </a:xfrm>
          <a:prstGeom prst="rect">
            <a:avLst/>
          </a:prstGeom>
          <a:noFill/>
          <a:ln/>
        </p:spPr>
        <p:txBody>
          <a:bodyPr wrap="square" lIns="50800" tIns="50800" rIns="50800" bIns="5080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of U.S. hospitals have</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not adopted AI at all</a:t>
            </a:r>
            <a:endParaRPr lang="en-US" sz="1100" dirty="0"/>
          </a:p>
        </p:txBody>
      </p:sp>
      <p:sp>
        <p:nvSpPr>
          <p:cNvPr id="12" name="Shape 10"/>
          <p:cNvSpPr/>
          <p:nvPr/>
        </p:nvSpPr>
        <p:spPr>
          <a:xfrm>
            <a:off x="320040" y="2624328"/>
            <a:ext cx="2194560" cy="54864"/>
          </a:xfrm>
          <a:prstGeom prst="rect">
            <a:avLst/>
          </a:prstGeom>
          <a:solidFill>
            <a:srgbClr val="0B7285"/>
          </a:solidFill>
          <a:ln w="12700">
            <a:solidFill>
              <a:srgbClr val="0B7285"/>
            </a:solidFill>
            <a:prstDash val="solid"/>
          </a:ln>
        </p:spPr>
      </p:sp>
      <p:sp>
        <p:nvSpPr>
          <p:cNvPr id="13" name="Text 11"/>
          <p:cNvSpPr/>
          <p:nvPr/>
        </p:nvSpPr>
        <p:spPr>
          <a:xfrm>
            <a:off x="320040" y="2688336"/>
            <a:ext cx="2194560" cy="475488"/>
          </a:xfrm>
          <a:prstGeom prst="rect">
            <a:avLst/>
          </a:prstGeom>
          <a:noFill/>
          <a:ln/>
        </p:spPr>
        <p:txBody>
          <a:bodyPr wrap="square" lIns="50800" tIns="50800" rIns="50800" bIns="50800" rtlCol="0" anchor="ctr"/>
          <a:lstStyle/>
          <a:p>
            <a:pPr algn="ctr" indent="0" marL="0">
              <a:buNone/>
            </a:pPr>
            <a:r>
              <a:rPr lang="en-US" sz="1000" dirty="0">
                <a:solidFill>
                  <a:srgbClr val="12B886"/>
                </a:solidFill>
                <a:latin typeface="Calibri" pitchFamily="34" charset="0"/>
                <a:ea typeface="Calibri" pitchFamily="34" charset="-122"/>
                <a:cs typeface="Calibri" pitchFamily="34" charset="-120"/>
              </a:rPr>
              <a:t>86% say AI is critical</a:t>
            </a:r>
            <a:endParaRPr lang="en-US" sz="1000" dirty="0"/>
          </a:p>
          <a:p>
            <a:pPr algn="ctr" indent="0" marL="0">
              <a:buNone/>
            </a:pPr>
            <a:r>
              <a:rPr lang="en-US" sz="1000" dirty="0">
                <a:solidFill>
                  <a:srgbClr val="12B886"/>
                </a:solidFill>
                <a:latin typeface="Calibri" pitchFamily="34" charset="0"/>
                <a:ea typeface="Calibri" pitchFamily="34" charset="-122"/>
                <a:cs typeface="Calibri" pitchFamily="34" charset="-120"/>
              </a:rPr>
              <a:t>to their future</a:t>
            </a:r>
            <a:endParaRPr lang="en-US" sz="1000" dirty="0"/>
          </a:p>
        </p:txBody>
      </p:sp>
      <p:sp>
        <p:nvSpPr>
          <p:cNvPr id="14" name="Shape 12"/>
          <p:cNvSpPr/>
          <p:nvPr/>
        </p:nvSpPr>
        <p:spPr>
          <a:xfrm>
            <a:off x="2743200" y="1170432"/>
            <a:ext cx="6080760" cy="685800"/>
          </a:xfrm>
          <a:prstGeom prst="rect">
            <a:avLst/>
          </a:prstGeom>
          <a:solidFill>
            <a:srgbClr val="FFFFFF"/>
          </a:solidFill>
          <a:ln w="12700">
            <a:solidFill>
              <a:srgbClr val="CED4DA"/>
            </a:solidFill>
            <a:prstDash val="solid"/>
          </a:ln>
          <a:effectLst>
            <a:outerShdw sx="100000" sy="100000" kx="0" ky="0" algn="bl" rotWithShape="0" blurRad="101600" dist="38100" dir="8100000">
              <a:srgbClr val="000000">
                <a:alpha val="12000"/>
              </a:srgbClr>
            </a:outerShdw>
          </a:effectLst>
        </p:spPr>
      </p:sp>
      <p:sp>
        <p:nvSpPr>
          <p:cNvPr id="15" name="Shape 13"/>
          <p:cNvSpPr/>
          <p:nvPr/>
        </p:nvSpPr>
        <p:spPr>
          <a:xfrm>
            <a:off x="2743200" y="1170432"/>
            <a:ext cx="347472" cy="685800"/>
          </a:xfrm>
          <a:prstGeom prst="rect">
            <a:avLst/>
          </a:prstGeom>
          <a:solidFill>
            <a:srgbClr val="F59F00"/>
          </a:solidFill>
          <a:ln w="12700">
            <a:solidFill>
              <a:srgbClr val="F59F00"/>
            </a:solidFill>
            <a:prstDash val="solid"/>
          </a:ln>
        </p:spPr>
      </p:sp>
      <p:sp>
        <p:nvSpPr>
          <p:cNvPr id="16" name="Text 14"/>
          <p:cNvSpPr/>
          <p:nvPr/>
        </p:nvSpPr>
        <p:spPr>
          <a:xfrm>
            <a:off x="2743200" y="1170432"/>
            <a:ext cx="347472"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7" name="Text 15"/>
          <p:cNvSpPr/>
          <p:nvPr/>
        </p:nvSpPr>
        <p:spPr>
          <a:xfrm>
            <a:off x="3182112" y="1234440"/>
            <a:ext cx="5550408" cy="219456"/>
          </a:xfrm>
          <a:prstGeom prst="rect">
            <a:avLst/>
          </a:prstGeom>
          <a:noFill/>
          <a:ln/>
        </p:spPr>
        <p:txBody>
          <a:bodyPr wrap="square" lIns="0" tIns="0" rIns="0" bIns="0" rtlCol="0" anchor="ctr"/>
          <a:lstStyle/>
          <a:p>
            <a:pPr indent="0" marL="0">
              <a:buNone/>
            </a:pPr>
            <a:r>
              <a:rPr lang="en-US" sz="1200" b="1" dirty="0">
                <a:solidFill>
                  <a:srgbClr val="0D1F3C"/>
                </a:solidFill>
                <a:latin typeface="Calibri" pitchFamily="34" charset="0"/>
                <a:ea typeface="Calibri" pitchFamily="34" charset="-122"/>
                <a:cs typeface="Calibri" pitchFamily="34" charset="-120"/>
              </a:rPr>
              <a:t>Regulatory Complexity</a:t>
            </a:r>
            <a:endParaRPr lang="en-US" sz="1200" dirty="0"/>
          </a:p>
        </p:txBody>
      </p:sp>
      <p:sp>
        <p:nvSpPr>
          <p:cNvPr id="18" name="Text 16"/>
          <p:cNvSpPr/>
          <p:nvPr/>
        </p:nvSpPr>
        <p:spPr>
          <a:xfrm>
            <a:off x="3182112" y="1472184"/>
            <a:ext cx="5550408" cy="347472"/>
          </a:xfrm>
          <a:prstGeom prst="rect">
            <a:avLst/>
          </a:prstGeom>
          <a:noFill/>
          <a:ln/>
        </p:spPr>
        <p:txBody>
          <a:bodyPr wrap="square" lIns="0" tIns="0" rIns="0" bIns="0" rtlCol="0" anchor="ctr"/>
          <a:lstStyle/>
          <a:p>
            <a:pPr indent="0" marL="0">
              <a:buNone/>
            </a:pPr>
            <a:r>
              <a:rPr lang="en-US" sz="950" dirty="0">
                <a:solidFill>
                  <a:srgbClr val="6C757D"/>
                </a:solidFill>
                <a:latin typeface="Calibri" pitchFamily="34" charset="0"/>
                <a:ea typeface="Calibri" pitchFamily="34" charset="-122"/>
                <a:cs typeface="Calibri" pitchFamily="34" charset="-120"/>
              </a:rPr>
              <a:t>No unique FDA pathway for AI devices — 97% cleared via 510(k), not designed for adaptive algorithms. Jan 2025 Draft Guidance is a step, not a solution.</a:t>
            </a:r>
            <a:endParaRPr lang="en-US" sz="950" dirty="0"/>
          </a:p>
        </p:txBody>
      </p:sp>
      <p:sp>
        <p:nvSpPr>
          <p:cNvPr id="19" name="Shape 17"/>
          <p:cNvSpPr/>
          <p:nvPr/>
        </p:nvSpPr>
        <p:spPr>
          <a:xfrm>
            <a:off x="2743200" y="1920240"/>
            <a:ext cx="6080760" cy="685800"/>
          </a:xfrm>
          <a:prstGeom prst="rect">
            <a:avLst/>
          </a:prstGeom>
          <a:solidFill>
            <a:srgbClr val="FFFFFF"/>
          </a:solidFill>
          <a:ln w="12700">
            <a:solidFill>
              <a:srgbClr val="CED4DA"/>
            </a:solidFill>
            <a:prstDash val="solid"/>
          </a:ln>
          <a:effectLst>
            <a:outerShdw sx="100000" sy="100000" kx="0" ky="0" algn="bl" rotWithShape="0" blurRad="101600" dist="38100" dir="8100000">
              <a:srgbClr val="000000">
                <a:alpha val="12000"/>
              </a:srgbClr>
            </a:outerShdw>
          </a:effectLst>
        </p:spPr>
      </p:sp>
      <p:sp>
        <p:nvSpPr>
          <p:cNvPr id="20" name="Shape 18"/>
          <p:cNvSpPr/>
          <p:nvPr/>
        </p:nvSpPr>
        <p:spPr>
          <a:xfrm>
            <a:off x="2743200" y="1920240"/>
            <a:ext cx="347472" cy="685800"/>
          </a:xfrm>
          <a:prstGeom prst="rect">
            <a:avLst/>
          </a:prstGeom>
          <a:solidFill>
            <a:srgbClr val="F59F00"/>
          </a:solidFill>
          <a:ln w="12700">
            <a:solidFill>
              <a:srgbClr val="F59F00"/>
            </a:solidFill>
            <a:prstDash val="solid"/>
          </a:ln>
        </p:spPr>
      </p:sp>
      <p:sp>
        <p:nvSpPr>
          <p:cNvPr id="21" name="Text 19"/>
          <p:cNvSpPr/>
          <p:nvPr/>
        </p:nvSpPr>
        <p:spPr>
          <a:xfrm>
            <a:off x="2743200" y="1920240"/>
            <a:ext cx="347472"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2" name="Text 20"/>
          <p:cNvSpPr/>
          <p:nvPr/>
        </p:nvSpPr>
        <p:spPr>
          <a:xfrm>
            <a:off x="3182112" y="1984248"/>
            <a:ext cx="5550408" cy="219456"/>
          </a:xfrm>
          <a:prstGeom prst="rect">
            <a:avLst/>
          </a:prstGeom>
          <a:noFill/>
          <a:ln/>
        </p:spPr>
        <p:txBody>
          <a:bodyPr wrap="square" lIns="0" tIns="0" rIns="0" bIns="0" rtlCol="0" anchor="ctr"/>
          <a:lstStyle/>
          <a:p>
            <a:pPr indent="0" marL="0">
              <a:buNone/>
            </a:pPr>
            <a:r>
              <a:rPr lang="en-US" sz="1200" b="1" dirty="0">
                <a:solidFill>
                  <a:srgbClr val="0D1F3C"/>
                </a:solidFill>
                <a:latin typeface="Calibri" pitchFamily="34" charset="0"/>
                <a:ea typeface="Calibri" pitchFamily="34" charset="-122"/>
                <a:cs typeface="Calibri" pitchFamily="34" charset="-120"/>
              </a:rPr>
              <a:t>Data Infrastructure &amp; Interoperability</a:t>
            </a:r>
            <a:endParaRPr lang="en-US" sz="1200" dirty="0"/>
          </a:p>
        </p:txBody>
      </p:sp>
      <p:sp>
        <p:nvSpPr>
          <p:cNvPr id="23" name="Text 21"/>
          <p:cNvSpPr/>
          <p:nvPr/>
        </p:nvSpPr>
        <p:spPr>
          <a:xfrm>
            <a:off x="3182112" y="2221992"/>
            <a:ext cx="5550408" cy="347472"/>
          </a:xfrm>
          <a:prstGeom prst="rect">
            <a:avLst/>
          </a:prstGeom>
          <a:noFill/>
          <a:ln/>
        </p:spPr>
        <p:txBody>
          <a:bodyPr wrap="square" lIns="0" tIns="0" rIns="0" bIns="0" rtlCol="0" anchor="ctr"/>
          <a:lstStyle/>
          <a:p>
            <a:pPr indent="0" marL="0">
              <a:buNone/>
            </a:pPr>
            <a:r>
              <a:rPr lang="en-US" sz="950" dirty="0">
                <a:solidFill>
                  <a:srgbClr val="6C757D"/>
                </a:solidFill>
                <a:latin typeface="Calibri" pitchFamily="34" charset="0"/>
                <a:ea typeface="Calibri" pitchFamily="34" charset="-122"/>
                <a:cs typeface="Calibri" pitchFamily="34" charset="-120"/>
              </a:rPr>
              <a:t>EHR fragmentation: patient data in hundreds of incompatible formats. Only 6% of biopharma data meets FAIR standards. AI models rarely generalize across systems.</a:t>
            </a:r>
            <a:endParaRPr lang="en-US" sz="950" dirty="0"/>
          </a:p>
        </p:txBody>
      </p:sp>
      <p:sp>
        <p:nvSpPr>
          <p:cNvPr id="24" name="Shape 22"/>
          <p:cNvSpPr/>
          <p:nvPr/>
        </p:nvSpPr>
        <p:spPr>
          <a:xfrm>
            <a:off x="2743200" y="2670048"/>
            <a:ext cx="6080760" cy="685800"/>
          </a:xfrm>
          <a:prstGeom prst="rect">
            <a:avLst/>
          </a:prstGeom>
          <a:solidFill>
            <a:srgbClr val="FFFFFF"/>
          </a:solidFill>
          <a:ln w="12700">
            <a:solidFill>
              <a:srgbClr val="CED4DA"/>
            </a:solidFill>
            <a:prstDash val="solid"/>
          </a:ln>
          <a:effectLst>
            <a:outerShdw sx="100000" sy="100000" kx="0" ky="0" algn="bl" rotWithShape="0" blurRad="101600" dist="38100" dir="8100000">
              <a:srgbClr val="000000">
                <a:alpha val="12000"/>
              </a:srgbClr>
            </a:outerShdw>
          </a:effectLst>
        </p:spPr>
      </p:sp>
      <p:sp>
        <p:nvSpPr>
          <p:cNvPr id="25" name="Shape 23"/>
          <p:cNvSpPr/>
          <p:nvPr/>
        </p:nvSpPr>
        <p:spPr>
          <a:xfrm>
            <a:off x="2743200" y="2670048"/>
            <a:ext cx="347472" cy="685800"/>
          </a:xfrm>
          <a:prstGeom prst="rect">
            <a:avLst/>
          </a:prstGeom>
          <a:solidFill>
            <a:srgbClr val="F59F00"/>
          </a:solidFill>
          <a:ln w="12700">
            <a:solidFill>
              <a:srgbClr val="F59F00"/>
            </a:solidFill>
            <a:prstDash val="solid"/>
          </a:ln>
        </p:spPr>
      </p:sp>
      <p:sp>
        <p:nvSpPr>
          <p:cNvPr id="26" name="Text 24"/>
          <p:cNvSpPr/>
          <p:nvPr/>
        </p:nvSpPr>
        <p:spPr>
          <a:xfrm>
            <a:off x="2743200" y="2670048"/>
            <a:ext cx="347472"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7" name="Text 25"/>
          <p:cNvSpPr/>
          <p:nvPr/>
        </p:nvSpPr>
        <p:spPr>
          <a:xfrm>
            <a:off x="3182112" y="2734056"/>
            <a:ext cx="5550408" cy="219456"/>
          </a:xfrm>
          <a:prstGeom prst="rect">
            <a:avLst/>
          </a:prstGeom>
          <a:noFill/>
          <a:ln/>
        </p:spPr>
        <p:txBody>
          <a:bodyPr wrap="square" lIns="0" tIns="0" rIns="0" bIns="0" rtlCol="0" anchor="ctr"/>
          <a:lstStyle/>
          <a:p>
            <a:pPr indent="0" marL="0">
              <a:buNone/>
            </a:pPr>
            <a:r>
              <a:rPr lang="en-US" sz="1200" b="1" dirty="0">
                <a:solidFill>
                  <a:srgbClr val="0D1F3C"/>
                </a:solidFill>
                <a:latin typeface="Calibri" pitchFamily="34" charset="0"/>
                <a:ea typeface="Calibri" pitchFamily="34" charset="-122"/>
                <a:cs typeface="Calibri" pitchFamily="34" charset="-120"/>
              </a:rPr>
              <a:t>Reimbursement Gaps</a:t>
            </a:r>
            <a:endParaRPr lang="en-US" sz="1200" dirty="0"/>
          </a:p>
        </p:txBody>
      </p:sp>
      <p:sp>
        <p:nvSpPr>
          <p:cNvPr id="28" name="Text 26"/>
          <p:cNvSpPr/>
          <p:nvPr/>
        </p:nvSpPr>
        <p:spPr>
          <a:xfrm>
            <a:off x="3182112" y="2971800"/>
            <a:ext cx="5550408" cy="347472"/>
          </a:xfrm>
          <a:prstGeom prst="rect">
            <a:avLst/>
          </a:prstGeom>
          <a:noFill/>
          <a:ln/>
        </p:spPr>
        <p:txBody>
          <a:bodyPr wrap="square" lIns="0" tIns="0" rIns="0" bIns="0" rtlCol="0" anchor="ctr"/>
          <a:lstStyle/>
          <a:p>
            <a:pPr indent="0" marL="0">
              <a:buNone/>
            </a:pPr>
            <a:r>
              <a:rPr lang="en-US" sz="950" dirty="0">
                <a:solidFill>
                  <a:srgbClr val="6C757D"/>
                </a:solidFill>
                <a:latin typeface="Calibri" pitchFamily="34" charset="0"/>
                <a:ea typeface="Calibri" pitchFamily="34" charset="-122"/>
                <a:cs typeface="Calibri" pitchFamily="34" charset="-120"/>
              </a:rPr>
              <a:t>A tool can be FDA-cleared, clinically validated, operationally ready — and still undeployed because no billing code exists. Medicare often does not reimburse AI separately.</a:t>
            </a:r>
            <a:endParaRPr lang="en-US" sz="950" dirty="0"/>
          </a:p>
        </p:txBody>
      </p:sp>
      <p:sp>
        <p:nvSpPr>
          <p:cNvPr id="29" name="Shape 27"/>
          <p:cNvSpPr/>
          <p:nvPr/>
        </p:nvSpPr>
        <p:spPr>
          <a:xfrm>
            <a:off x="2743200" y="3419856"/>
            <a:ext cx="6080760" cy="685800"/>
          </a:xfrm>
          <a:prstGeom prst="rect">
            <a:avLst/>
          </a:prstGeom>
          <a:solidFill>
            <a:srgbClr val="FFFFFF"/>
          </a:solidFill>
          <a:ln w="12700">
            <a:solidFill>
              <a:srgbClr val="CED4DA"/>
            </a:solidFill>
            <a:prstDash val="solid"/>
          </a:ln>
          <a:effectLst>
            <a:outerShdw sx="100000" sy="100000" kx="0" ky="0" algn="bl" rotWithShape="0" blurRad="101600" dist="38100" dir="8100000">
              <a:srgbClr val="000000">
                <a:alpha val="12000"/>
              </a:srgbClr>
            </a:outerShdw>
          </a:effectLst>
        </p:spPr>
      </p:sp>
      <p:sp>
        <p:nvSpPr>
          <p:cNvPr id="30" name="Shape 28"/>
          <p:cNvSpPr/>
          <p:nvPr/>
        </p:nvSpPr>
        <p:spPr>
          <a:xfrm>
            <a:off x="2743200" y="3419856"/>
            <a:ext cx="347472" cy="685800"/>
          </a:xfrm>
          <a:prstGeom prst="rect">
            <a:avLst/>
          </a:prstGeom>
          <a:solidFill>
            <a:srgbClr val="F59F00"/>
          </a:solidFill>
          <a:ln w="12700">
            <a:solidFill>
              <a:srgbClr val="F59F00"/>
            </a:solidFill>
            <a:prstDash val="solid"/>
          </a:ln>
        </p:spPr>
      </p:sp>
      <p:sp>
        <p:nvSpPr>
          <p:cNvPr id="31" name="Text 29"/>
          <p:cNvSpPr/>
          <p:nvPr/>
        </p:nvSpPr>
        <p:spPr>
          <a:xfrm>
            <a:off x="2743200" y="3419856"/>
            <a:ext cx="347472"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32" name="Text 30"/>
          <p:cNvSpPr/>
          <p:nvPr/>
        </p:nvSpPr>
        <p:spPr>
          <a:xfrm>
            <a:off x="3182112" y="3483864"/>
            <a:ext cx="5550408" cy="219456"/>
          </a:xfrm>
          <a:prstGeom prst="rect">
            <a:avLst/>
          </a:prstGeom>
          <a:noFill/>
          <a:ln/>
        </p:spPr>
        <p:txBody>
          <a:bodyPr wrap="square" lIns="0" tIns="0" rIns="0" bIns="0" rtlCol="0" anchor="ctr"/>
          <a:lstStyle/>
          <a:p>
            <a:pPr indent="0" marL="0">
              <a:buNone/>
            </a:pPr>
            <a:r>
              <a:rPr lang="en-US" sz="1200" b="1" dirty="0">
                <a:solidFill>
                  <a:srgbClr val="0D1F3C"/>
                </a:solidFill>
                <a:latin typeface="Calibri" pitchFamily="34" charset="0"/>
                <a:ea typeface="Calibri" pitchFamily="34" charset="-122"/>
                <a:cs typeface="Calibri" pitchFamily="34" charset="-120"/>
              </a:rPr>
              <a:t>Organizational &amp; Cultural Barriers</a:t>
            </a:r>
            <a:endParaRPr lang="en-US" sz="1200" dirty="0"/>
          </a:p>
        </p:txBody>
      </p:sp>
      <p:sp>
        <p:nvSpPr>
          <p:cNvPr id="33" name="Text 31"/>
          <p:cNvSpPr/>
          <p:nvPr/>
        </p:nvSpPr>
        <p:spPr>
          <a:xfrm>
            <a:off x="3182112" y="3721608"/>
            <a:ext cx="5550408" cy="347472"/>
          </a:xfrm>
          <a:prstGeom prst="rect">
            <a:avLst/>
          </a:prstGeom>
          <a:noFill/>
          <a:ln/>
        </p:spPr>
        <p:txBody>
          <a:bodyPr wrap="square" lIns="0" tIns="0" rIns="0" bIns="0" rtlCol="0" anchor="ctr"/>
          <a:lstStyle/>
          <a:p>
            <a:pPr indent="0" marL="0">
              <a:buNone/>
            </a:pPr>
            <a:r>
              <a:rPr lang="en-US" sz="950" dirty="0">
                <a:solidFill>
                  <a:srgbClr val="6C757D"/>
                </a:solidFill>
                <a:latin typeface="Calibri" pitchFamily="34" charset="0"/>
                <a:ea typeface="Calibri" pitchFamily="34" charset="-122"/>
                <a:cs typeface="Calibri" pitchFamily="34" charset="-120"/>
              </a:rPr>
              <a:t>Rural, critical access, and safety-net hospitals lack governance capacity. 250+ state AI bills. 82% of implementations hit HIPAA barriers. The AI digital divide is a real deployment barrier.</a:t>
            </a:r>
            <a:endParaRPr lang="en-US" sz="950" dirty="0"/>
          </a:p>
        </p:txBody>
      </p:sp>
      <p:sp>
        <p:nvSpPr>
          <p:cNvPr id="34" name="Text 32"/>
          <p:cNvSpPr/>
          <p:nvPr/>
        </p:nvSpPr>
        <p:spPr>
          <a:xfrm>
            <a:off x="320040" y="4700016"/>
            <a:ext cx="8503920" cy="164592"/>
          </a:xfrm>
          <a:prstGeom prst="rect">
            <a:avLst/>
          </a:prstGeom>
          <a:noFill/>
          <a:ln/>
        </p:spPr>
        <p:txBody>
          <a:bodyPr wrap="square" lIns="0" tIns="0" rIns="0" bIns="0" rtlCol="0" anchor="ctr"/>
          <a:lstStyle/>
          <a:p>
            <a:pPr indent="0" marL="0">
              <a:buNone/>
            </a:pPr>
            <a:r>
              <a:rPr lang="en-US" sz="750" i="1" dirty="0">
                <a:solidFill>
                  <a:srgbClr val="6C757D"/>
                </a:solidFill>
                <a:latin typeface="Calibri" pitchFamily="34" charset="0"/>
                <a:ea typeface="Calibri" pitchFamily="34" charset="-122"/>
                <a:cs typeface="Calibri" pitchFamily="34" charset="-120"/>
              </a:rPr>
              <a:t>Sources: AHA Letter to FDA Dec 2025, ICON plc, DemandSage, NVIDIA Health AI Report 2025, IJTMH 2026, Paubox 2026</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320040" y="201168"/>
            <a:ext cx="347472" cy="347472"/>
          </a:xfrm>
          <a:prstGeom prst="rect">
            <a:avLst/>
          </a:prstGeom>
          <a:solidFill>
            <a:srgbClr val="0B7285"/>
          </a:solidFill>
          <a:ln w="12700">
            <a:solidFill>
              <a:srgbClr val="0B7285"/>
            </a:solidFill>
            <a:prstDash val="solid"/>
          </a:ln>
        </p:spPr>
      </p:sp>
      <p:sp>
        <p:nvSpPr>
          <p:cNvPr id="3" name="Text 1"/>
          <p:cNvSpPr/>
          <p:nvPr/>
        </p:nvSpPr>
        <p:spPr>
          <a:xfrm>
            <a:off x="320040" y="201168"/>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06</a:t>
            </a:r>
            <a:endParaRPr lang="en-US" sz="1400" dirty="0"/>
          </a:p>
        </p:txBody>
      </p:sp>
      <p:sp>
        <p:nvSpPr>
          <p:cNvPr id="4" name="Text 2"/>
          <p:cNvSpPr/>
          <p:nvPr/>
        </p:nvSpPr>
        <p:spPr>
          <a:xfrm>
            <a:off x="749808" y="219456"/>
            <a:ext cx="4572000" cy="310896"/>
          </a:xfrm>
          <a:prstGeom prst="rect">
            <a:avLst/>
          </a:prstGeom>
          <a:noFill/>
          <a:ln/>
        </p:spPr>
        <p:txBody>
          <a:bodyPr wrap="square" lIns="0" tIns="0" rIns="0" bIns="0" rtlCol="0" anchor="ctr"/>
          <a:lstStyle/>
          <a:p>
            <a:pPr indent="0" marL="0">
              <a:buNone/>
            </a:pPr>
            <a:r>
              <a:rPr lang="en-US" sz="1100" spc="100" kern="0" dirty="0">
                <a:solidFill>
                  <a:srgbClr val="0B7285"/>
                </a:solidFill>
                <a:latin typeface="Calibri" pitchFamily="34" charset="0"/>
                <a:ea typeface="Calibri" pitchFamily="34" charset="-122"/>
                <a:cs typeface="Calibri" pitchFamily="34" charset="-120"/>
              </a:rPr>
              <a:t>THE VISION</a:t>
            </a:r>
            <a:endParaRPr lang="en-US" sz="1100" dirty="0"/>
          </a:p>
        </p:txBody>
      </p:sp>
      <p:sp>
        <p:nvSpPr>
          <p:cNvPr id="5" name="Shape 3"/>
          <p:cNvSpPr/>
          <p:nvPr/>
        </p:nvSpPr>
        <p:spPr>
          <a:xfrm>
            <a:off x="0" y="4910328"/>
            <a:ext cx="9144000" cy="233172"/>
          </a:xfrm>
          <a:prstGeom prst="rect">
            <a:avLst/>
          </a:prstGeom>
          <a:solidFill>
            <a:srgbClr val="0D1F3C"/>
          </a:solidFill>
          <a:ln w="12700">
            <a:solidFill>
              <a:srgbClr val="0D1F3C"/>
            </a:solidFill>
            <a:prstDash val="solid"/>
          </a:ln>
        </p:spPr>
      </p:sp>
      <p:sp>
        <p:nvSpPr>
          <p:cNvPr id="6" name="Text 4"/>
          <p:cNvSpPr/>
          <p:nvPr/>
        </p:nvSpPr>
        <p:spPr>
          <a:xfrm>
            <a:off x="320040" y="4910328"/>
            <a:ext cx="7863840" cy="233172"/>
          </a:xfrm>
          <a:prstGeom prst="rect">
            <a:avLst/>
          </a:prstGeom>
          <a:noFill/>
          <a:ln/>
        </p:spPr>
        <p:txBody>
          <a:bodyPr wrap="square" lIns="0" tIns="0" rIns="0" bIns="0"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AI in Healthcare &amp; Life Sciences  |  MIT AI Executive Academy  |  Capstone 2026  |  CONFIDENTIAL</a:t>
            </a:r>
            <a:endParaRPr lang="en-US" sz="800" dirty="0"/>
          </a:p>
        </p:txBody>
      </p:sp>
      <p:sp>
        <p:nvSpPr>
          <p:cNvPr id="7" name="Text 5"/>
          <p:cNvSpPr/>
          <p:nvPr/>
        </p:nvSpPr>
        <p:spPr>
          <a:xfrm>
            <a:off x="8412480" y="4910328"/>
            <a:ext cx="594360" cy="233172"/>
          </a:xfrm>
          <a:prstGeom prst="rect">
            <a:avLst/>
          </a:prstGeom>
          <a:noFill/>
          <a:ln/>
        </p:spPr>
        <p:txBody>
          <a:bodyPr wrap="square" lIns="0" tIns="0" rIns="0" bIns="0" rtlCol="0" anchor="ctr"/>
          <a:lstStyle/>
          <a:p>
            <a:pPr algn="r" indent="0" marL="0">
              <a:buNone/>
            </a:pPr>
            <a:r>
              <a:rPr lang="en-US" sz="800" dirty="0">
                <a:solidFill>
                  <a:srgbClr val="FFFFFF"/>
                </a:solidFill>
                <a:latin typeface="Calibri" pitchFamily="34" charset="0"/>
                <a:ea typeface="Calibri" pitchFamily="34" charset="-122"/>
                <a:cs typeface="Calibri" pitchFamily="34" charset="-120"/>
              </a:rPr>
              <a:t>8 / 11</a:t>
            </a:r>
            <a:endParaRPr lang="en-US" sz="800" dirty="0"/>
          </a:p>
        </p:txBody>
      </p:sp>
      <p:sp>
        <p:nvSpPr>
          <p:cNvPr id="8" name="Text 6"/>
          <p:cNvSpPr/>
          <p:nvPr/>
        </p:nvSpPr>
        <p:spPr>
          <a:xfrm>
            <a:off x="320040" y="621792"/>
            <a:ext cx="8503920" cy="457200"/>
          </a:xfrm>
          <a:prstGeom prst="rect">
            <a:avLst/>
          </a:prstGeom>
          <a:noFill/>
          <a:ln/>
        </p:spPr>
        <p:txBody>
          <a:bodyPr wrap="square" lIns="0" tIns="0" rIns="0" bIns="0" rtlCol="0" anchor="ctr"/>
          <a:lstStyle/>
          <a:p>
            <a:pPr algn="l" indent="0" marL="0">
              <a:buNone/>
            </a:pPr>
            <a:r>
              <a:rPr lang="en-US" sz="2400" b="1" dirty="0">
                <a:solidFill>
                  <a:srgbClr val="0D1F3C"/>
                </a:solidFill>
                <a:latin typeface="Calibri" pitchFamily="34" charset="0"/>
                <a:ea typeface="Calibri" pitchFamily="34" charset="-122"/>
                <a:cs typeface="Calibri" pitchFamily="34" charset="-120"/>
              </a:rPr>
              <a:t>Building AI-Native from Scratch: What Would You Create?</a:t>
            </a:r>
            <a:endParaRPr lang="en-US" sz="2400" dirty="0"/>
          </a:p>
        </p:txBody>
      </p:sp>
      <p:sp>
        <p:nvSpPr>
          <p:cNvPr id="9" name="Shape 7"/>
          <p:cNvSpPr/>
          <p:nvPr/>
        </p:nvSpPr>
        <p:spPr>
          <a:xfrm>
            <a:off x="320040" y="1188720"/>
            <a:ext cx="2286000" cy="292608"/>
          </a:xfrm>
          <a:prstGeom prst="rect">
            <a:avLst/>
          </a:prstGeom>
          <a:solidFill>
            <a:srgbClr val="0D1F3C"/>
          </a:solidFill>
          <a:ln w="12700">
            <a:solidFill>
              <a:srgbClr val="0D1F3C"/>
            </a:solidFill>
            <a:prstDash val="solid"/>
          </a:ln>
        </p:spPr>
      </p:sp>
      <p:sp>
        <p:nvSpPr>
          <p:cNvPr id="10" name="Text 8"/>
          <p:cNvSpPr/>
          <p:nvPr/>
        </p:nvSpPr>
        <p:spPr>
          <a:xfrm>
            <a:off x="320040" y="1188720"/>
            <a:ext cx="228600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DIMENSION</a:t>
            </a:r>
            <a:endParaRPr lang="en-US" sz="1000" dirty="0"/>
          </a:p>
        </p:txBody>
      </p:sp>
      <p:sp>
        <p:nvSpPr>
          <p:cNvPr id="11" name="Shape 9"/>
          <p:cNvSpPr/>
          <p:nvPr/>
        </p:nvSpPr>
        <p:spPr>
          <a:xfrm>
            <a:off x="2670048" y="1188720"/>
            <a:ext cx="2834640" cy="292608"/>
          </a:xfrm>
          <a:prstGeom prst="rect">
            <a:avLst/>
          </a:prstGeom>
          <a:solidFill>
            <a:srgbClr val="6C757D"/>
          </a:solidFill>
          <a:ln w="12700">
            <a:solidFill>
              <a:srgbClr val="6C757D"/>
            </a:solidFill>
            <a:prstDash val="solid"/>
          </a:ln>
        </p:spPr>
      </p:sp>
      <p:sp>
        <p:nvSpPr>
          <p:cNvPr id="12" name="Text 10"/>
          <p:cNvSpPr/>
          <p:nvPr/>
        </p:nvSpPr>
        <p:spPr>
          <a:xfrm>
            <a:off x="2670048" y="1188720"/>
            <a:ext cx="28346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INCUMBENT</a:t>
            </a:r>
            <a:endParaRPr lang="en-US" sz="1000" dirty="0"/>
          </a:p>
        </p:txBody>
      </p:sp>
      <p:sp>
        <p:nvSpPr>
          <p:cNvPr id="13" name="Shape 11"/>
          <p:cNvSpPr/>
          <p:nvPr/>
        </p:nvSpPr>
        <p:spPr>
          <a:xfrm>
            <a:off x="5577840" y="1188720"/>
            <a:ext cx="3246120" cy="292608"/>
          </a:xfrm>
          <a:prstGeom prst="rect">
            <a:avLst/>
          </a:prstGeom>
          <a:solidFill>
            <a:srgbClr val="0B7285"/>
          </a:solidFill>
          <a:ln w="12700">
            <a:solidFill>
              <a:srgbClr val="0B7285"/>
            </a:solidFill>
            <a:prstDash val="solid"/>
          </a:ln>
        </p:spPr>
      </p:sp>
      <p:sp>
        <p:nvSpPr>
          <p:cNvPr id="14" name="Text 12"/>
          <p:cNvSpPr/>
          <p:nvPr/>
        </p:nvSpPr>
        <p:spPr>
          <a:xfrm>
            <a:off x="5577840" y="1188720"/>
            <a:ext cx="32461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AI-NATIVE ORG</a:t>
            </a:r>
            <a:endParaRPr lang="en-US" sz="1000" dirty="0"/>
          </a:p>
        </p:txBody>
      </p:sp>
      <p:sp>
        <p:nvSpPr>
          <p:cNvPr id="15" name="Shape 13"/>
          <p:cNvSpPr/>
          <p:nvPr/>
        </p:nvSpPr>
        <p:spPr>
          <a:xfrm>
            <a:off x="320040" y="1554480"/>
            <a:ext cx="2286000" cy="438912"/>
          </a:xfrm>
          <a:prstGeom prst="rect">
            <a:avLst/>
          </a:prstGeom>
          <a:solidFill>
            <a:srgbClr val="FFFFFF"/>
          </a:solidFill>
          <a:ln w="12700">
            <a:solidFill>
              <a:srgbClr val="CED4DA"/>
            </a:solidFill>
            <a:prstDash val="solid"/>
          </a:ln>
        </p:spPr>
      </p:sp>
      <p:sp>
        <p:nvSpPr>
          <p:cNvPr id="16" name="Text 14"/>
          <p:cNvSpPr/>
          <p:nvPr/>
        </p:nvSpPr>
        <p:spPr>
          <a:xfrm>
            <a:off x="411480" y="1554480"/>
            <a:ext cx="2148840" cy="438912"/>
          </a:xfrm>
          <a:prstGeom prst="rect">
            <a:avLst/>
          </a:prstGeom>
          <a:noFill/>
          <a:ln/>
        </p:spPr>
        <p:txBody>
          <a:bodyPr wrap="square" lIns="0" tIns="0" rIns="0" bIns="0" rtlCol="0" anchor="ctr"/>
          <a:lstStyle/>
          <a:p>
            <a:pPr indent="0" marL="0">
              <a:buNone/>
            </a:pPr>
            <a:r>
              <a:rPr lang="en-US" sz="1100" b="1" dirty="0">
                <a:solidFill>
                  <a:srgbClr val="0D1F3C"/>
                </a:solidFill>
                <a:latin typeface="Calibri" pitchFamily="34" charset="0"/>
                <a:ea typeface="Calibri" pitchFamily="34" charset="-122"/>
                <a:cs typeface="Calibri" pitchFamily="34" charset="-120"/>
              </a:rPr>
              <a:t>Drug Discovery</a:t>
            </a:r>
            <a:endParaRPr lang="en-US" sz="1100" dirty="0"/>
          </a:p>
        </p:txBody>
      </p:sp>
      <p:sp>
        <p:nvSpPr>
          <p:cNvPr id="17" name="Shape 15"/>
          <p:cNvSpPr/>
          <p:nvPr/>
        </p:nvSpPr>
        <p:spPr>
          <a:xfrm>
            <a:off x="2670048" y="1554480"/>
            <a:ext cx="2834640" cy="438912"/>
          </a:xfrm>
          <a:prstGeom prst="rect">
            <a:avLst/>
          </a:prstGeom>
          <a:solidFill>
            <a:srgbClr val="FFFFFF"/>
          </a:solidFill>
          <a:ln w="12700">
            <a:solidFill>
              <a:srgbClr val="CED4DA"/>
            </a:solidFill>
            <a:prstDash val="solid"/>
          </a:ln>
        </p:spPr>
      </p:sp>
      <p:sp>
        <p:nvSpPr>
          <p:cNvPr id="18" name="Text 16"/>
          <p:cNvSpPr/>
          <p:nvPr/>
        </p:nvSpPr>
        <p:spPr>
          <a:xfrm>
            <a:off x="2743200" y="1554480"/>
            <a:ext cx="2706624" cy="438912"/>
          </a:xfrm>
          <a:prstGeom prst="rect">
            <a:avLst/>
          </a:prstGeom>
          <a:noFill/>
          <a:ln/>
        </p:spPr>
        <p:txBody>
          <a:bodyPr wrap="square" lIns="0" tIns="0" rIns="0" bIns="0" rtlCol="0" anchor="ctr"/>
          <a:lstStyle/>
          <a:p>
            <a:pPr indent="0" marL="0">
              <a:buNone/>
            </a:pPr>
            <a:r>
              <a:rPr lang="en-US" sz="1000" dirty="0">
                <a:solidFill>
                  <a:srgbClr val="6C757D"/>
                </a:solidFill>
                <a:latin typeface="Calibri" pitchFamily="34" charset="0"/>
                <a:ea typeface="Calibri" pitchFamily="34" charset="-122"/>
                <a:cs typeface="Calibri" pitchFamily="34" charset="-120"/>
              </a:rPr>
              <a:t>Lab-led, sequential phases</a:t>
            </a:r>
            <a:endParaRPr lang="en-US" sz="1000" dirty="0"/>
          </a:p>
        </p:txBody>
      </p:sp>
      <p:sp>
        <p:nvSpPr>
          <p:cNvPr id="19" name="Shape 17"/>
          <p:cNvSpPr/>
          <p:nvPr/>
        </p:nvSpPr>
        <p:spPr>
          <a:xfrm>
            <a:off x="5577840" y="1554480"/>
            <a:ext cx="3246120" cy="438912"/>
          </a:xfrm>
          <a:prstGeom prst="rect">
            <a:avLst/>
          </a:prstGeom>
          <a:solidFill>
            <a:srgbClr val="FFFFFF"/>
          </a:solidFill>
          <a:ln w="12700">
            <a:solidFill>
              <a:srgbClr val="CED4DA"/>
            </a:solidFill>
            <a:prstDash val="solid"/>
          </a:ln>
        </p:spPr>
      </p:sp>
      <p:sp>
        <p:nvSpPr>
          <p:cNvPr id="20" name="Text 18"/>
          <p:cNvSpPr/>
          <p:nvPr/>
        </p:nvSpPr>
        <p:spPr>
          <a:xfrm>
            <a:off x="5669280" y="1554480"/>
            <a:ext cx="3108960" cy="438912"/>
          </a:xfrm>
          <a:prstGeom prst="rect">
            <a:avLst/>
          </a:prstGeom>
          <a:noFill/>
          <a:ln/>
        </p:spPr>
        <p:txBody>
          <a:bodyPr wrap="square" lIns="0" tIns="0" rIns="0" bIns="0" rtlCol="0" anchor="ctr"/>
          <a:lstStyle/>
          <a:p>
            <a:pPr indent="0" marL="0">
              <a:buNone/>
            </a:pPr>
            <a:r>
              <a:rPr lang="en-US" sz="1000" b="1" dirty="0">
                <a:solidFill>
                  <a:srgbClr val="0B7285"/>
                </a:solidFill>
                <a:latin typeface="Calibri" pitchFamily="34" charset="0"/>
                <a:ea typeface="Calibri" pitchFamily="34" charset="-122"/>
                <a:cs typeface="Calibri" pitchFamily="34" charset="-120"/>
              </a:rPr>
              <a:t>AI-first hypotheses, continuous learning loops</a:t>
            </a:r>
            <a:endParaRPr lang="en-US" sz="1000" dirty="0"/>
          </a:p>
        </p:txBody>
      </p:sp>
      <p:sp>
        <p:nvSpPr>
          <p:cNvPr id="21" name="Shape 19"/>
          <p:cNvSpPr/>
          <p:nvPr/>
        </p:nvSpPr>
        <p:spPr>
          <a:xfrm>
            <a:off x="320040" y="2048256"/>
            <a:ext cx="2286000" cy="438912"/>
          </a:xfrm>
          <a:prstGeom prst="rect">
            <a:avLst/>
          </a:prstGeom>
          <a:solidFill>
            <a:srgbClr val="EEF2F7"/>
          </a:solidFill>
          <a:ln w="12700">
            <a:solidFill>
              <a:srgbClr val="CED4DA"/>
            </a:solidFill>
            <a:prstDash val="solid"/>
          </a:ln>
        </p:spPr>
      </p:sp>
      <p:sp>
        <p:nvSpPr>
          <p:cNvPr id="22" name="Text 20"/>
          <p:cNvSpPr/>
          <p:nvPr/>
        </p:nvSpPr>
        <p:spPr>
          <a:xfrm>
            <a:off x="411480" y="2048256"/>
            <a:ext cx="2148840" cy="438912"/>
          </a:xfrm>
          <a:prstGeom prst="rect">
            <a:avLst/>
          </a:prstGeom>
          <a:noFill/>
          <a:ln/>
        </p:spPr>
        <p:txBody>
          <a:bodyPr wrap="square" lIns="0" tIns="0" rIns="0" bIns="0" rtlCol="0" anchor="ctr"/>
          <a:lstStyle/>
          <a:p>
            <a:pPr indent="0" marL="0">
              <a:buNone/>
            </a:pPr>
            <a:r>
              <a:rPr lang="en-US" sz="1100" b="1" dirty="0">
                <a:solidFill>
                  <a:srgbClr val="0D1F3C"/>
                </a:solidFill>
                <a:latin typeface="Calibri" pitchFamily="34" charset="0"/>
                <a:ea typeface="Calibri" pitchFamily="34" charset="-122"/>
                <a:cs typeface="Calibri" pitchFamily="34" charset="-120"/>
              </a:rPr>
              <a:t>Clinical Evidence</a:t>
            </a:r>
            <a:endParaRPr lang="en-US" sz="1100" dirty="0"/>
          </a:p>
        </p:txBody>
      </p:sp>
      <p:sp>
        <p:nvSpPr>
          <p:cNvPr id="23" name="Shape 21"/>
          <p:cNvSpPr/>
          <p:nvPr/>
        </p:nvSpPr>
        <p:spPr>
          <a:xfrm>
            <a:off x="2670048" y="2048256"/>
            <a:ext cx="2834640" cy="438912"/>
          </a:xfrm>
          <a:prstGeom prst="rect">
            <a:avLst/>
          </a:prstGeom>
          <a:solidFill>
            <a:srgbClr val="EEF2F7"/>
          </a:solidFill>
          <a:ln w="12700">
            <a:solidFill>
              <a:srgbClr val="CED4DA"/>
            </a:solidFill>
            <a:prstDash val="solid"/>
          </a:ln>
        </p:spPr>
      </p:sp>
      <p:sp>
        <p:nvSpPr>
          <p:cNvPr id="24" name="Text 22"/>
          <p:cNvSpPr/>
          <p:nvPr/>
        </p:nvSpPr>
        <p:spPr>
          <a:xfrm>
            <a:off x="2743200" y="2048256"/>
            <a:ext cx="2706624" cy="438912"/>
          </a:xfrm>
          <a:prstGeom prst="rect">
            <a:avLst/>
          </a:prstGeom>
          <a:noFill/>
          <a:ln/>
        </p:spPr>
        <p:txBody>
          <a:bodyPr wrap="square" lIns="0" tIns="0" rIns="0" bIns="0" rtlCol="0" anchor="ctr"/>
          <a:lstStyle/>
          <a:p>
            <a:pPr indent="0" marL="0">
              <a:buNone/>
            </a:pPr>
            <a:r>
              <a:rPr lang="en-US" sz="1000" dirty="0">
                <a:solidFill>
                  <a:srgbClr val="6C757D"/>
                </a:solidFill>
                <a:latin typeface="Calibri" pitchFamily="34" charset="0"/>
                <a:ea typeface="Calibri" pitchFamily="34" charset="-122"/>
                <a:cs typeface="Calibri" pitchFamily="34" charset="-120"/>
              </a:rPr>
              <a:t>Periodic RCTs</a:t>
            </a:r>
            <a:endParaRPr lang="en-US" sz="1000" dirty="0"/>
          </a:p>
        </p:txBody>
      </p:sp>
      <p:sp>
        <p:nvSpPr>
          <p:cNvPr id="25" name="Shape 23"/>
          <p:cNvSpPr/>
          <p:nvPr/>
        </p:nvSpPr>
        <p:spPr>
          <a:xfrm>
            <a:off x="5577840" y="2048256"/>
            <a:ext cx="3246120" cy="438912"/>
          </a:xfrm>
          <a:prstGeom prst="rect">
            <a:avLst/>
          </a:prstGeom>
          <a:solidFill>
            <a:srgbClr val="EEF2F7"/>
          </a:solidFill>
          <a:ln w="12700">
            <a:solidFill>
              <a:srgbClr val="CED4DA"/>
            </a:solidFill>
            <a:prstDash val="solid"/>
          </a:ln>
        </p:spPr>
      </p:sp>
      <p:sp>
        <p:nvSpPr>
          <p:cNvPr id="26" name="Text 24"/>
          <p:cNvSpPr/>
          <p:nvPr/>
        </p:nvSpPr>
        <p:spPr>
          <a:xfrm>
            <a:off x="5669280" y="2048256"/>
            <a:ext cx="3108960" cy="438912"/>
          </a:xfrm>
          <a:prstGeom prst="rect">
            <a:avLst/>
          </a:prstGeom>
          <a:noFill/>
          <a:ln/>
        </p:spPr>
        <p:txBody>
          <a:bodyPr wrap="square" lIns="0" tIns="0" rIns="0" bIns="0" rtlCol="0" anchor="ctr"/>
          <a:lstStyle/>
          <a:p>
            <a:pPr indent="0" marL="0">
              <a:buNone/>
            </a:pPr>
            <a:r>
              <a:rPr lang="en-US" sz="1000" b="1" dirty="0">
                <a:solidFill>
                  <a:srgbClr val="0B7285"/>
                </a:solidFill>
                <a:latin typeface="Calibri" pitchFamily="34" charset="0"/>
                <a:ea typeface="Calibri" pitchFamily="34" charset="-122"/>
                <a:cs typeface="Calibri" pitchFamily="34" charset="-120"/>
              </a:rPr>
              <a:t>Continuous real-world evidence capture</a:t>
            </a:r>
            <a:endParaRPr lang="en-US" sz="1000" dirty="0"/>
          </a:p>
        </p:txBody>
      </p:sp>
      <p:sp>
        <p:nvSpPr>
          <p:cNvPr id="27" name="Shape 25"/>
          <p:cNvSpPr/>
          <p:nvPr/>
        </p:nvSpPr>
        <p:spPr>
          <a:xfrm>
            <a:off x="320040" y="2542032"/>
            <a:ext cx="2286000" cy="438912"/>
          </a:xfrm>
          <a:prstGeom prst="rect">
            <a:avLst/>
          </a:prstGeom>
          <a:solidFill>
            <a:srgbClr val="FFFFFF"/>
          </a:solidFill>
          <a:ln w="12700">
            <a:solidFill>
              <a:srgbClr val="CED4DA"/>
            </a:solidFill>
            <a:prstDash val="solid"/>
          </a:ln>
        </p:spPr>
      </p:sp>
      <p:sp>
        <p:nvSpPr>
          <p:cNvPr id="28" name="Text 26"/>
          <p:cNvSpPr/>
          <p:nvPr/>
        </p:nvSpPr>
        <p:spPr>
          <a:xfrm>
            <a:off x="411480" y="2542032"/>
            <a:ext cx="2148840" cy="438912"/>
          </a:xfrm>
          <a:prstGeom prst="rect">
            <a:avLst/>
          </a:prstGeom>
          <a:noFill/>
          <a:ln/>
        </p:spPr>
        <p:txBody>
          <a:bodyPr wrap="square" lIns="0" tIns="0" rIns="0" bIns="0" rtlCol="0" anchor="ctr"/>
          <a:lstStyle/>
          <a:p>
            <a:pPr indent="0" marL="0">
              <a:buNone/>
            </a:pPr>
            <a:r>
              <a:rPr lang="en-US" sz="1100" b="1" dirty="0">
                <a:solidFill>
                  <a:srgbClr val="0D1F3C"/>
                </a:solidFill>
                <a:latin typeface="Calibri" pitchFamily="34" charset="0"/>
                <a:ea typeface="Calibri" pitchFamily="34" charset="-122"/>
                <a:cs typeface="Calibri" pitchFamily="34" charset="-120"/>
              </a:rPr>
              <a:t>Regulatory Submissions</a:t>
            </a:r>
            <a:endParaRPr lang="en-US" sz="1100" dirty="0"/>
          </a:p>
        </p:txBody>
      </p:sp>
      <p:sp>
        <p:nvSpPr>
          <p:cNvPr id="29" name="Shape 27"/>
          <p:cNvSpPr/>
          <p:nvPr/>
        </p:nvSpPr>
        <p:spPr>
          <a:xfrm>
            <a:off x="2670048" y="2542032"/>
            <a:ext cx="2834640" cy="438912"/>
          </a:xfrm>
          <a:prstGeom prst="rect">
            <a:avLst/>
          </a:prstGeom>
          <a:solidFill>
            <a:srgbClr val="FFFFFF"/>
          </a:solidFill>
          <a:ln w="12700">
            <a:solidFill>
              <a:srgbClr val="CED4DA"/>
            </a:solidFill>
            <a:prstDash val="solid"/>
          </a:ln>
        </p:spPr>
      </p:sp>
      <p:sp>
        <p:nvSpPr>
          <p:cNvPr id="30" name="Text 28"/>
          <p:cNvSpPr/>
          <p:nvPr/>
        </p:nvSpPr>
        <p:spPr>
          <a:xfrm>
            <a:off x="2743200" y="2542032"/>
            <a:ext cx="2706624" cy="438912"/>
          </a:xfrm>
          <a:prstGeom prst="rect">
            <a:avLst/>
          </a:prstGeom>
          <a:noFill/>
          <a:ln/>
        </p:spPr>
        <p:txBody>
          <a:bodyPr wrap="square" lIns="0" tIns="0" rIns="0" bIns="0" rtlCol="0" anchor="ctr"/>
          <a:lstStyle/>
          <a:p>
            <a:pPr indent="0" marL="0">
              <a:buNone/>
            </a:pPr>
            <a:r>
              <a:rPr lang="en-US" sz="1000" dirty="0">
                <a:solidFill>
                  <a:srgbClr val="6C757D"/>
                </a:solidFill>
                <a:latin typeface="Calibri" pitchFamily="34" charset="0"/>
                <a:ea typeface="Calibri" pitchFamily="34" charset="-122"/>
                <a:cs typeface="Calibri" pitchFamily="34" charset="-120"/>
              </a:rPr>
              <a:t>Manual, document-heavy</a:t>
            </a:r>
            <a:endParaRPr lang="en-US" sz="1000" dirty="0"/>
          </a:p>
        </p:txBody>
      </p:sp>
      <p:sp>
        <p:nvSpPr>
          <p:cNvPr id="31" name="Shape 29"/>
          <p:cNvSpPr/>
          <p:nvPr/>
        </p:nvSpPr>
        <p:spPr>
          <a:xfrm>
            <a:off x="5577840" y="2542032"/>
            <a:ext cx="3246120" cy="438912"/>
          </a:xfrm>
          <a:prstGeom prst="rect">
            <a:avLst/>
          </a:prstGeom>
          <a:solidFill>
            <a:srgbClr val="FFFFFF"/>
          </a:solidFill>
          <a:ln w="12700">
            <a:solidFill>
              <a:srgbClr val="CED4DA"/>
            </a:solidFill>
            <a:prstDash val="solid"/>
          </a:ln>
        </p:spPr>
      </p:sp>
      <p:sp>
        <p:nvSpPr>
          <p:cNvPr id="32" name="Text 30"/>
          <p:cNvSpPr/>
          <p:nvPr/>
        </p:nvSpPr>
        <p:spPr>
          <a:xfrm>
            <a:off x="5669280" y="2542032"/>
            <a:ext cx="3108960" cy="438912"/>
          </a:xfrm>
          <a:prstGeom prst="rect">
            <a:avLst/>
          </a:prstGeom>
          <a:noFill/>
          <a:ln/>
        </p:spPr>
        <p:txBody>
          <a:bodyPr wrap="square" lIns="0" tIns="0" rIns="0" bIns="0" rtlCol="0" anchor="ctr"/>
          <a:lstStyle/>
          <a:p>
            <a:pPr indent="0" marL="0">
              <a:buNone/>
            </a:pPr>
            <a:r>
              <a:rPr lang="en-US" sz="1000" b="1" dirty="0">
                <a:solidFill>
                  <a:srgbClr val="0B7285"/>
                </a:solidFill>
                <a:latin typeface="Calibri" pitchFamily="34" charset="0"/>
                <a:ea typeface="Calibri" pitchFamily="34" charset="-122"/>
                <a:cs typeface="Calibri" pitchFamily="34" charset="-120"/>
              </a:rPr>
              <a:t>AI-drafted, pre-validated vs. FDA guidance</a:t>
            </a:r>
            <a:endParaRPr lang="en-US" sz="1000" dirty="0"/>
          </a:p>
        </p:txBody>
      </p:sp>
      <p:sp>
        <p:nvSpPr>
          <p:cNvPr id="33" name="Shape 31"/>
          <p:cNvSpPr/>
          <p:nvPr/>
        </p:nvSpPr>
        <p:spPr>
          <a:xfrm>
            <a:off x="320040" y="3035808"/>
            <a:ext cx="2286000" cy="438912"/>
          </a:xfrm>
          <a:prstGeom prst="rect">
            <a:avLst/>
          </a:prstGeom>
          <a:solidFill>
            <a:srgbClr val="EEF2F7"/>
          </a:solidFill>
          <a:ln w="12700">
            <a:solidFill>
              <a:srgbClr val="CED4DA"/>
            </a:solidFill>
            <a:prstDash val="solid"/>
          </a:ln>
        </p:spPr>
      </p:sp>
      <p:sp>
        <p:nvSpPr>
          <p:cNvPr id="34" name="Text 32"/>
          <p:cNvSpPr/>
          <p:nvPr/>
        </p:nvSpPr>
        <p:spPr>
          <a:xfrm>
            <a:off x="411480" y="3035808"/>
            <a:ext cx="2148840" cy="438912"/>
          </a:xfrm>
          <a:prstGeom prst="rect">
            <a:avLst/>
          </a:prstGeom>
          <a:noFill/>
          <a:ln/>
        </p:spPr>
        <p:txBody>
          <a:bodyPr wrap="square" lIns="0" tIns="0" rIns="0" bIns="0" rtlCol="0" anchor="ctr"/>
          <a:lstStyle/>
          <a:p>
            <a:pPr indent="0" marL="0">
              <a:buNone/>
            </a:pPr>
            <a:r>
              <a:rPr lang="en-US" sz="1100" b="1" dirty="0">
                <a:solidFill>
                  <a:srgbClr val="0D1F3C"/>
                </a:solidFill>
                <a:latin typeface="Calibri" pitchFamily="34" charset="0"/>
                <a:ea typeface="Calibri" pitchFamily="34" charset="-122"/>
                <a:cs typeface="Calibri" pitchFamily="34" charset="-120"/>
              </a:rPr>
              <a:t>Care Delivery</a:t>
            </a:r>
            <a:endParaRPr lang="en-US" sz="1100" dirty="0"/>
          </a:p>
        </p:txBody>
      </p:sp>
      <p:sp>
        <p:nvSpPr>
          <p:cNvPr id="35" name="Shape 33"/>
          <p:cNvSpPr/>
          <p:nvPr/>
        </p:nvSpPr>
        <p:spPr>
          <a:xfrm>
            <a:off x="2670048" y="3035808"/>
            <a:ext cx="2834640" cy="438912"/>
          </a:xfrm>
          <a:prstGeom prst="rect">
            <a:avLst/>
          </a:prstGeom>
          <a:solidFill>
            <a:srgbClr val="EEF2F7"/>
          </a:solidFill>
          <a:ln w="12700">
            <a:solidFill>
              <a:srgbClr val="CED4DA"/>
            </a:solidFill>
            <a:prstDash val="solid"/>
          </a:ln>
        </p:spPr>
      </p:sp>
      <p:sp>
        <p:nvSpPr>
          <p:cNvPr id="36" name="Text 34"/>
          <p:cNvSpPr/>
          <p:nvPr/>
        </p:nvSpPr>
        <p:spPr>
          <a:xfrm>
            <a:off x="2743200" y="3035808"/>
            <a:ext cx="2706624" cy="438912"/>
          </a:xfrm>
          <a:prstGeom prst="rect">
            <a:avLst/>
          </a:prstGeom>
          <a:noFill/>
          <a:ln/>
        </p:spPr>
        <p:txBody>
          <a:bodyPr wrap="square" lIns="0" tIns="0" rIns="0" bIns="0" rtlCol="0" anchor="ctr"/>
          <a:lstStyle/>
          <a:p>
            <a:pPr indent="0" marL="0">
              <a:buNone/>
            </a:pPr>
            <a:r>
              <a:rPr lang="en-US" sz="1000" dirty="0">
                <a:solidFill>
                  <a:srgbClr val="6C757D"/>
                </a:solidFill>
                <a:latin typeface="Calibri" pitchFamily="34" charset="0"/>
                <a:ea typeface="Calibri" pitchFamily="34" charset="-122"/>
                <a:cs typeface="Calibri" pitchFamily="34" charset="-120"/>
              </a:rPr>
              <a:t>Episode-based, reactive</a:t>
            </a:r>
            <a:endParaRPr lang="en-US" sz="1000" dirty="0"/>
          </a:p>
        </p:txBody>
      </p:sp>
      <p:sp>
        <p:nvSpPr>
          <p:cNvPr id="37" name="Shape 35"/>
          <p:cNvSpPr/>
          <p:nvPr/>
        </p:nvSpPr>
        <p:spPr>
          <a:xfrm>
            <a:off x="5577840" y="3035808"/>
            <a:ext cx="3246120" cy="438912"/>
          </a:xfrm>
          <a:prstGeom prst="rect">
            <a:avLst/>
          </a:prstGeom>
          <a:solidFill>
            <a:srgbClr val="EEF2F7"/>
          </a:solidFill>
          <a:ln w="12700">
            <a:solidFill>
              <a:srgbClr val="CED4DA"/>
            </a:solidFill>
            <a:prstDash val="solid"/>
          </a:ln>
        </p:spPr>
      </p:sp>
      <p:sp>
        <p:nvSpPr>
          <p:cNvPr id="38" name="Text 36"/>
          <p:cNvSpPr/>
          <p:nvPr/>
        </p:nvSpPr>
        <p:spPr>
          <a:xfrm>
            <a:off x="5669280" y="3035808"/>
            <a:ext cx="3108960" cy="438912"/>
          </a:xfrm>
          <a:prstGeom prst="rect">
            <a:avLst/>
          </a:prstGeom>
          <a:noFill/>
          <a:ln/>
        </p:spPr>
        <p:txBody>
          <a:bodyPr wrap="square" lIns="0" tIns="0" rIns="0" bIns="0" rtlCol="0" anchor="ctr"/>
          <a:lstStyle/>
          <a:p>
            <a:pPr indent="0" marL="0">
              <a:buNone/>
            </a:pPr>
            <a:r>
              <a:rPr lang="en-US" sz="1000" b="1" dirty="0">
                <a:solidFill>
                  <a:srgbClr val="0B7285"/>
                </a:solidFill>
                <a:latin typeface="Calibri" pitchFamily="34" charset="0"/>
                <a:ea typeface="Calibri" pitchFamily="34" charset="-122"/>
                <a:cs typeface="Calibri" pitchFamily="34" charset="-120"/>
              </a:rPr>
              <a:t>Predictive, preventive, personalized</a:t>
            </a:r>
            <a:endParaRPr lang="en-US" sz="1000" dirty="0"/>
          </a:p>
        </p:txBody>
      </p:sp>
      <p:sp>
        <p:nvSpPr>
          <p:cNvPr id="39" name="Shape 37"/>
          <p:cNvSpPr/>
          <p:nvPr/>
        </p:nvSpPr>
        <p:spPr>
          <a:xfrm>
            <a:off x="320040" y="3529584"/>
            <a:ext cx="2286000" cy="438912"/>
          </a:xfrm>
          <a:prstGeom prst="rect">
            <a:avLst/>
          </a:prstGeom>
          <a:solidFill>
            <a:srgbClr val="FFFFFF"/>
          </a:solidFill>
          <a:ln w="12700">
            <a:solidFill>
              <a:srgbClr val="CED4DA"/>
            </a:solidFill>
            <a:prstDash val="solid"/>
          </a:ln>
        </p:spPr>
      </p:sp>
      <p:sp>
        <p:nvSpPr>
          <p:cNvPr id="40" name="Text 38"/>
          <p:cNvSpPr/>
          <p:nvPr/>
        </p:nvSpPr>
        <p:spPr>
          <a:xfrm>
            <a:off x="411480" y="3529584"/>
            <a:ext cx="2148840" cy="438912"/>
          </a:xfrm>
          <a:prstGeom prst="rect">
            <a:avLst/>
          </a:prstGeom>
          <a:noFill/>
          <a:ln/>
        </p:spPr>
        <p:txBody>
          <a:bodyPr wrap="square" lIns="0" tIns="0" rIns="0" bIns="0" rtlCol="0" anchor="ctr"/>
          <a:lstStyle/>
          <a:p>
            <a:pPr indent="0" marL="0">
              <a:buNone/>
            </a:pPr>
            <a:r>
              <a:rPr lang="en-US" sz="1100" b="1" dirty="0">
                <a:solidFill>
                  <a:srgbClr val="0D1F3C"/>
                </a:solidFill>
                <a:latin typeface="Calibri" pitchFamily="34" charset="0"/>
                <a:ea typeface="Calibri" pitchFamily="34" charset="-122"/>
                <a:cs typeface="Calibri" pitchFamily="34" charset="-120"/>
              </a:rPr>
              <a:t>Revenue Model</a:t>
            </a:r>
            <a:endParaRPr lang="en-US" sz="1100" dirty="0"/>
          </a:p>
        </p:txBody>
      </p:sp>
      <p:sp>
        <p:nvSpPr>
          <p:cNvPr id="41" name="Shape 39"/>
          <p:cNvSpPr/>
          <p:nvPr/>
        </p:nvSpPr>
        <p:spPr>
          <a:xfrm>
            <a:off x="2670048" y="3529584"/>
            <a:ext cx="2834640" cy="438912"/>
          </a:xfrm>
          <a:prstGeom prst="rect">
            <a:avLst/>
          </a:prstGeom>
          <a:solidFill>
            <a:srgbClr val="FFFFFF"/>
          </a:solidFill>
          <a:ln w="12700">
            <a:solidFill>
              <a:srgbClr val="CED4DA"/>
            </a:solidFill>
            <a:prstDash val="solid"/>
          </a:ln>
        </p:spPr>
      </p:sp>
      <p:sp>
        <p:nvSpPr>
          <p:cNvPr id="42" name="Text 40"/>
          <p:cNvSpPr/>
          <p:nvPr/>
        </p:nvSpPr>
        <p:spPr>
          <a:xfrm>
            <a:off x="2743200" y="3529584"/>
            <a:ext cx="2706624" cy="438912"/>
          </a:xfrm>
          <a:prstGeom prst="rect">
            <a:avLst/>
          </a:prstGeom>
          <a:noFill/>
          <a:ln/>
        </p:spPr>
        <p:txBody>
          <a:bodyPr wrap="square" lIns="0" tIns="0" rIns="0" bIns="0" rtlCol="0" anchor="ctr"/>
          <a:lstStyle/>
          <a:p>
            <a:pPr indent="0" marL="0">
              <a:buNone/>
            </a:pPr>
            <a:r>
              <a:rPr lang="en-US" sz="1000" dirty="0">
                <a:solidFill>
                  <a:srgbClr val="6C757D"/>
                </a:solidFill>
                <a:latin typeface="Calibri" pitchFamily="34" charset="0"/>
                <a:ea typeface="Calibri" pitchFamily="34" charset="-122"/>
                <a:cs typeface="Calibri" pitchFamily="34" charset="-120"/>
              </a:rPr>
              <a:t>Fee-for-service</a:t>
            </a:r>
            <a:endParaRPr lang="en-US" sz="1000" dirty="0"/>
          </a:p>
        </p:txBody>
      </p:sp>
      <p:sp>
        <p:nvSpPr>
          <p:cNvPr id="43" name="Shape 41"/>
          <p:cNvSpPr/>
          <p:nvPr/>
        </p:nvSpPr>
        <p:spPr>
          <a:xfrm>
            <a:off x="5577840" y="3529584"/>
            <a:ext cx="3246120" cy="438912"/>
          </a:xfrm>
          <a:prstGeom prst="rect">
            <a:avLst/>
          </a:prstGeom>
          <a:solidFill>
            <a:srgbClr val="FFFFFF"/>
          </a:solidFill>
          <a:ln w="12700">
            <a:solidFill>
              <a:srgbClr val="CED4DA"/>
            </a:solidFill>
            <a:prstDash val="solid"/>
          </a:ln>
        </p:spPr>
      </p:sp>
      <p:sp>
        <p:nvSpPr>
          <p:cNvPr id="44" name="Text 42"/>
          <p:cNvSpPr/>
          <p:nvPr/>
        </p:nvSpPr>
        <p:spPr>
          <a:xfrm>
            <a:off x="5669280" y="3529584"/>
            <a:ext cx="3108960" cy="438912"/>
          </a:xfrm>
          <a:prstGeom prst="rect">
            <a:avLst/>
          </a:prstGeom>
          <a:noFill/>
          <a:ln/>
        </p:spPr>
        <p:txBody>
          <a:bodyPr wrap="square" lIns="0" tIns="0" rIns="0" bIns="0" rtlCol="0" anchor="ctr"/>
          <a:lstStyle/>
          <a:p>
            <a:pPr indent="0" marL="0">
              <a:buNone/>
            </a:pPr>
            <a:r>
              <a:rPr lang="en-US" sz="1000" b="1" dirty="0">
                <a:solidFill>
                  <a:srgbClr val="0B7285"/>
                </a:solidFill>
                <a:latin typeface="Calibri" pitchFamily="34" charset="0"/>
                <a:ea typeface="Calibri" pitchFamily="34" charset="-122"/>
                <a:cs typeface="Calibri" pitchFamily="34" charset="-120"/>
              </a:rPr>
              <a:t>Outcomes-based, risk-shared contracts</a:t>
            </a:r>
            <a:endParaRPr lang="en-US" sz="1000" dirty="0"/>
          </a:p>
        </p:txBody>
      </p:sp>
      <p:sp>
        <p:nvSpPr>
          <p:cNvPr id="45" name="Shape 43"/>
          <p:cNvSpPr/>
          <p:nvPr/>
        </p:nvSpPr>
        <p:spPr>
          <a:xfrm>
            <a:off x="320040" y="4023360"/>
            <a:ext cx="2286000" cy="438912"/>
          </a:xfrm>
          <a:prstGeom prst="rect">
            <a:avLst/>
          </a:prstGeom>
          <a:solidFill>
            <a:srgbClr val="EEF2F7"/>
          </a:solidFill>
          <a:ln w="12700">
            <a:solidFill>
              <a:srgbClr val="CED4DA"/>
            </a:solidFill>
            <a:prstDash val="solid"/>
          </a:ln>
        </p:spPr>
      </p:sp>
      <p:sp>
        <p:nvSpPr>
          <p:cNvPr id="46" name="Text 44"/>
          <p:cNvSpPr/>
          <p:nvPr/>
        </p:nvSpPr>
        <p:spPr>
          <a:xfrm>
            <a:off x="411480" y="4023360"/>
            <a:ext cx="2148840" cy="438912"/>
          </a:xfrm>
          <a:prstGeom prst="rect">
            <a:avLst/>
          </a:prstGeom>
          <a:noFill/>
          <a:ln/>
        </p:spPr>
        <p:txBody>
          <a:bodyPr wrap="square" lIns="0" tIns="0" rIns="0" bIns="0" rtlCol="0" anchor="ctr"/>
          <a:lstStyle/>
          <a:p>
            <a:pPr indent="0" marL="0">
              <a:buNone/>
            </a:pPr>
            <a:r>
              <a:rPr lang="en-US" sz="1100" b="1" dirty="0">
                <a:solidFill>
                  <a:srgbClr val="0D1F3C"/>
                </a:solidFill>
                <a:latin typeface="Calibri" pitchFamily="34" charset="0"/>
                <a:ea typeface="Calibri" pitchFamily="34" charset="-122"/>
                <a:cs typeface="Calibri" pitchFamily="34" charset="-120"/>
              </a:rPr>
              <a:t>Workforce</a:t>
            </a:r>
            <a:endParaRPr lang="en-US" sz="1100" dirty="0"/>
          </a:p>
        </p:txBody>
      </p:sp>
      <p:sp>
        <p:nvSpPr>
          <p:cNvPr id="47" name="Shape 45"/>
          <p:cNvSpPr/>
          <p:nvPr/>
        </p:nvSpPr>
        <p:spPr>
          <a:xfrm>
            <a:off x="2670048" y="4023360"/>
            <a:ext cx="2834640" cy="438912"/>
          </a:xfrm>
          <a:prstGeom prst="rect">
            <a:avLst/>
          </a:prstGeom>
          <a:solidFill>
            <a:srgbClr val="EEF2F7"/>
          </a:solidFill>
          <a:ln w="12700">
            <a:solidFill>
              <a:srgbClr val="CED4DA"/>
            </a:solidFill>
            <a:prstDash val="solid"/>
          </a:ln>
        </p:spPr>
      </p:sp>
      <p:sp>
        <p:nvSpPr>
          <p:cNvPr id="48" name="Text 46"/>
          <p:cNvSpPr/>
          <p:nvPr/>
        </p:nvSpPr>
        <p:spPr>
          <a:xfrm>
            <a:off x="2743200" y="4023360"/>
            <a:ext cx="2706624" cy="438912"/>
          </a:xfrm>
          <a:prstGeom prst="rect">
            <a:avLst/>
          </a:prstGeom>
          <a:noFill/>
          <a:ln/>
        </p:spPr>
        <p:txBody>
          <a:bodyPr wrap="square" lIns="0" tIns="0" rIns="0" bIns="0" rtlCol="0" anchor="ctr"/>
          <a:lstStyle/>
          <a:p>
            <a:pPr indent="0" marL="0">
              <a:buNone/>
            </a:pPr>
            <a:r>
              <a:rPr lang="en-US" sz="1000" dirty="0">
                <a:solidFill>
                  <a:srgbClr val="6C757D"/>
                </a:solidFill>
                <a:latin typeface="Calibri" pitchFamily="34" charset="0"/>
                <a:ea typeface="Calibri" pitchFamily="34" charset="-122"/>
                <a:cs typeface="Calibri" pitchFamily="34" charset="-120"/>
              </a:rPr>
              <a:t>Heavy sales force</a:t>
            </a:r>
            <a:endParaRPr lang="en-US" sz="1000" dirty="0"/>
          </a:p>
        </p:txBody>
      </p:sp>
      <p:sp>
        <p:nvSpPr>
          <p:cNvPr id="49" name="Shape 47"/>
          <p:cNvSpPr/>
          <p:nvPr/>
        </p:nvSpPr>
        <p:spPr>
          <a:xfrm>
            <a:off x="5577840" y="4023360"/>
            <a:ext cx="3246120" cy="438912"/>
          </a:xfrm>
          <a:prstGeom prst="rect">
            <a:avLst/>
          </a:prstGeom>
          <a:solidFill>
            <a:srgbClr val="EEF2F7"/>
          </a:solidFill>
          <a:ln w="12700">
            <a:solidFill>
              <a:srgbClr val="CED4DA"/>
            </a:solidFill>
            <a:prstDash val="solid"/>
          </a:ln>
        </p:spPr>
      </p:sp>
      <p:sp>
        <p:nvSpPr>
          <p:cNvPr id="50" name="Text 48"/>
          <p:cNvSpPr/>
          <p:nvPr/>
        </p:nvSpPr>
        <p:spPr>
          <a:xfrm>
            <a:off x="5669280" y="4023360"/>
            <a:ext cx="3108960" cy="438912"/>
          </a:xfrm>
          <a:prstGeom prst="rect">
            <a:avLst/>
          </a:prstGeom>
          <a:noFill/>
          <a:ln/>
        </p:spPr>
        <p:txBody>
          <a:bodyPr wrap="square" lIns="0" tIns="0" rIns="0" bIns="0" rtlCol="0" anchor="ctr"/>
          <a:lstStyle/>
          <a:p>
            <a:pPr indent="0" marL="0">
              <a:buNone/>
            </a:pPr>
            <a:r>
              <a:rPr lang="en-US" sz="1000" b="1" dirty="0">
                <a:solidFill>
                  <a:srgbClr val="0B7285"/>
                </a:solidFill>
                <a:latin typeface="Calibri" pitchFamily="34" charset="0"/>
                <a:ea typeface="Calibri" pitchFamily="34" charset="-122"/>
                <a:cs typeface="Calibri" pitchFamily="34" charset="-120"/>
              </a:rPr>
              <a:t>Data scientists, clinical informaticists</a:t>
            </a:r>
            <a:endParaRPr lang="en-US" sz="1000" dirty="0"/>
          </a:p>
        </p:txBody>
      </p:sp>
      <p:sp>
        <p:nvSpPr>
          <p:cNvPr id="51" name="Shape 49"/>
          <p:cNvSpPr/>
          <p:nvPr/>
        </p:nvSpPr>
        <p:spPr>
          <a:xfrm>
            <a:off x="320040" y="4572000"/>
            <a:ext cx="8503920" cy="256032"/>
          </a:xfrm>
          <a:prstGeom prst="rect">
            <a:avLst/>
          </a:prstGeom>
          <a:solidFill>
            <a:srgbClr val="0D1F3C"/>
          </a:solidFill>
          <a:ln w="12700">
            <a:solidFill>
              <a:srgbClr val="0D1F3C"/>
            </a:solidFill>
            <a:prstDash val="solid"/>
          </a:ln>
        </p:spPr>
      </p:sp>
      <p:sp>
        <p:nvSpPr>
          <p:cNvPr id="52" name="Text 50"/>
          <p:cNvSpPr/>
          <p:nvPr/>
        </p:nvSpPr>
        <p:spPr>
          <a:xfrm>
            <a:off x="457200" y="4572000"/>
            <a:ext cx="8321040" cy="256032"/>
          </a:xfrm>
          <a:prstGeom prst="rect">
            <a:avLst/>
          </a:prstGeom>
          <a:noFill/>
          <a:ln/>
        </p:spPr>
        <p:txBody>
          <a:bodyPr wrap="square" lIns="0" tIns="0" rIns="0" bIns="0" rtlCol="0" anchor="ctr"/>
          <a:lstStyle/>
          <a:p>
            <a:pPr indent="0" marL="0">
              <a:buNone/>
            </a:pPr>
            <a:r>
              <a:rPr lang="en-US" sz="900" i="1" dirty="0">
                <a:solidFill>
                  <a:srgbClr val="12B886"/>
                </a:solidFill>
                <a:latin typeface="Calibri" pitchFamily="34" charset="0"/>
                <a:ea typeface="Calibri" pitchFamily="34" charset="-122"/>
                <a:cs typeface="Calibri" pitchFamily="34" charset="-120"/>
              </a:rPr>
              <a:t>Key Insight: The biggest competitive advantage is not any single AI tool — it is the continuous learning loop between patient outcomes, clinical decisions, and model improvement.</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320040" y="201168"/>
            <a:ext cx="347472" cy="347472"/>
          </a:xfrm>
          <a:prstGeom prst="rect">
            <a:avLst/>
          </a:prstGeom>
          <a:solidFill>
            <a:srgbClr val="0B7285"/>
          </a:solidFill>
          <a:ln w="12700">
            <a:solidFill>
              <a:srgbClr val="0B7285"/>
            </a:solidFill>
            <a:prstDash val="solid"/>
          </a:ln>
        </p:spPr>
      </p:sp>
      <p:sp>
        <p:nvSpPr>
          <p:cNvPr id="3" name="Text 1"/>
          <p:cNvSpPr/>
          <p:nvPr/>
        </p:nvSpPr>
        <p:spPr>
          <a:xfrm>
            <a:off x="320040" y="201168"/>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07</a:t>
            </a:r>
            <a:endParaRPr lang="en-US" sz="1400" dirty="0"/>
          </a:p>
        </p:txBody>
      </p:sp>
      <p:sp>
        <p:nvSpPr>
          <p:cNvPr id="4" name="Text 2"/>
          <p:cNvSpPr/>
          <p:nvPr/>
        </p:nvSpPr>
        <p:spPr>
          <a:xfrm>
            <a:off x="749808" y="219456"/>
            <a:ext cx="4572000" cy="310896"/>
          </a:xfrm>
          <a:prstGeom prst="rect">
            <a:avLst/>
          </a:prstGeom>
          <a:noFill/>
          <a:ln/>
        </p:spPr>
        <p:txBody>
          <a:bodyPr wrap="square" lIns="0" tIns="0" rIns="0" bIns="0" rtlCol="0" anchor="ctr"/>
          <a:lstStyle/>
          <a:p>
            <a:pPr indent="0" marL="0">
              <a:buNone/>
            </a:pPr>
            <a:r>
              <a:rPr lang="en-US" sz="1100" spc="100" kern="0" dirty="0">
                <a:solidFill>
                  <a:srgbClr val="0B7285"/>
                </a:solidFill>
                <a:latin typeface="Calibri" pitchFamily="34" charset="0"/>
                <a:ea typeface="Calibri" pitchFamily="34" charset="-122"/>
                <a:cs typeface="Calibri" pitchFamily="34" charset="-120"/>
              </a:rPr>
              <a:t>RECOMMENDATIONS</a:t>
            </a:r>
            <a:endParaRPr lang="en-US" sz="1100" dirty="0"/>
          </a:p>
        </p:txBody>
      </p:sp>
      <p:sp>
        <p:nvSpPr>
          <p:cNvPr id="5" name="Shape 3"/>
          <p:cNvSpPr/>
          <p:nvPr/>
        </p:nvSpPr>
        <p:spPr>
          <a:xfrm>
            <a:off x="0" y="4910328"/>
            <a:ext cx="9144000" cy="233172"/>
          </a:xfrm>
          <a:prstGeom prst="rect">
            <a:avLst/>
          </a:prstGeom>
          <a:solidFill>
            <a:srgbClr val="0D1F3C"/>
          </a:solidFill>
          <a:ln w="12700">
            <a:solidFill>
              <a:srgbClr val="0D1F3C"/>
            </a:solidFill>
            <a:prstDash val="solid"/>
          </a:ln>
        </p:spPr>
      </p:sp>
      <p:sp>
        <p:nvSpPr>
          <p:cNvPr id="6" name="Text 4"/>
          <p:cNvSpPr/>
          <p:nvPr/>
        </p:nvSpPr>
        <p:spPr>
          <a:xfrm>
            <a:off x="320040" y="4910328"/>
            <a:ext cx="7863840" cy="233172"/>
          </a:xfrm>
          <a:prstGeom prst="rect">
            <a:avLst/>
          </a:prstGeom>
          <a:noFill/>
          <a:ln/>
        </p:spPr>
        <p:txBody>
          <a:bodyPr wrap="square" lIns="0" tIns="0" rIns="0" bIns="0" rtlCol="0" anchor="ctr"/>
          <a:lstStyle/>
          <a:p>
            <a:pPr algn="l" indent="0" marL="0">
              <a:buNone/>
            </a:pPr>
            <a:r>
              <a:rPr lang="en-US" sz="800" dirty="0">
                <a:solidFill>
                  <a:srgbClr val="FFFFFF"/>
                </a:solidFill>
                <a:latin typeface="Calibri" pitchFamily="34" charset="0"/>
                <a:ea typeface="Calibri" pitchFamily="34" charset="-122"/>
                <a:cs typeface="Calibri" pitchFamily="34" charset="-120"/>
              </a:rPr>
              <a:t>AI in Healthcare &amp; Life Sciences  |  MIT AI Executive Academy  |  Capstone 2026  |  CONFIDENTIAL</a:t>
            </a:r>
            <a:endParaRPr lang="en-US" sz="800" dirty="0"/>
          </a:p>
        </p:txBody>
      </p:sp>
      <p:sp>
        <p:nvSpPr>
          <p:cNvPr id="7" name="Text 5"/>
          <p:cNvSpPr/>
          <p:nvPr/>
        </p:nvSpPr>
        <p:spPr>
          <a:xfrm>
            <a:off x="8412480" y="4910328"/>
            <a:ext cx="594360" cy="233172"/>
          </a:xfrm>
          <a:prstGeom prst="rect">
            <a:avLst/>
          </a:prstGeom>
          <a:noFill/>
          <a:ln/>
        </p:spPr>
        <p:txBody>
          <a:bodyPr wrap="square" lIns="0" tIns="0" rIns="0" bIns="0" rtlCol="0" anchor="ctr"/>
          <a:lstStyle/>
          <a:p>
            <a:pPr algn="r" indent="0" marL="0">
              <a:buNone/>
            </a:pPr>
            <a:r>
              <a:rPr lang="en-US" sz="800" dirty="0">
                <a:solidFill>
                  <a:srgbClr val="FFFFFF"/>
                </a:solidFill>
                <a:latin typeface="Calibri" pitchFamily="34" charset="0"/>
                <a:ea typeface="Calibri" pitchFamily="34" charset="-122"/>
                <a:cs typeface="Calibri" pitchFamily="34" charset="-120"/>
              </a:rPr>
              <a:t>9 / 11</a:t>
            </a:r>
            <a:endParaRPr lang="en-US" sz="800" dirty="0"/>
          </a:p>
        </p:txBody>
      </p:sp>
      <p:sp>
        <p:nvSpPr>
          <p:cNvPr id="8" name="Text 6"/>
          <p:cNvSpPr/>
          <p:nvPr/>
        </p:nvSpPr>
        <p:spPr>
          <a:xfrm>
            <a:off x="320040" y="621792"/>
            <a:ext cx="8503920" cy="457200"/>
          </a:xfrm>
          <a:prstGeom prst="rect">
            <a:avLst/>
          </a:prstGeom>
          <a:noFill/>
          <a:ln/>
        </p:spPr>
        <p:txBody>
          <a:bodyPr wrap="square" lIns="0" tIns="0" rIns="0" bIns="0" rtlCol="0" anchor="ctr"/>
          <a:lstStyle/>
          <a:p>
            <a:pPr algn="l" indent="0" marL="0">
              <a:buNone/>
            </a:pPr>
            <a:r>
              <a:rPr lang="en-US" sz="2400" b="1" dirty="0">
                <a:solidFill>
                  <a:srgbClr val="0D1F3C"/>
                </a:solidFill>
                <a:latin typeface="Calibri" pitchFamily="34" charset="0"/>
                <a:ea typeface="Calibri" pitchFamily="34" charset="-122"/>
                <a:cs typeface="Calibri" pitchFamily="34" charset="-120"/>
              </a:rPr>
              <a:t>Six Imperatives for Healthcare Leaders — Starting Now</a:t>
            </a:r>
            <a:endParaRPr lang="en-US" sz="2400" dirty="0"/>
          </a:p>
        </p:txBody>
      </p:sp>
      <p:sp>
        <p:nvSpPr>
          <p:cNvPr id="9" name="Shape 7"/>
          <p:cNvSpPr/>
          <p:nvPr/>
        </p:nvSpPr>
        <p:spPr>
          <a:xfrm>
            <a:off x="320040" y="1170432"/>
            <a:ext cx="2697480" cy="274320"/>
          </a:xfrm>
          <a:prstGeom prst="rect">
            <a:avLst/>
          </a:prstGeom>
          <a:solidFill>
            <a:srgbClr val="12B886"/>
          </a:solidFill>
          <a:ln w="12700">
            <a:solidFill>
              <a:srgbClr val="12B886"/>
            </a:solidFill>
            <a:prstDash val="solid"/>
          </a:ln>
        </p:spPr>
      </p:sp>
      <p:sp>
        <p:nvSpPr>
          <p:cNvPr id="10" name="Text 8"/>
          <p:cNvSpPr/>
          <p:nvPr/>
        </p:nvSpPr>
        <p:spPr>
          <a:xfrm>
            <a:off x="320040" y="1170432"/>
            <a:ext cx="269748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0–12 MONTHS  |  Foundation</a:t>
            </a:r>
            <a:endParaRPr lang="en-US" sz="950" dirty="0"/>
          </a:p>
        </p:txBody>
      </p:sp>
      <p:sp>
        <p:nvSpPr>
          <p:cNvPr id="11" name="Shape 9"/>
          <p:cNvSpPr/>
          <p:nvPr/>
        </p:nvSpPr>
        <p:spPr>
          <a:xfrm>
            <a:off x="3154680" y="1170432"/>
            <a:ext cx="2697480" cy="274320"/>
          </a:xfrm>
          <a:prstGeom prst="rect">
            <a:avLst/>
          </a:prstGeom>
          <a:solidFill>
            <a:srgbClr val="0B7285"/>
          </a:solidFill>
          <a:ln w="12700">
            <a:solidFill>
              <a:srgbClr val="0B7285"/>
            </a:solidFill>
            <a:prstDash val="solid"/>
          </a:ln>
        </p:spPr>
      </p:sp>
      <p:sp>
        <p:nvSpPr>
          <p:cNvPr id="12" name="Text 10"/>
          <p:cNvSpPr/>
          <p:nvPr/>
        </p:nvSpPr>
        <p:spPr>
          <a:xfrm>
            <a:off x="3154680" y="1170432"/>
            <a:ext cx="269748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6–18 MONTHS  |  Regulatory Strategy</a:t>
            </a:r>
            <a:endParaRPr lang="en-US" sz="950" dirty="0"/>
          </a:p>
        </p:txBody>
      </p:sp>
      <p:sp>
        <p:nvSpPr>
          <p:cNvPr id="13" name="Shape 11"/>
          <p:cNvSpPr/>
          <p:nvPr/>
        </p:nvSpPr>
        <p:spPr>
          <a:xfrm>
            <a:off x="5989320" y="1170432"/>
            <a:ext cx="2697480" cy="274320"/>
          </a:xfrm>
          <a:prstGeom prst="rect">
            <a:avLst/>
          </a:prstGeom>
          <a:solidFill>
            <a:srgbClr val="0D1F3C"/>
          </a:solidFill>
          <a:ln w="12700">
            <a:solidFill>
              <a:srgbClr val="0D1F3C"/>
            </a:solidFill>
            <a:prstDash val="solid"/>
          </a:ln>
        </p:spPr>
      </p:sp>
      <p:sp>
        <p:nvSpPr>
          <p:cNvPr id="14" name="Text 12"/>
          <p:cNvSpPr/>
          <p:nvPr/>
        </p:nvSpPr>
        <p:spPr>
          <a:xfrm>
            <a:off x="5989320" y="1170432"/>
            <a:ext cx="269748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12–24 MONTHS  |  Scale</a:t>
            </a:r>
            <a:endParaRPr lang="en-US" sz="950" dirty="0"/>
          </a:p>
        </p:txBody>
      </p:sp>
      <p:sp>
        <p:nvSpPr>
          <p:cNvPr id="15" name="Shape 13"/>
          <p:cNvSpPr/>
          <p:nvPr/>
        </p:nvSpPr>
        <p:spPr>
          <a:xfrm>
            <a:off x="320040" y="1517904"/>
            <a:ext cx="2697480" cy="1417320"/>
          </a:xfrm>
          <a:prstGeom prst="rect">
            <a:avLst/>
          </a:prstGeom>
          <a:solidFill>
            <a:srgbClr val="FFFFFF"/>
          </a:solidFill>
          <a:ln w="12700">
            <a:solidFill>
              <a:srgbClr val="CED4DA"/>
            </a:solidFill>
            <a:prstDash val="solid"/>
          </a:ln>
          <a:effectLst>
            <a:outerShdw sx="100000" sy="100000" kx="0" ky="0" algn="bl" rotWithShape="0" blurRad="101600" dist="38100" dir="8100000">
              <a:srgbClr val="000000">
                <a:alpha val="12000"/>
              </a:srgbClr>
            </a:outerShdw>
          </a:effectLst>
        </p:spPr>
      </p:sp>
      <p:sp>
        <p:nvSpPr>
          <p:cNvPr id="16" name="Shape 14"/>
          <p:cNvSpPr/>
          <p:nvPr/>
        </p:nvSpPr>
        <p:spPr>
          <a:xfrm>
            <a:off x="320040" y="1517904"/>
            <a:ext cx="2697480" cy="54864"/>
          </a:xfrm>
          <a:prstGeom prst="rect">
            <a:avLst/>
          </a:prstGeom>
          <a:solidFill>
            <a:srgbClr val="12B886"/>
          </a:solidFill>
          <a:ln w="12700">
            <a:solidFill>
              <a:srgbClr val="12B886"/>
            </a:solidFill>
            <a:prstDash val="solid"/>
          </a:ln>
        </p:spPr>
      </p:sp>
      <p:sp>
        <p:nvSpPr>
          <p:cNvPr id="17" name="Text 15"/>
          <p:cNvSpPr/>
          <p:nvPr/>
        </p:nvSpPr>
        <p:spPr>
          <a:xfrm>
            <a:off x="411480" y="1609344"/>
            <a:ext cx="2514600" cy="256032"/>
          </a:xfrm>
          <a:prstGeom prst="rect">
            <a:avLst/>
          </a:prstGeom>
          <a:noFill/>
          <a:ln/>
        </p:spPr>
        <p:txBody>
          <a:bodyPr wrap="square" lIns="0" tIns="0" rIns="0" bIns="0" rtlCol="0" anchor="ctr"/>
          <a:lstStyle/>
          <a:p>
            <a:pPr indent="0" marL="0">
              <a:buNone/>
            </a:pPr>
            <a:r>
              <a:rPr lang="en-US" sz="1100" b="1" dirty="0">
                <a:solidFill>
                  <a:srgbClr val="0D1F3C"/>
                </a:solidFill>
                <a:latin typeface="Calibri" pitchFamily="34" charset="0"/>
                <a:ea typeface="Calibri" pitchFamily="34" charset="-122"/>
                <a:cs typeface="Calibri" pitchFamily="34" charset="-120"/>
              </a:rPr>
              <a:t>01  Build the Data Foundation</a:t>
            </a:r>
            <a:endParaRPr lang="en-US" sz="1100" dirty="0"/>
          </a:p>
        </p:txBody>
      </p:sp>
      <p:sp>
        <p:nvSpPr>
          <p:cNvPr id="18" name="Text 16"/>
          <p:cNvSpPr/>
          <p:nvPr/>
        </p:nvSpPr>
        <p:spPr>
          <a:xfrm>
            <a:off x="429768" y="1901952"/>
            <a:ext cx="2496312" cy="969264"/>
          </a:xfrm>
          <a:prstGeom prst="rect">
            <a:avLst/>
          </a:prstGeom>
          <a:noFill/>
          <a:ln/>
        </p:spPr>
        <p:txBody>
          <a:bodyPr wrap="square" lIns="0" tIns="0" rIns="0" bIns="0" rtlCol="0" anchor="t"/>
          <a:lstStyle/>
          <a:p>
            <a:pPr marL="342900" indent="-342900">
              <a:buSzPct val="100000"/>
              <a:buChar char="•"/>
            </a:pPr>
            <a:r>
              <a:rPr lang="en-US" sz="850" dirty="0">
                <a:solidFill>
                  <a:srgbClr val="6C757D"/>
                </a:solidFill>
                <a:latin typeface="Calibri" pitchFamily="34" charset="0"/>
                <a:ea typeface="Calibri" pitchFamily="34" charset="-122"/>
                <a:cs typeface="Calibri" pitchFamily="34" charset="-120"/>
              </a:rPr>
              <a:t>Assess EHR interoperability and data quality</a:t>
            </a:r>
            <a:endParaRPr lang="en-US" sz="850" dirty="0"/>
          </a:p>
          <a:p>
            <a:pPr marL="342900" indent="-342900">
              <a:buSzPct val="100000"/>
              <a:buChar char="•"/>
            </a:pPr>
            <a:r>
              <a:rPr lang="en-US" sz="850" dirty="0">
                <a:solidFill>
                  <a:srgbClr val="6C757D"/>
                </a:solidFill>
                <a:latin typeface="Calibri" pitchFamily="34" charset="0"/>
                <a:ea typeface="Calibri" pitchFamily="34" charset="-122"/>
                <a:cs typeface="Calibri" pitchFamily="34" charset="-120"/>
              </a:rPr>
              <a:t>Establish HIPAA-compliant data sharing agreements</a:t>
            </a:r>
            <a:endParaRPr lang="en-US" sz="850" dirty="0"/>
          </a:p>
          <a:p>
            <a:pPr marL="342900" indent="-342900">
              <a:buSzPct val="100000"/>
              <a:buChar char="•"/>
            </a:pPr>
            <a:r>
              <a:rPr lang="en-US" sz="850" dirty="0">
                <a:solidFill>
                  <a:srgbClr val="6C757D"/>
                </a:solidFill>
                <a:latin typeface="Calibri" pitchFamily="34" charset="0"/>
                <a:ea typeface="Calibri" pitchFamily="34" charset="-122"/>
                <a:cs typeface="Calibri" pitchFamily="34" charset="-120"/>
              </a:rPr>
              <a:t>Develop a real-world evidence strategy</a:t>
            </a:r>
            <a:endParaRPr lang="en-US" sz="850" dirty="0"/>
          </a:p>
          <a:p>
            <a:pPr marL="342900" indent="-342900">
              <a:buSzPct val="100000"/>
              <a:buChar char="•"/>
            </a:pPr>
            <a:r>
              <a:rPr lang="en-US" sz="850" dirty="0">
                <a:solidFill>
                  <a:srgbClr val="6C757D"/>
                </a:solidFill>
                <a:latin typeface="Calibri" pitchFamily="34" charset="0"/>
                <a:ea typeface="Calibri" pitchFamily="34" charset="-122"/>
                <a:cs typeface="Calibri" pitchFamily="34" charset="-120"/>
              </a:rPr>
              <a:t>FAIR-compliant data estate = highest-leverage investment</a:t>
            </a:r>
            <a:endParaRPr lang="en-US" sz="850" dirty="0"/>
          </a:p>
        </p:txBody>
      </p:sp>
      <p:sp>
        <p:nvSpPr>
          <p:cNvPr id="19" name="Shape 17"/>
          <p:cNvSpPr/>
          <p:nvPr/>
        </p:nvSpPr>
        <p:spPr>
          <a:xfrm>
            <a:off x="320040" y="3017520"/>
            <a:ext cx="2697480" cy="1417320"/>
          </a:xfrm>
          <a:prstGeom prst="rect">
            <a:avLst/>
          </a:prstGeom>
          <a:solidFill>
            <a:srgbClr val="FFFFFF"/>
          </a:solidFill>
          <a:ln w="12700">
            <a:solidFill>
              <a:srgbClr val="CED4DA"/>
            </a:solidFill>
            <a:prstDash val="solid"/>
          </a:ln>
          <a:effectLst>
            <a:outerShdw sx="100000" sy="100000" kx="0" ky="0" algn="bl" rotWithShape="0" blurRad="101600" dist="38100" dir="8100000">
              <a:srgbClr val="000000">
                <a:alpha val="12000"/>
              </a:srgbClr>
            </a:outerShdw>
          </a:effectLst>
        </p:spPr>
      </p:sp>
      <p:sp>
        <p:nvSpPr>
          <p:cNvPr id="20" name="Shape 18"/>
          <p:cNvSpPr/>
          <p:nvPr/>
        </p:nvSpPr>
        <p:spPr>
          <a:xfrm>
            <a:off x="320040" y="3017520"/>
            <a:ext cx="2697480" cy="54864"/>
          </a:xfrm>
          <a:prstGeom prst="rect">
            <a:avLst/>
          </a:prstGeom>
          <a:solidFill>
            <a:srgbClr val="12B886"/>
          </a:solidFill>
          <a:ln w="12700">
            <a:solidFill>
              <a:srgbClr val="12B886"/>
            </a:solidFill>
            <a:prstDash val="solid"/>
          </a:ln>
        </p:spPr>
      </p:sp>
      <p:sp>
        <p:nvSpPr>
          <p:cNvPr id="21" name="Text 19"/>
          <p:cNvSpPr/>
          <p:nvPr/>
        </p:nvSpPr>
        <p:spPr>
          <a:xfrm>
            <a:off x="411480" y="3108960"/>
            <a:ext cx="2514600" cy="256032"/>
          </a:xfrm>
          <a:prstGeom prst="rect">
            <a:avLst/>
          </a:prstGeom>
          <a:noFill/>
          <a:ln/>
        </p:spPr>
        <p:txBody>
          <a:bodyPr wrap="square" lIns="0" tIns="0" rIns="0" bIns="0" rtlCol="0" anchor="ctr"/>
          <a:lstStyle/>
          <a:p>
            <a:pPr indent="0" marL="0">
              <a:buNone/>
            </a:pPr>
            <a:r>
              <a:rPr lang="en-US" sz="1100" b="1" dirty="0">
                <a:solidFill>
                  <a:srgbClr val="0D1F3C"/>
                </a:solidFill>
                <a:latin typeface="Calibri" pitchFamily="34" charset="0"/>
                <a:ea typeface="Calibri" pitchFamily="34" charset="-122"/>
                <a:cs typeface="Calibri" pitchFamily="34" charset="-120"/>
              </a:rPr>
              <a:t>02  Establish AI Governance Now</a:t>
            </a:r>
            <a:endParaRPr lang="en-US" sz="1100" dirty="0"/>
          </a:p>
        </p:txBody>
      </p:sp>
      <p:sp>
        <p:nvSpPr>
          <p:cNvPr id="22" name="Text 20"/>
          <p:cNvSpPr/>
          <p:nvPr/>
        </p:nvSpPr>
        <p:spPr>
          <a:xfrm>
            <a:off x="429768" y="3401568"/>
            <a:ext cx="2496312" cy="969264"/>
          </a:xfrm>
          <a:prstGeom prst="rect">
            <a:avLst/>
          </a:prstGeom>
          <a:noFill/>
          <a:ln/>
        </p:spPr>
        <p:txBody>
          <a:bodyPr wrap="square" lIns="0" tIns="0" rIns="0" bIns="0" rtlCol="0" anchor="t"/>
          <a:lstStyle/>
          <a:p>
            <a:pPr marL="342900" indent="-342900">
              <a:buSzPct val="100000"/>
              <a:buChar char="•"/>
            </a:pPr>
            <a:r>
              <a:rPr lang="en-US" sz="850" dirty="0">
                <a:solidFill>
                  <a:srgbClr val="6C757D"/>
                </a:solidFill>
                <a:latin typeface="Calibri" pitchFamily="34" charset="0"/>
                <a:ea typeface="Calibri" pitchFamily="34" charset="-122"/>
                <a:cs typeface="Calibri" pitchFamily="34" charset="-120"/>
              </a:rPr>
              <a:t>Model validation and bias monitoring standards</a:t>
            </a:r>
            <a:endParaRPr lang="en-US" sz="850" dirty="0"/>
          </a:p>
          <a:p>
            <a:pPr marL="342900" indent="-342900">
              <a:buSzPct val="100000"/>
              <a:buChar char="•"/>
            </a:pPr>
            <a:r>
              <a:rPr lang="en-US" sz="850" dirty="0">
                <a:solidFill>
                  <a:srgbClr val="6C757D"/>
                </a:solidFill>
                <a:latin typeface="Calibri" pitchFamily="34" charset="0"/>
                <a:ea typeface="Calibri" pitchFamily="34" charset="-122"/>
                <a:cs typeface="Calibri" pitchFamily="34" charset="-120"/>
              </a:rPr>
              <a:t>Human oversight and audit trail policies</a:t>
            </a:r>
            <a:endParaRPr lang="en-US" sz="850" dirty="0"/>
          </a:p>
          <a:p>
            <a:pPr marL="342900" indent="-342900">
              <a:buSzPct val="100000"/>
              <a:buChar char="•"/>
            </a:pPr>
            <a:r>
              <a:rPr lang="en-US" sz="850" dirty="0">
                <a:solidFill>
                  <a:srgbClr val="6C757D"/>
                </a:solidFill>
                <a:latin typeface="Calibri" pitchFamily="34" charset="0"/>
                <a:ea typeface="Calibri" pitchFamily="34" charset="-122"/>
                <a:cs typeface="Calibri" pitchFamily="34" charset="-120"/>
              </a:rPr>
              <a:t>FDA dual AI councils signal hardening expectations</a:t>
            </a:r>
            <a:endParaRPr lang="en-US" sz="850" dirty="0"/>
          </a:p>
          <a:p>
            <a:pPr marL="342900" indent="-342900">
              <a:buSzPct val="100000"/>
              <a:buChar char="•"/>
            </a:pPr>
            <a:r>
              <a:rPr lang="en-US" sz="850" dirty="0">
                <a:solidFill>
                  <a:srgbClr val="6C757D"/>
                </a:solidFill>
                <a:latin typeface="Calibri" pitchFamily="34" charset="0"/>
                <a:ea typeface="Calibri" pitchFamily="34" charset="-122"/>
                <a:cs typeface="Calibri" pitchFamily="34" charset="-120"/>
              </a:rPr>
              <a:t>Minimum viable governance: start here</a:t>
            </a:r>
            <a:endParaRPr lang="en-US" sz="850" dirty="0"/>
          </a:p>
        </p:txBody>
      </p:sp>
      <p:sp>
        <p:nvSpPr>
          <p:cNvPr id="23" name="Shape 21"/>
          <p:cNvSpPr/>
          <p:nvPr/>
        </p:nvSpPr>
        <p:spPr>
          <a:xfrm>
            <a:off x="3154680" y="1517904"/>
            <a:ext cx="2697480" cy="1417320"/>
          </a:xfrm>
          <a:prstGeom prst="rect">
            <a:avLst/>
          </a:prstGeom>
          <a:solidFill>
            <a:srgbClr val="FFFFFF"/>
          </a:solidFill>
          <a:ln w="12700">
            <a:solidFill>
              <a:srgbClr val="CED4DA"/>
            </a:solidFill>
            <a:prstDash val="solid"/>
          </a:ln>
          <a:effectLst>
            <a:outerShdw sx="100000" sy="100000" kx="0" ky="0" algn="bl" rotWithShape="0" blurRad="101600" dist="38100" dir="8100000">
              <a:srgbClr val="000000">
                <a:alpha val="12000"/>
              </a:srgbClr>
            </a:outerShdw>
          </a:effectLst>
        </p:spPr>
      </p:sp>
      <p:sp>
        <p:nvSpPr>
          <p:cNvPr id="24" name="Shape 22"/>
          <p:cNvSpPr/>
          <p:nvPr/>
        </p:nvSpPr>
        <p:spPr>
          <a:xfrm>
            <a:off x="3154680" y="1517904"/>
            <a:ext cx="2697480" cy="54864"/>
          </a:xfrm>
          <a:prstGeom prst="rect">
            <a:avLst/>
          </a:prstGeom>
          <a:solidFill>
            <a:srgbClr val="0B7285"/>
          </a:solidFill>
          <a:ln w="12700">
            <a:solidFill>
              <a:srgbClr val="0B7285"/>
            </a:solidFill>
            <a:prstDash val="solid"/>
          </a:ln>
        </p:spPr>
      </p:sp>
      <p:sp>
        <p:nvSpPr>
          <p:cNvPr id="25" name="Text 23"/>
          <p:cNvSpPr/>
          <p:nvPr/>
        </p:nvSpPr>
        <p:spPr>
          <a:xfrm>
            <a:off x="3246120" y="1609344"/>
            <a:ext cx="2514600" cy="256032"/>
          </a:xfrm>
          <a:prstGeom prst="rect">
            <a:avLst/>
          </a:prstGeom>
          <a:noFill/>
          <a:ln/>
        </p:spPr>
        <p:txBody>
          <a:bodyPr wrap="square" lIns="0" tIns="0" rIns="0" bIns="0" rtlCol="0" anchor="ctr"/>
          <a:lstStyle/>
          <a:p>
            <a:pPr indent="0" marL="0">
              <a:buNone/>
            </a:pPr>
            <a:r>
              <a:rPr lang="en-US" sz="1100" b="1" dirty="0">
                <a:solidFill>
                  <a:srgbClr val="0D1F3C"/>
                </a:solidFill>
                <a:latin typeface="Calibri" pitchFamily="34" charset="0"/>
                <a:ea typeface="Calibri" pitchFamily="34" charset="-122"/>
                <a:cs typeface="Calibri" pitchFamily="34" charset="-120"/>
              </a:rPr>
              <a:t>03  Define Your SaMD Strategy</a:t>
            </a:r>
            <a:endParaRPr lang="en-US" sz="1100" dirty="0"/>
          </a:p>
        </p:txBody>
      </p:sp>
      <p:sp>
        <p:nvSpPr>
          <p:cNvPr id="26" name="Text 24"/>
          <p:cNvSpPr/>
          <p:nvPr/>
        </p:nvSpPr>
        <p:spPr>
          <a:xfrm>
            <a:off x="3264408" y="1901952"/>
            <a:ext cx="2496312" cy="969264"/>
          </a:xfrm>
          <a:prstGeom prst="rect">
            <a:avLst/>
          </a:prstGeom>
          <a:noFill/>
          <a:ln/>
        </p:spPr>
        <p:txBody>
          <a:bodyPr wrap="square" lIns="0" tIns="0" rIns="0" bIns="0" rtlCol="0" anchor="t"/>
          <a:lstStyle/>
          <a:p>
            <a:pPr marL="342900" indent="-342900">
              <a:buSzPct val="100000"/>
              <a:buChar char="•"/>
            </a:pPr>
            <a:r>
              <a:rPr lang="en-US" sz="850" dirty="0">
                <a:solidFill>
                  <a:srgbClr val="6C757D"/>
                </a:solidFill>
                <a:latin typeface="Calibri" pitchFamily="34" charset="0"/>
                <a:ea typeface="Calibri" pitchFamily="34" charset="-122"/>
                <a:cs typeface="Calibri" pitchFamily="34" charset="-120"/>
              </a:rPr>
              <a:t>Pre-Submission meeting before product roadmap locks</a:t>
            </a:r>
            <a:endParaRPr lang="en-US" sz="850" dirty="0"/>
          </a:p>
          <a:p>
            <a:pPr marL="342900" indent="-342900">
              <a:buSzPct val="100000"/>
              <a:buChar char="•"/>
            </a:pPr>
            <a:r>
              <a:rPr lang="en-US" sz="850" dirty="0">
                <a:solidFill>
                  <a:srgbClr val="6C757D"/>
                </a:solidFill>
                <a:latin typeface="Calibri" pitchFamily="34" charset="0"/>
                <a:ea typeface="Calibri" pitchFamily="34" charset="-122"/>
                <a:cs typeface="Calibri" pitchFamily="34" charset="-120"/>
              </a:rPr>
              <a:t>Predetermined Change Control Plan (PCCP) design</a:t>
            </a:r>
            <a:endParaRPr lang="en-US" sz="850" dirty="0"/>
          </a:p>
          <a:p>
            <a:pPr marL="342900" indent="-342900">
              <a:buSzPct val="100000"/>
              <a:buChar char="•"/>
            </a:pPr>
            <a:r>
              <a:rPr lang="en-US" sz="850" dirty="0">
                <a:solidFill>
                  <a:srgbClr val="6C757D"/>
                </a:solidFill>
                <a:latin typeface="Calibri" pitchFamily="34" charset="0"/>
                <a:ea typeface="Calibri" pitchFamily="34" charset="-122"/>
                <a:cs typeface="Calibri" pitchFamily="34" charset="-120"/>
              </a:rPr>
              <a:t>Align regulatory pathway with AI lifecycle needs</a:t>
            </a:r>
            <a:endParaRPr lang="en-US" sz="850" dirty="0"/>
          </a:p>
          <a:p>
            <a:pPr marL="342900" indent="-342900">
              <a:buSzPct val="100000"/>
              <a:buChar char="•"/>
            </a:pPr>
            <a:r>
              <a:rPr lang="en-US" sz="850" dirty="0">
                <a:solidFill>
                  <a:srgbClr val="6C757D"/>
                </a:solidFill>
                <a:latin typeface="Calibri" pitchFamily="34" charset="0"/>
                <a:ea typeface="Calibri" pitchFamily="34" charset="-122"/>
                <a:cs typeface="Calibri" pitchFamily="34" charset="-120"/>
              </a:rPr>
              <a:t>Regulatory clarity = competitive advantage</a:t>
            </a:r>
            <a:endParaRPr lang="en-US" sz="850" dirty="0"/>
          </a:p>
        </p:txBody>
      </p:sp>
      <p:sp>
        <p:nvSpPr>
          <p:cNvPr id="27" name="Shape 25"/>
          <p:cNvSpPr/>
          <p:nvPr/>
        </p:nvSpPr>
        <p:spPr>
          <a:xfrm>
            <a:off x="3154680" y="3017520"/>
            <a:ext cx="2697480" cy="1417320"/>
          </a:xfrm>
          <a:prstGeom prst="rect">
            <a:avLst/>
          </a:prstGeom>
          <a:solidFill>
            <a:srgbClr val="FFFFFF"/>
          </a:solidFill>
          <a:ln w="12700">
            <a:solidFill>
              <a:srgbClr val="CED4DA"/>
            </a:solidFill>
            <a:prstDash val="solid"/>
          </a:ln>
          <a:effectLst>
            <a:outerShdw sx="100000" sy="100000" kx="0" ky="0" algn="bl" rotWithShape="0" blurRad="101600" dist="38100" dir="8100000">
              <a:srgbClr val="000000">
                <a:alpha val="12000"/>
              </a:srgbClr>
            </a:outerShdw>
          </a:effectLst>
        </p:spPr>
      </p:sp>
      <p:sp>
        <p:nvSpPr>
          <p:cNvPr id="28" name="Shape 26"/>
          <p:cNvSpPr/>
          <p:nvPr/>
        </p:nvSpPr>
        <p:spPr>
          <a:xfrm>
            <a:off x="3154680" y="3017520"/>
            <a:ext cx="2697480" cy="54864"/>
          </a:xfrm>
          <a:prstGeom prst="rect">
            <a:avLst/>
          </a:prstGeom>
          <a:solidFill>
            <a:srgbClr val="0B7285"/>
          </a:solidFill>
          <a:ln w="12700">
            <a:solidFill>
              <a:srgbClr val="0B7285"/>
            </a:solidFill>
            <a:prstDash val="solid"/>
          </a:ln>
        </p:spPr>
      </p:sp>
      <p:sp>
        <p:nvSpPr>
          <p:cNvPr id="29" name="Text 27"/>
          <p:cNvSpPr/>
          <p:nvPr/>
        </p:nvSpPr>
        <p:spPr>
          <a:xfrm>
            <a:off x="3246120" y="3108960"/>
            <a:ext cx="2514600" cy="256032"/>
          </a:xfrm>
          <a:prstGeom prst="rect">
            <a:avLst/>
          </a:prstGeom>
          <a:noFill/>
          <a:ln/>
        </p:spPr>
        <p:txBody>
          <a:bodyPr wrap="square" lIns="0" tIns="0" rIns="0" bIns="0" rtlCol="0" anchor="ctr"/>
          <a:lstStyle/>
          <a:p>
            <a:pPr indent="0" marL="0">
              <a:buNone/>
            </a:pPr>
            <a:r>
              <a:rPr lang="en-US" sz="1100" b="1" dirty="0">
                <a:solidFill>
                  <a:srgbClr val="0D1F3C"/>
                </a:solidFill>
                <a:latin typeface="Calibri" pitchFamily="34" charset="0"/>
                <a:ea typeface="Calibri" pitchFamily="34" charset="-122"/>
                <a:cs typeface="Calibri" pitchFamily="34" charset="-120"/>
              </a:rPr>
              <a:t>04  Shape — Don't Just Comply</a:t>
            </a:r>
            <a:endParaRPr lang="en-US" sz="1100" dirty="0"/>
          </a:p>
        </p:txBody>
      </p:sp>
      <p:sp>
        <p:nvSpPr>
          <p:cNvPr id="30" name="Text 28"/>
          <p:cNvSpPr/>
          <p:nvPr/>
        </p:nvSpPr>
        <p:spPr>
          <a:xfrm>
            <a:off x="3264408" y="3401568"/>
            <a:ext cx="2496312" cy="969264"/>
          </a:xfrm>
          <a:prstGeom prst="rect">
            <a:avLst/>
          </a:prstGeom>
          <a:noFill/>
          <a:ln/>
        </p:spPr>
        <p:txBody>
          <a:bodyPr wrap="square" lIns="0" tIns="0" rIns="0" bIns="0" rtlCol="0" anchor="t"/>
          <a:lstStyle/>
          <a:p>
            <a:pPr marL="342900" indent="-342900">
              <a:buSzPct val="100000"/>
              <a:buChar char="•"/>
            </a:pPr>
            <a:r>
              <a:rPr lang="en-US" sz="850" dirty="0">
                <a:solidFill>
                  <a:srgbClr val="6C757D"/>
                </a:solidFill>
                <a:latin typeface="Calibri" pitchFamily="34" charset="0"/>
                <a:ea typeface="Calibri" pitchFamily="34" charset="-122"/>
                <a:cs typeface="Calibri" pitchFamily="34" charset="-120"/>
              </a:rPr>
              <a:t>Engage FDA/EMA on GxP AI frameworks proactively</a:t>
            </a:r>
            <a:endParaRPr lang="en-US" sz="850" dirty="0"/>
          </a:p>
          <a:p>
            <a:pPr marL="342900" indent="-342900">
              <a:buSzPct val="100000"/>
              <a:buChar char="•"/>
            </a:pPr>
            <a:r>
              <a:rPr lang="en-US" sz="850" dirty="0">
                <a:solidFill>
                  <a:srgbClr val="6C757D"/>
                </a:solidFill>
                <a:latin typeface="Calibri" pitchFamily="34" charset="0"/>
                <a:ea typeface="Calibri" pitchFamily="34" charset="-122"/>
                <a:cs typeface="Calibri" pitchFamily="34" charset="-120"/>
              </a:rPr>
              <a:t>Organizations that write guidelines operate in better environments</a:t>
            </a:r>
            <a:endParaRPr lang="en-US" sz="850" dirty="0"/>
          </a:p>
          <a:p>
            <a:pPr marL="342900" indent="-342900">
              <a:buSzPct val="100000"/>
              <a:buChar char="•"/>
            </a:pPr>
            <a:r>
              <a:rPr lang="en-US" sz="850" dirty="0">
                <a:solidFill>
                  <a:srgbClr val="6C757D"/>
                </a:solidFill>
                <a:latin typeface="Calibri" pitchFamily="34" charset="0"/>
                <a:ea typeface="Calibri" pitchFamily="34" charset="-122"/>
                <a:cs typeface="Calibri" pitchFamily="34" charset="-120"/>
              </a:rPr>
              <a:t>Appoint executive AI sponsor with board-level mandate</a:t>
            </a:r>
            <a:endParaRPr lang="en-US" sz="850" dirty="0"/>
          </a:p>
          <a:p>
            <a:pPr marL="342900" indent="-342900">
              <a:buSzPct val="100000"/>
              <a:buChar char="•"/>
            </a:pPr>
            <a:r>
              <a:rPr lang="en-US" sz="850" dirty="0">
                <a:solidFill>
                  <a:srgbClr val="6C757D"/>
                </a:solidFill>
                <a:latin typeface="Calibri" pitchFamily="34" charset="0"/>
                <a:ea typeface="Calibri" pitchFamily="34" charset="-122"/>
                <a:cs typeface="Calibri" pitchFamily="34" charset="-120"/>
              </a:rPr>
              <a:t>Invest in workforce reskilling: clinicians &amp; scientists</a:t>
            </a:r>
            <a:endParaRPr lang="en-US" sz="850" dirty="0"/>
          </a:p>
        </p:txBody>
      </p:sp>
      <p:sp>
        <p:nvSpPr>
          <p:cNvPr id="31" name="Shape 29"/>
          <p:cNvSpPr/>
          <p:nvPr/>
        </p:nvSpPr>
        <p:spPr>
          <a:xfrm>
            <a:off x="5989320" y="1517904"/>
            <a:ext cx="2697480" cy="1417320"/>
          </a:xfrm>
          <a:prstGeom prst="rect">
            <a:avLst/>
          </a:prstGeom>
          <a:solidFill>
            <a:srgbClr val="FFFFFF"/>
          </a:solidFill>
          <a:ln w="12700">
            <a:solidFill>
              <a:srgbClr val="CED4DA"/>
            </a:solidFill>
            <a:prstDash val="solid"/>
          </a:ln>
          <a:effectLst>
            <a:outerShdw sx="100000" sy="100000" kx="0" ky="0" algn="bl" rotWithShape="0" blurRad="101600" dist="38100" dir="8100000">
              <a:srgbClr val="000000">
                <a:alpha val="12000"/>
              </a:srgbClr>
            </a:outerShdw>
          </a:effectLst>
        </p:spPr>
      </p:sp>
      <p:sp>
        <p:nvSpPr>
          <p:cNvPr id="32" name="Shape 30"/>
          <p:cNvSpPr/>
          <p:nvPr/>
        </p:nvSpPr>
        <p:spPr>
          <a:xfrm>
            <a:off x="5989320" y="1517904"/>
            <a:ext cx="2697480" cy="54864"/>
          </a:xfrm>
          <a:prstGeom prst="rect">
            <a:avLst/>
          </a:prstGeom>
          <a:solidFill>
            <a:srgbClr val="0D1F3C"/>
          </a:solidFill>
          <a:ln w="12700">
            <a:solidFill>
              <a:srgbClr val="0D1F3C"/>
            </a:solidFill>
            <a:prstDash val="solid"/>
          </a:ln>
        </p:spPr>
      </p:sp>
      <p:sp>
        <p:nvSpPr>
          <p:cNvPr id="33" name="Text 31"/>
          <p:cNvSpPr/>
          <p:nvPr/>
        </p:nvSpPr>
        <p:spPr>
          <a:xfrm>
            <a:off x="6080760" y="1609344"/>
            <a:ext cx="2514600" cy="256032"/>
          </a:xfrm>
          <a:prstGeom prst="rect">
            <a:avLst/>
          </a:prstGeom>
          <a:noFill/>
          <a:ln/>
        </p:spPr>
        <p:txBody>
          <a:bodyPr wrap="square" lIns="0" tIns="0" rIns="0" bIns="0" rtlCol="0" anchor="ctr"/>
          <a:lstStyle/>
          <a:p>
            <a:pPr indent="0" marL="0">
              <a:buNone/>
            </a:pPr>
            <a:r>
              <a:rPr lang="en-US" sz="1100" b="1" dirty="0">
                <a:solidFill>
                  <a:srgbClr val="0D1F3C"/>
                </a:solidFill>
                <a:latin typeface="Calibri" pitchFamily="34" charset="0"/>
                <a:ea typeface="Calibri" pitchFamily="34" charset="-122"/>
                <a:cs typeface="Calibri" pitchFamily="34" charset="-120"/>
              </a:rPr>
              <a:t>05  Move from Pilots to Scale</a:t>
            </a:r>
            <a:endParaRPr lang="en-US" sz="1100" dirty="0"/>
          </a:p>
        </p:txBody>
      </p:sp>
      <p:sp>
        <p:nvSpPr>
          <p:cNvPr id="34" name="Text 32"/>
          <p:cNvSpPr/>
          <p:nvPr/>
        </p:nvSpPr>
        <p:spPr>
          <a:xfrm>
            <a:off x="6099048" y="1901952"/>
            <a:ext cx="2496312" cy="969264"/>
          </a:xfrm>
          <a:prstGeom prst="rect">
            <a:avLst/>
          </a:prstGeom>
          <a:noFill/>
          <a:ln/>
        </p:spPr>
        <p:txBody>
          <a:bodyPr wrap="square" lIns="0" tIns="0" rIns="0" bIns="0" rtlCol="0" anchor="t"/>
          <a:lstStyle/>
          <a:p>
            <a:pPr marL="342900" indent="-342900">
              <a:buSzPct val="100000"/>
              <a:buChar char="•"/>
            </a:pPr>
            <a:r>
              <a:rPr lang="en-US" sz="850" dirty="0">
                <a:solidFill>
                  <a:srgbClr val="6C757D"/>
                </a:solidFill>
                <a:latin typeface="Calibri" pitchFamily="34" charset="0"/>
                <a:ea typeface="Calibri" pitchFamily="34" charset="-122"/>
                <a:cs typeface="Calibri" pitchFamily="34" charset="-120"/>
              </a:rPr>
              <a:t>52% report moderate ROI; 30% report high ROI</a:t>
            </a:r>
            <a:endParaRPr lang="en-US" sz="850" dirty="0"/>
          </a:p>
          <a:p>
            <a:pPr marL="342900" indent="-342900">
              <a:buSzPct val="100000"/>
              <a:buChar char="•"/>
            </a:pPr>
            <a:r>
              <a:rPr lang="en-US" sz="850" dirty="0">
                <a:solidFill>
                  <a:srgbClr val="6C757D"/>
                </a:solidFill>
                <a:latin typeface="Calibri" pitchFamily="34" charset="0"/>
                <a:ea typeface="Calibri" pitchFamily="34" charset="-122"/>
                <a:cs typeface="Calibri" pitchFamily="34" charset="-120"/>
              </a:rPr>
              <a:t>45% of GenAI users saw returns within 12 months</a:t>
            </a:r>
            <a:endParaRPr lang="en-US" sz="850" dirty="0"/>
          </a:p>
          <a:p>
            <a:pPr marL="342900" indent="-342900">
              <a:buSzPct val="100000"/>
              <a:buChar char="•"/>
            </a:pPr>
            <a:r>
              <a:rPr lang="en-US" sz="850" dirty="0">
                <a:solidFill>
                  <a:srgbClr val="6C757D"/>
                </a:solidFill>
                <a:latin typeface="Calibri" pitchFamily="34" charset="0"/>
                <a:ea typeface="Calibri" pitchFamily="34" charset="-122"/>
                <a:cs typeface="Calibri" pitchFamily="34" charset="-120"/>
              </a:rPr>
              <a:t>Identify 2–3 use cases with clear business cases</a:t>
            </a:r>
            <a:endParaRPr lang="en-US" sz="850" dirty="0"/>
          </a:p>
          <a:p>
            <a:pPr marL="342900" indent="-342900">
              <a:buSzPct val="100000"/>
              <a:buChar char="•"/>
            </a:pPr>
            <a:r>
              <a:rPr lang="en-US" sz="850" dirty="0">
                <a:solidFill>
                  <a:srgbClr val="6C757D"/>
                </a:solidFill>
                <a:latin typeface="Calibri" pitchFamily="34" charset="0"/>
                <a:ea typeface="Calibri" pitchFamily="34" charset="-122"/>
                <a:cs typeface="Calibri" pitchFamily="34" charset="-120"/>
              </a:rPr>
              <a:t>Competitors are scaling — inaction is the real risk</a:t>
            </a:r>
            <a:endParaRPr lang="en-US" sz="850" dirty="0"/>
          </a:p>
        </p:txBody>
      </p:sp>
      <p:sp>
        <p:nvSpPr>
          <p:cNvPr id="35" name="Shape 33"/>
          <p:cNvSpPr/>
          <p:nvPr/>
        </p:nvSpPr>
        <p:spPr>
          <a:xfrm>
            <a:off x="5989320" y="3017520"/>
            <a:ext cx="2697480" cy="1417320"/>
          </a:xfrm>
          <a:prstGeom prst="rect">
            <a:avLst/>
          </a:prstGeom>
          <a:solidFill>
            <a:srgbClr val="FFFFFF"/>
          </a:solidFill>
          <a:ln w="12700">
            <a:solidFill>
              <a:srgbClr val="CED4DA"/>
            </a:solidFill>
            <a:prstDash val="solid"/>
          </a:ln>
          <a:effectLst>
            <a:outerShdw sx="100000" sy="100000" kx="0" ky="0" algn="bl" rotWithShape="0" blurRad="101600" dist="38100" dir="8100000">
              <a:srgbClr val="000000">
                <a:alpha val="12000"/>
              </a:srgbClr>
            </a:outerShdw>
          </a:effectLst>
        </p:spPr>
      </p:sp>
      <p:sp>
        <p:nvSpPr>
          <p:cNvPr id="36" name="Shape 34"/>
          <p:cNvSpPr/>
          <p:nvPr/>
        </p:nvSpPr>
        <p:spPr>
          <a:xfrm>
            <a:off x="5989320" y="3017520"/>
            <a:ext cx="2697480" cy="54864"/>
          </a:xfrm>
          <a:prstGeom prst="rect">
            <a:avLst/>
          </a:prstGeom>
          <a:solidFill>
            <a:srgbClr val="0D1F3C"/>
          </a:solidFill>
          <a:ln w="12700">
            <a:solidFill>
              <a:srgbClr val="0D1F3C"/>
            </a:solidFill>
            <a:prstDash val="solid"/>
          </a:ln>
        </p:spPr>
      </p:sp>
      <p:sp>
        <p:nvSpPr>
          <p:cNvPr id="37" name="Text 35"/>
          <p:cNvSpPr/>
          <p:nvPr/>
        </p:nvSpPr>
        <p:spPr>
          <a:xfrm>
            <a:off x="6080760" y="3108960"/>
            <a:ext cx="2514600" cy="256032"/>
          </a:xfrm>
          <a:prstGeom prst="rect">
            <a:avLst/>
          </a:prstGeom>
          <a:noFill/>
          <a:ln/>
        </p:spPr>
        <p:txBody>
          <a:bodyPr wrap="square" lIns="0" tIns="0" rIns="0" bIns="0" rtlCol="0" anchor="ctr"/>
          <a:lstStyle/>
          <a:p>
            <a:pPr indent="0" marL="0">
              <a:buNone/>
            </a:pPr>
            <a:r>
              <a:rPr lang="en-US" sz="1100" b="1" dirty="0">
                <a:solidFill>
                  <a:srgbClr val="0D1F3C"/>
                </a:solidFill>
                <a:latin typeface="Calibri" pitchFamily="34" charset="0"/>
                <a:ea typeface="Calibri" pitchFamily="34" charset="-122"/>
                <a:cs typeface="Calibri" pitchFamily="34" charset="-120"/>
              </a:rPr>
              <a:t>06  Embed Equity in Every AI Solution</a:t>
            </a:r>
            <a:endParaRPr lang="en-US" sz="1100" dirty="0"/>
          </a:p>
        </p:txBody>
      </p:sp>
      <p:sp>
        <p:nvSpPr>
          <p:cNvPr id="38" name="Text 36"/>
          <p:cNvSpPr/>
          <p:nvPr/>
        </p:nvSpPr>
        <p:spPr>
          <a:xfrm>
            <a:off x="6099048" y="3401568"/>
            <a:ext cx="2496312" cy="969264"/>
          </a:xfrm>
          <a:prstGeom prst="rect">
            <a:avLst/>
          </a:prstGeom>
          <a:noFill/>
          <a:ln/>
        </p:spPr>
        <p:txBody>
          <a:bodyPr wrap="square" lIns="0" tIns="0" rIns="0" bIns="0" rtlCol="0" anchor="t"/>
          <a:lstStyle/>
          <a:p>
            <a:pPr marL="342900" indent="-342900">
              <a:buSzPct val="100000"/>
              <a:buChar char="•"/>
            </a:pPr>
            <a:r>
              <a:rPr lang="en-US" sz="850" dirty="0">
                <a:solidFill>
                  <a:srgbClr val="6C757D"/>
                </a:solidFill>
                <a:latin typeface="Calibri" pitchFamily="34" charset="0"/>
                <a:ea typeface="Calibri" pitchFamily="34" charset="-122"/>
                <a:cs typeface="Calibri" pitchFamily="34" charset="-120"/>
              </a:rPr>
              <a:t>Validate all AI in underserved populations</a:t>
            </a:r>
            <a:endParaRPr lang="en-US" sz="850" dirty="0"/>
          </a:p>
          <a:p>
            <a:pPr marL="342900" indent="-342900">
              <a:buSzPct val="100000"/>
              <a:buChar char="•"/>
            </a:pPr>
            <a:r>
              <a:rPr lang="en-US" sz="850" dirty="0">
                <a:solidFill>
                  <a:srgbClr val="6C757D"/>
                </a:solidFill>
                <a:latin typeface="Calibri" pitchFamily="34" charset="0"/>
                <a:ea typeface="Calibri" pitchFamily="34" charset="-122"/>
                <a:cs typeface="Calibri" pitchFamily="34" charset="-120"/>
              </a:rPr>
              <a:t>Algorithmic fairness audits as standard practice</a:t>
            </a:r>
            <a:endParaRPr lang="en-US" sz="850" dirty="0"/>
          </a:p>
          <a:p>
            <a:pPr marL="342900" indent="-342900">
              <a:buSzPct val="100000"/>
              <a:buChar char="•"/>
            </a:pPr>
            <a:r>
              <a:rPr lang="en-US" sz="850" dirty="0">
                <a:solidFill>
                  <a:srgbClr val="6C757D"/>
                </a:solidFill>
                <a:latin typeface="Calibri" pitchFamily="34" charset="0"/>
                <a:ea typeface="Calibri" pitchFamily="34" charset="-122"/>
                <a:cs typeface="Calibri" pitchFamily="34" charset="-120"/>
              </a:rPr>
              <a:t>Diverse training data as regulatory prerequisite</a:t>
            </a:r>
            <a:endParaRPr lang="en-US" sz="850" dirty="0"/>
          </a:p>
          <a:p>
            <a:pPr marL="342900" indent="-342900">
              <a:buSzPct val="100000"/>
              <a:buChar char="•"/>
            </a:pPr>
            <a:r>
              <a:rPr lang="en-US" sz="850" dirty="0">
                <a:solidFill>
                  <a:srgbClr val="6C757D"/>
                </a:solidFill>
                <a:latin typeface="Calibri" pitchFamily="34" charset="0"/>
                <a:ea typeface="Calibri" pitchFamily="34" charset="-122"/>
                <a:cs typeface="Calibri" pitchFamily="34" charset="-120"/>
              </a:rPr>
              <a:t>AI diagnostics on low-power devices for LMICs</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B7285"/>
          </a:solidFill>
          <a:ln w="12700">
            <a:solidFill>
              <a:srgbClr val="0B7285"/>
            </a:solidFill>
            <a:prstDash val="solid"/>
          </a:ln>
        </p:spPr>
      </p:sp>
      <p:sp>
        <p:nvSpPr>
          <p:cNvPr id="3" name="Text 1"/>
          <p:cNvSpPr/>
          <p:nvPr/>
        </p:nvSpPr>
        <p:spPr>
          <a:xfrm>
            <a:off x="457200" y="502920"/>
            <a:ext cx="8229600" cy="320040"/>
          </a:xfrm>
          <a:prstGeom prst="rect">
            <a:avLst/>
          </a:prstGeom>
          <a:noFill/>
          <a:ln/>
        </p:spPr>
        <p:txBody>
          <a:bodyPr wrap="square" lIns="0" tIns="0" rIns="0" bIns="0" rtlCol="0" anchor="ctr"/>
          <a:lstStyle/>
          <a:p>
            <a:pPr algn="l" indent="0" marL="0">
              <a:buNone/>
            </a:pPr>
            <a:r>
              <a:rPr lang="en-US" sz="1100" spc="200" kern="0" dirty="0">
                <a:solidFill>
                  <a:srgbClr val="12B886"/>
                </a:solidFill>
                <a:latin typeface="Calibri" pitchFamily="34" charset="0"/>
                <a:ea typeface="Calibri" pitchFamily="34" charset="-122"/>
                <a:cs typeface="Calibri" pitchFamily="34" charset="-120"/>
              </a:rPr>
              <a:t>THE BOTTOM LINE</a:t>
            </a:r>
            <a:endParaRPr lang="en-US" sz="1100" dirty="0"/>
          </a:p>
        </p:txBody>
      </p:sp>
      <p:sp>
        <p:nvSpPr>
          <p:cNvPr id="4" name="Text 2"/>
          <p:cNvSpPr/>
          <p:nvPr/>
        </p:nvSpPr>
        <p:spPr>
          <a:xfrm>
            <a:off x="457200" y="914400"/>
            <a:ext cx="8229600" cy="1920240"/>
          </a:xfrm>
          <a:prstGeom prst="rect">
            <a:avLst/>
          </a:prstGeom>
          <a:noFill/>
          <a:ln/>
        </p:spPr>
        <p:txBody>
          <a:bodyPr wrap="square" rtlCol="0" anchor="ctr"/>
          <a:lstStyle/>
          <a:p>
            <a:pPr algn="l" indent="0" marL="0">
              <a:buNone/>
            </a:pPr>
            <a:r>
              <a:rPr lang="en-US" sz="4000" b="1" dirty="0">
                <a:solidFill>
                  <a:srgbClr val="FFFFFF"/>
                </a:solidFill>
                <a:latin typeface="Calibri" pitchFamily="34" charset="0"/>
                <a:ea typeface="Calibri" pitchFamily="34" charset="-122"/>
                <a:cs typeface="Calibri" pitchFamily="34" charset="-120"/>
              </a:rPr>
              <a:t>AI is collapsing the</a:t>
            </a:r>
            <a:endParaRPr lang="en-US" sz="4000" dirty="0"/>
          </a:p>
          <a:p>
            <a:pPr algn="l" indent="0" marL="0">
              <a:buNone/>
            </a:pPr>
            <a:r>
              <a:rPr lang="en-US" sz="4000" b="1" dirty="0">
                <a:solidFill>
                  <a:srgbClr val="FFFFFF"/>
                </a:solidFill>
                <a:latin typeface="Calibri" pitchFamily="34" charset="0"/>
                <a:ea typeface="Calibri" pitchFamily="34" charset="-122"/>
                <a:cs typeface="Calibri" pitchFamily="34" charset="-120"/>
              </a:rPr>
              <a:t>time and cost curves</a:t>
            </a:r>
            <a:endParaRPr lang="en-US" sz="4000" dirty="0"/>
          </a:p>
          <a:p>
            <a:pPr algn="l" indent="0" marL="0">
              <a:buNone/>
            </a:pPr>
            <a:r>
              <a:rPr lang="en-US" sz="4000" b="1" dirty="0">
                <a:solidFill>
                  <a:srgbClr val="FFFFFF"/>
                </a:solidFill>
                <a:latin typeface="Calibri" pitchFamily="34" charset="0"/>
                <a:ea typeface="Calibri" pitchFamily="34" charset="-122"/>
                <a:cs typeface="Calibri" pitchFamily="34" charset="-120"/>
              </a:rPr>
              <a:t>that define this industry.</a:t>
            </a:r>
            <a:endParaRPr lang="en-US" sz="4000" dirty="0"/>
          </a:p>
        </p:txBody>
      </p:sp>
      <p:sp>
        <p:nvSpPr>
          <p:cNvPr id="5" name="Text 3"/>
          <p:cNvSpPr/>
          <p:nvPr/>
        </p:nvSpPr>
        <p:spPr>
          <a:xfrm>
            <a:off x="457200" y="2907792"/>
            <a:ext cx="7772400" cy="640080"/>
          </a:xfrm>
          <a:prstGeom prst="rect">
            <a:avLst/>
          </a:prstGeom>
          <a:noFill/>
          <a:ln/>
        </p:spPr>
        <p:txBody>
          <a:bodyPr wrap="square" rtlCol="0" anchor="ctr"/>
          <a:lstStyle/>
          <a:p>
            <a:pPr algn="l" indent="0" marL="0">
              <a:buNone/>
            </a:pPr>
            <a:r>
              <a:rPr lang="en-US" sz="1400" i="1" dirty="0">
                <a:solidFill>
                  <a:srgbClr val="CED4DA"/>
                </a:solidFill>
                <a:latin typeface="Calibri" pitchFamily="34" charset="0"/>
                <a:ea typeface="Calibri" pitchFamily="34" charset="-122"/>
                <a:cs typeface="Calibri" pitchFamily="34" charset="-120"/>
              </a:rPr>
              <a:t>The deployment gap is real — and structural. Leaders who close it first through</a:t>
            </a:r>
            <a:endParaRPr lang="en-US" sz="1400" dirty="0"/>
          </a:p>
          <a:p>
            <a:pPr algn="l" indent="0" marL="0">
              <a:buNone/>
            </a:pPr>
            <a:r>
              <a:rPr lang="en-US" sz="1400" i="1" dirty="0">
                <a:solidFill>
                  <a:srgbClr val="CED4DA"/>
                </a:solidFill>
                <a:latin typeface="Calibri" pitchFamily="34" charset="0"/>
                <a:ea typeface="Calibri" pitchFamily="34" charset="-122"/>
                <a:cs typeface="Calibri" pitchFamily="34" charset="-120"/>
              </a:rPr>
              <a:t>data readiness, governance, and scaled execution will define the next era.</a:t>
            </a:r>
            <a:endParaRPr lang="en-US" sz="1400" dirty="0"/>
          </a:p>
        </p:txBody>
      </p:sp>
      <p:sp>
        <p:nvSpPr>
          <p:cNvPr id="6" name="Shape 4"/>
          <p:cNvSpPr/>
          <p:nvPr/>
        </p:nvSpPr>
        <p:spPr>
          <a:xfrm>
            <a:off x="457200" y="3703320"/>
            <a:ext cx="2606040" cy="822960"/>
          </a:xfrm>
          <a:prstGeom prst="rect">
            <a:avLst/>
          </a:prstGeom>
          <a:solidFill>
            <a:srgbClr val="0B7285">
              <a:alpha val="20000"/>
            </a:srgbClr>
          </a:solidFill>
          <a:ln w="12700">
            <a:solidFill>
              <a:srgbClr val="0B7285"/>
            </a:solidFill>
            <a:prstDash val="solid"/>
          </a:ln>
        </p:spPr>
      </p:sp>
      <p:sp>
        <p:nvSpPr>
          <p:cNvPr id="7" name="Text 5"/>
          <p:cNvSpPr/>
          <p:nvPr/>
        </p:nvSpPr>
        <p:spPr>
          <a:xfrm>
            <a:off x="566928" y="3730752"/>
            <a:ext cx="274320" cy="256032"/>
          </a:xfrm>
          <a:prstGeom prst="rect">
            <a:avLst/>
          </a:prstGeom>
          <a:noFill/>
          <a:ln/>
        </p:spPr>
        <p:txBody>
          <a:bodyPr wrap="square" lIns="0" tIns="0" rIns="0" bIns="0" rtlCol="0" anchor="ctr"/>
          <a:lstStyle/>
          <a:p>
            <a:pPr indent="0" marL="0">
              <a:buNone/>
            </a:pPr>
            <a:r>
              <a:rPr lang="en-US" sz="1100" b="1" dirty="0">
                <a:solidFill>
                  <a:srgbClr val="12B886"/>
                </a:solidFill>
                <a:latin typeface="Calibri" pitchFamily="34" charset="0"/>
                <a:ea typeface="Calibri" pitchFamily="34" charset="-122"/>
                <a:cs typeface="Calibri" pitchFamily="34" charset="-120"/>
              </a:rPr>
              <a:t>01</a:t>
            </a:r>
            <a:endParaRPr lang="en-US" sz="1100" dirty="0"/>
          </a:p>
        </p:txBody>
      </p:sp>
      <p:sp>
        <p:nvSpPr>
          <p:cNvPr id="8" name="Text 6"/>
          <p:cNvSpPr/>
          <p:nvPr/>
        </p:nvSpPr>
        <p:spPr>
          <a:xfrm>
            <a:off x="566928" y="3986784"/>
            <a:ext cx="242316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The opportunity is $868B+ by 2030 — in pharma alone</a:t>
            </a:r>
            <a:endParaRPr lang="en-US" sz="1000" dirty="0"/>
          </a:p>
        </p:txBody>
      </p:sp>
      <p:sp>
        <p:nvSpPr>
          <p:cNvPr id="9" name="Shape 7"/>
          <p:cNvSpPr/>
          <p:nvPr/>
        </p:nvSpPr>
        <p:spPr>
          <a:xfrm>
            <a:off x="3291840" y="3703320"/>
            <a:ext cx="2606040" cy="822960"/>
          </a:xfrm>
          <a:prstGeom prst="rect">
            <a:avLst/>
          </a:prstGeom>
          <a:solidFill>
            <a:srgbClr val="0B7285">
              <a:alpha val="20000"/>
            </a:srgbClr>
          </a:solidFill>
          <a:ln w="12700">
            <a:solidFill>
              <a:srgbClr val="0B7285"/>
            </a:solidFill>
            <a:prstDash val="solid"/>
          </a:ln>
        </p:spPr>
      </p:sp>
      <p:sp>
        <p:nvSpPr>
          <p:cNvPr id="10" name="Text 8"/>
          <p:cNvSpPr/>
          <p:nvPr/>
        </p:nvSpPr>
        <p:spPr>
          <a:xfrm>
            <a:off x="3401568" y="3730752"/>
            <a:ext cx="274320" cy="256032"/>
          </a:xfrm>
          <a:prstGeom prst="rect">
            <a:avLst/>
          </a:prstGeom>
          <a:noFill/>
          <a:ln/>
        </p:spPr>
        <p:txBody>
          <a:bodyPr wrap="square" lIns="0" tIns="0" rIns="0" bIns="0" rtlCol="0" anchor="ctr"/>
          <a:lstStyle/>
          <a:p>
            <a:pPr indent="0" marL="0">
              <a:buNone/>
            </a:pPr>
            <a:r>
              <a:rPr lang="en-US" sz="1100" b="1" dirty="0">
                <a:solidFill>
                  <a:srgbClr val="12B886"/>
                </a:solidFill>
                <a:latin typeface="Calibri" pitchFamily="34" charset="0"/>
                <a:ea typeface="Calibri" pitchFamily="34" charset="-122"/>
                <a:cs typeface="Calibri" pitchFamily="34" charset="-120"/>
              </a:rPr>
              <a:t>02</a:t>
            </a:r>
            <a:endParaRPr lang="en-US" sz="1100" dirty="0"/>
          </a:p>
        </p:txBody>
      </p:sp>
      <p:sp>
        <p:nvSpPr>
          <p:cNvPr id="11" name="Text 9"/>
          <p:cNvSpPr/>
          <p:nvPr/>
        </p:nvSpPr>
        <p:spPr>
          <a:xfrm>
            <a:off x="3401568" y="3986784"/>
            <a:ext cx="242316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81% of hospitals have not yet adopted AI — the gap is exploitable</a:t>
            </a:r>
            <a:endParaRPr lang="en-US" sz="1000" dirty="0"/>
          </a:p>
        </p:txBody>
      </p:sp>
      <p:sp>
        <p:nvSpPr>
          <p:cNvPr id="12" name="Shape 10"/>
          <p:cNvSpPr/>
          <p:nvPr/>
        </p:nvSpPr>
        <p:spPr>
          <a:xfrm>
            <a:off x="6126480" y="3703320"/>
            <a:ext cx="2606040" cy="822960"/>
          </a:xfrm>
          <a:prstGeom prst="rect">
            <a:avLst/>
          </a:prstGeom>
          <a:solidFill>
            <a:srgbClr val="0B7285">
              <a:alpha val="20000"/>
            </a:srgbClr>
          </a:solidFill>
          <a:ln w="12700">
            <a:solidFill>
              <a:srgbClr val="0B7285"/>
            </a:solidFill>
            <a:prstDash val="solid"/>
          </a:ln>
        </p:spPr>
      </p:sp>
      <p:sp>
        <p:nvSpPr>
          <p:cNvPr id="13" name="Text 11"/>
          <p:cNvSpPr/>
          <p:nvPr/>
        </p:nvSpPr>
        <p:spPr>
          <a:xfrm>
            <a:off x="6236208" y="3730752"/>
            <a:ext cx="274320" cy="256032"/>
          </a:xfrm>
          <a:prstGeom prst="rect">
            <a:avLst/>
          </a:prstGeom>
          <a:noFill/>
          <a:ln/>
        </p:spPr>
        <p:txBody>
          <a:bodyPr wrap="square" lIns="0" tIns="0" rIns="0" bIns="0" rtlCol="0" anchor="ctr"/>
          <a:lstStyle/>
          <a:p>
            <a:pPr indent="0" marL="0">
              <a:buNone/>
            </a:pPr>
            <a:r>
              <a:rPr lang="en-US" sz="1100" b="1" dirty="0">
                <a:solidFill>
                  <a:srgbClr val="12B886"/>
                </a:solidFill>
                <a:latin typeface="Calibri" pitchFamily="34" charset="0"/>
                <a:ea typeface="Calibri" pitchFamily="34" charset="-122"/>
                <a:cs typeface="Calibri" pitchFamily="34" charset="-120"/>
              </a:rPr>
              <a:t>03</a:t>
            </a:r>
            <a:endParaRPr lang="en-US" sz="1100" dirty="0"/>
          </a:p>
        </p:txBody>
      </p:sp>
      <p:sp>
        <p:nvSpPr>
          <p:cNvPr id="14" name="Text 12"/>
          <p:cNvSpPr/>
          <p:nvPr/>
        </p:nvSpPr>
        <p:spPr>
          <a:xfrm>
            <a:off x="6236208" y="3986784"/>
            <a:ext cx="2423160" cy="49377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Governance and data readiness are your most urgent investments</a:t>
            </a:r>
            <a:endParaRPr lang="en-US" sz="1000" dirty="0"/>
          </a:p>
        </p:txBody>
      </p:sp>
      <p:sp>
        <p:nvSpPr>
          <p:cNvPr id="15" name="Text 13"/>
          <p:cNvSpPr/>
          <p:nvPr/>
        </p:nvSpPr>
        <p:spPr>
          <a:xfrm>
            <a:off x="457200" y="4828032"/>
            <a:ext cx="8229600" cy="201168"/>
          </a:xfrm>
          <a:prstGeom prst="rect">
            <a:avLst/>
          </a:prstGeom>
          <a:noFill/>
          <a:ln/>
        </p:spPr>
        <p:txBody>
          <a:bodyPr wrap="square" lIns="0" tIns="0" rIns="0" bIns="0" rtlCol="0" anchor="ctr"/>
          <a:lstStyle/>
          <a:p>
            <a:pPr algn="l" indent="0" marL="0">
              <a:buNone/>
            </a:pPr>
            <a:r>
              <a:rPr lang="en-US" sz="850" dirty="0">
                <a:solidFill>
                  <a:srgbClr val="6C757D"/>
                </a:solidFill>
                <a:latin typeface="Calibri" pitchFamily="34" charset="0"/>
                <a:ea typeface="Calibri" pitchFamily="34" charset="-122"/>
                <a:cs typeface="Calibri" pitchFamily="34" charset="-120"/>
              </a:rPr>
              <a:t>MIT AI Executive Academy  |  Capstone Presentation  |  Life Sciences &amp; Healthcare  |  March 2026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B7285"/>
          </a:solidFill>
          <a:ln w="12700">
            <a:solidFill>
              <a:srgbClr val="0B7285"/>
            </a:solidFill>
            <a:prstDash val="solid"/>
          </a:ln>
        </p:spPr>
      </p:sp>
      <p:sp>
        <p:nvSpPr>
          <p:cNvPr id="3" name="Text 1"/>
          <p:cNvSpPr/>
          <p:nvPr/>
        </p:nvSpPr>
        <p:spPr>
          <a:xfrm>
            <a:off x="457200" y="2011680"/>
            <a:ext cx="8229600" cy="457200"/>
          </a:xfrm>
          <a:prstGeom prst="rect">
            <a:avLst/>
          </a:prstGeom>
          <a:noFill/>
          <a:ln/>
        </p:spPr>
        <p:txBody>
          <a:bodyPr wrap="square" lIns="0" tIns="0" rIns="0" bIns="0" rtlCol="0" anchor="ctr"/>
          <a:lstStyle/>
          <a:p>
            <a:pPr algn="l" indent="0" marL="0">
              <a:buNone/>
            </a:pPr>
            <a:r>
              <a:rPr lang="en-US" sz="1400" spc="300" kern="0" dirty="0">
                <a:solidFill>
                  <a:srgbClr val="12B886"/>
                </a:solidFill>
                <a:latin typeface="Calibri" pitchFamily="34" charset="0"/>
                <a:ea typeface="Calibri" pitchFamily="34" charset="-122"/>
                <a:cs typeface="Calibri" pitchFamily="34" charset="-120"/>
              </a:rPr>
              <a:t>APPENDIX</a:t>
            </a:r>
            <a:endParaRPr lang="en-US" sz="1400" dirty="0"/>
          </a:p>
        </p:txBody>
      </p:sp>
      <p:sp>
        <p:nvSpPr>
          <p:cNvPr id="4" name="Text 2"/>
          <p:cNvSpPr/>
          <p:nvPr/>
        </p:nvSpPr>
        <p:spPr>
          <a:xfrm>
            <a:off x="457200" y="2542032"/>
            <a:ext cx="8229600" cy="64008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Supporting Materials &amp; Reference Data</a:t>
            </a:r>
            <a:endParaRPr lang="en-US" sz="3200" dirty="0"/>
          </a:p>
        </p:txBody>
      </p:sp>
      <p:sp>
        <p:nvSpPr>
          <p:cNvPr id="5" name="Shape 3"/>
          <p:cNvSpPr/>
          <p:nvPr/>
        </p:nvSpPr>
        <p:spPr>
          <a:xfrm>
            <a:off x="457200" y="3246120"/>
            <a:ext cx="1828800" cy="54864"/>
          </a:xfrm>
          <a:prstGeom prst="rect">
            <a:avLst/>
          </a:prstGeom>
          <a:solidFill>
            <a:srgbClr val="0B7285"/>
          </a:solidFill>
          <a:ln w="12700">
            <a:solidFill>
              <a:srgbClr val="0B7285"/>
            </a:solidFill>
            <a:prstDash val="solid"/>
          </a:ln>
        </p:spPr>
      </p:sp>
      <p:sp>
        <p:nvSpPr>
          <p:cNvPr id="6" name="Text 4"/>
          <p:cNvSpPr/>
          <p:nvPr/>
        </p:nvSpPr>
        <p:spPr>
          <a:xfrm>
            <a:off x="457200" y="4828032"/>
            <a:ext cx="8229600" cy="201168"/>
          </a:xfrm>
          <a:prstGeom prst="rect">
            <a:avLst/>
          </a:prstGeom>
          <a:noFill/>
          <a:ln/>
        </p:spPr>
        <p:txBody>
          <a:bodyPr wrap="square" lIns="0" tIns="0" rIns="0" bIns="0" rtlCol="0" anchor="ctr"/>
          <a:lstStyle/>
          <a:p>
            <a:pPr algn="l" indent="0" marL="0">
              <a:buNone/>
            </a:pPr>
            <a:r>
              <a:rPr lang="en-US" sz="850" dirty="0">
                <a:solidFill>
                  <a:srgbClr val="6C757D"/>
                </a:solidFill>
                <a:latin typeface="Calibri" pitchFamily="34" charset="0"/>
                <a:ea typeface="Calibri" pitchFamily="34" charset="-122"/>
                <a:cs typeface="Calibri" pitchFamily="34" charset="-120"/>
              </a:rPr>
              <a:t>MIT AI Executive Academy  |  Capstone Presentation  |  Life Sciences &amp; Healthcare  |  March 2026</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in Healthcare &amp; Life Sciences — Finalized Capstone</dc:title>
  <dc:subject>PptxGenJS Presentation</dc:subject>
  <dc:creator>PptxGenJS</dc:creator>
  <cp:lastModifiedBy>PptxGenJS</cp:lastModifiedBy>
  <cp:revision>1</cp:revision>
  <dcterms:created xsi:type="dcterms:W3CDTF">2026-04-01T01:17:33Z</dcterms:created>
  <dcterms:modified xsi:type="dcterms:W3CDTF">2026-04-01T01:17:33Z</dcterms:modified>
</cp:coreProperties>
</file>